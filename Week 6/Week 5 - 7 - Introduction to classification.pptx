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0"/>
  </p:notesMasterIdLst>
  <p:sldIdLst>
    <p:sldId id="257" r:id="rId2"/>
    <p:sldId id="296" r:id="rId3"/>
    <p:sldId id="260" r:id="rId4"/>
    <p:sldId id="297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50" r:id="rId19"/>
    <p:sldId id="344" r:id="rId20"/>
    <p:sldId id="345" r:id="rId21"/>
    <p:sldId id="346" r:id="rId22"/>
    <p:sldId id="347" r:id="rId23"/>
    <p:sldId id="349" r:id="rId24"/>
    <p:sldId id="351" r:id="rId25"/>
    <p:sldId id="352" r:id="rId26"/>
    <p:sldId id="353" r:id="rId27"/>
    <p:sldId id="374" r:id="rId28"/>
    <p:sldId id="359" r:id="rId29"/>
    <p:sldId id="376" r:id="rId30"/>
    <p:sldId id="361" r:id="rId31"/>
    <p:sldId id="362" r:id="rId32"/>
    <p:sldId id="380" r:id="rId33"/>
    <p:sldId id="381" r:id="rId34"/>
    <p:sldId id="358" r:id="rId35"/>
    <p:sldId id="375" r:id="rId36"/>
    <p:sldId id="360" r:id="rId37"/>
    <p:sldId id="377" r:id="rId38"/>
    <p:sldId id="378" r:id="rId39"/>
    <p:sldId id="363" r:id="rId40"/>
    <p:sldId id="365" r:id="rId41"/>
    <p:sldId id="364" r:id="rId42"/>
    <p:sldId id="366" r:id="rId43"/>
    <p:sldId id="367" r:id="rId44"/>
    <p:sldId id="368" r:id="rId45"/>
    <p:sldId id="369" r:id="rId46"/>
    <p:sldId id="370" r:id="rId47"/>
    <p:sldId id="371" r:id="rId48"/>
    <p:sldId id="372" r:id="rId49"/>
    <p:sldId id="373" r:id="rId50"/>
    <p:sldId id="354" r:id="rId51"/>
    <p:sldId id="355" r:id="rId52"/>
    <p:sldId id="356" r:id="rId53"/>
    <p:sldId id="357" r:id="rId54"/>
    <p:sldId id="382" r:id="rId55"/>
    <p:sldId id="383" r:id="rId56"/>
    <p:sldId id="384" r:id="rId57"/>
    <p:sldId id="279" r:id="rId58"/>
    <p:sldId id="281" r:id="rId59"/>
  </p:sldIdLst>
  <p:sldSz cx="18288000" cy="10287000"/>
  <p:notesSz cx="6858000" cy="9144000"/>
  <p:embeddedFontLst>
    <p:embeddedFont>
      <p:font typeface="Montserrat" panose="00000500000000000000" pitchFamily="2" charset="0"/>
      <p:regular r:id="rId61"/>
      <p:bold r:id="rId62"/>
      <p:italic r:id="rId63"/>
      <p:boldItalic r:id="rId64"/>
    </p:embeddedFont>
    <p:embeddedFont>
      <p:font typeface="Montserrat Bold" panose="00000800000000000000" charset="0"/>
      <p:bold r:id="rId65"/>
    </p:embeddedFont>
    <p:embeddedFont>
      <p:font typeface="Montserrat Classic" panose="020B0604020202020204" charset="0"/>
      <p:regular r:id="rId66"/>
    </p:embeddedFont>
    <p:embeddedFont>
      <p:font typeface="Montserrat Classic Bold" panose="020B0604020202020204" charset="0"/>
      <p:regular r:id="rId67"/>
    </p:embeddedFont>
    <p:embeddedFont>
      <p:font typeface="Open Sans Extra Bold" panose="020B0604020202020204" charset="0"/>
      <p:regular r:id="rId68"/>
    </p:embeddedFont>
    <p:embeddedFont>
      <p:font typeface="Raleway" pitchFamily="2" charset="0"/>
      <p:regular r:id="rId69"/>
      <p:bold r:id="rId70"/>
      <p:italic r:id="rId71"/>
      <p:boldItalic r:id="rId7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77C"/>
    <a:srgbClr val="60A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00" autoAdjust="0"/>
  </p:normalViewPr>
  <p:slideViewPr>
    <p:cSldViewPr>
      <p:cViewPr varScale="1">
        <p:scale>
          <a:sx n="57" d="100"/>
          <a:sy n="57" d="100"/>
        </p:scale>
        <p:origin x="51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1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2611BB-F0B8-4046-BA3F-C639490C189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3B436B-AF58-495D-8E1A-7D38E829EF31}">
      <dgm:prSet phldrT="[Text]"/>
      <dgm:spPr/>
      <dgm:t>
        <a:bodyPr/>
        <a:lstStyle/>
        <a:p>
          <a:r>
            <a:rPr lang="en-US" dirty="0" err="1"/>
            <a:t>Jumlah</a:t>
          </a:r>
          <a:r>
            <a:rPr lang="en-US" dirty="0"/>
            <a:t> </a:t>
          </a:r>
          <a:r>
            <a:rPr lang="en-US" dirty="0" err="1"/>
            <a:t>Tetangga</a:t>
          </a:r>
          <a:r>
            <a:rPr lang="en-US" dirty="0"/>
            <a:t> (K)</a:t>
          </a:r>
        </a:p>
      </dgm:t>
    </dgm:pt>
    <dgm:pt modelId="{1DA381E4-E8E4-4188-8063-5B2A7F454E97}" type="parTrans" cxnId="{9A5A5EC1-5397-4E39-AC39-E4668676DF93}">
      <dgm:prSet/>
      <dgm:spPr/>
      <dgm:t>
        <a:bodyPr/>
        <a:lstStyle/>
        <a:p>
          <a:endParaRPr lang="en-US"/>
        </a:p>
      </dgm:t>
    </dgm:pt>
    <dgm:pt modelId="{1E47D17E-D8FB-4719-922F-9B43E5DEFAC8}" type="sibTrans" cxnId="{9A5A5EC1-5397-4E39-AC39-E4668676DF93}">
      <dgm:prSet/>
      <dgm:spPr/>
      <dgm:t>
        <a:bodyPr/>
        <a:lstStyle/>
        <a:p>
          <a:endParaRPr lang="en-US"/>
        </a:p>
      </dgm:t>
    </dgm:pt>
    <dgm:pt modelId="{B921460D-A1CF-4238-8857-13EA28352787}">
      <dgm:prSet phldrT="[Text]"/>
      <dgm:spPr/>
      <dgm:t>
        <a:bodyPr/>
        <a:lstStyle/>
        <a:p>
          <a:r>
            <a:rPr lang="en-US" dirty="0"/>
            <a:t>Metric </a:t>
          </a:r>
          <a:r>
            <a:rPr lang="en-US" dirty="0" err="1"/>
            <a:t>Jarak</a:t>
          </a:r>
          <a:endParaRPr lang="en-US" dirty="0"/>
        </a:p>
      </dgm:t>
    </dgm:pt>
    <dgm:pt modelId="{238360DD-19B3-4A4E-8067-B5477C1E0A75}" type="parTrans" cxnId="{63F63E7F-68B4-48FC-9450-32F3C91B4038}">
      <dgm:prSet/>
      <dgm:spPr/>
      <dgm:t>
        <a:bodyPr/>
        <a:lstStyle/>
        <a:p>
          <a:endParaRPr lang="en-US"/>
        </a:p>
      </dgm:t>
    </dgm:pt>
    <dgm:pt modelId="{6C103315-C03B-42FA-BCEF-CC575F911734}" type="sibTrans" cxnId="{63F63E7F-68B4-48FC-9450-32F3C91B4038}">
      <dgm:prSet/>
      <dgm:spPr/>
      <dgm:t>
        <a:bodyPr/>
        <a:lstStyle/>
        <a:p>
          <a:endParaRPr lang="en-US"/>
        </a:p>
      </dgm:t>
    </dgm:pt>
    <dgm:pt modelId="{C664685D-1726-44FF-B633-B1BAFD02F327}">
      <dgm:prSet phldrT="[Text]"/>
      <dgm:spPr/>
      <dgm:t>
        <a:bodyPr/>
        <a:lstStyle/>
        <a:p>
          <a:r>
            <a:rPr lang="en-US" dirty="0" err="1"/>
            <a:t>Algoritma</a:t>
          </a:r>
          <a:r>
            <a:rPr lang="en-US" dirty="0"/>
            <a:t> </a:t>
          </a:r>
          <a:r>
            <a:rPr lang="en-US" dirty="0" err="1"/>
            <a:t>Pencarian</a:t>
          </a:r>
          <a:r>
            <a:rPr lang="en-US" dirty="0"/>
            <a:t> </a:t>
          </a:r>
          <a:r>
            <a:rPr lang="en-US" dirty="0" err="1"/>
            <a:t>Tetangga</a:t>
          </a:r>
          <a:endParaRPr lang="en-US" dirty="0"/>
        </a:p>
      </dgm:t>
    </dgm:pt>
    <dgm:pt modelId="{E639DBEA-603B-4E48-9BA5-60D1FCA6BC53}" type="parTrans" cxnId="{EAAE290D-8034-4F67-BEE0-AAAA5F2E3FF3}">
      <dgm:prSet/>
      <dgm:spPr/>
      <dgm:t>
        <a:bodyPr/>
        <a:lstStyle/>
        <a:p>
          <a:endParaRPr lang="en-US"/>
        </a:p>
      </dgm:t>
    </dgm:pt>
    <dgm:pt modelId="{1D65ECF9-7F8A-4B08-BC24-F5DA5DBEA72B}" type="sibTrans" cxnId="{EAAE290D-8034-4F67-BEE0-AAAA5F2E3FF3}">
      <dgm:prSet/>
      <dgm:spPr/>
      <dgm:t>
        <a:bodyPr/>
        <a:lstStyle/>
        <a:p>
          <a:endParaRPr lang="en-US"/>
        </a:p>
      </dgm:t>
    </dgm:pt>
    <dgm:pt modelId="{2B44399B-0C40-40BF-80CF-59973147965F}">
      <dgm:prSet phldrT="[Text]"/>
      <dgm:spPr/>
      <dgm:t>
        <a:bodyPr/>
        <a:lstStyle/>
        <a:p>
          <a:r>
            <a:rPr lang="en-US" dirty="0" err="1"/>
            <a:t>Bobot</a:t>
          </a:r>
          <a:r>
            <a:rPr lang="en-US" dirty="0"/>
            <a:t> (Weights)</a:t>
          </a:r>
        </a:p>
      </dgm:t>
    </dgm:pt>
    <dgm:pt modelId="{CD4FAAC1-B826-44F5-9735-DD82021E9859}" type="parTrans" cxnId="{DEABA353-1410-4BCB-A03C-D097BBC2C009}">
      <dgm:prSet/>
      <dgm:spPr/>
      <dgm:t>
        <a:bodyPr/>
        <a:lstStyle/>
        <a:p>
          <a:endParaRPr lang="en-US"/>
        </a:p>
      </dgm:t>
    </dgm:pt>
    <dgm:pt modelId="{41754638-C165-4523-A1BB-3DD8DC7CA547}" type="sibTrans" cxnId="{DEABA353-1410-4BCB-A03C-D097BBC2C009}">
      <dgm:prSet/>
      <dgm:spPr/>
      <dgm:t>
        <a:bodyPr/>
        <a:lstStyle/>
        <a:p>
          <a:endParaRPr lang="en-US"/>
        </a:p>
      </dgm:t>
    </dgm:pt>
    <dgm:pt modelId="{B7F3F1FC-9E9A-43F9-9663-1D15415337D8}">
      <dgm:prSet phldrT="[Text]"/>
      <dgm:spPr/>
      <dgm:t>
        <a:bodyPr/>
        <a:lstStyle/>
        <a:p>
          <a:r>
            <a:rPr lang="en-US" dirty="0" err="1"/>
            <a:t>Panjang</a:t>
          </a:r>
          <a:r>
            <a:rPr lang="en-US" dirty="0"/>
            <a:t> </a:t>
          </a:r>
          <a:r>
            <a:rPr lang="en-US" dirty="0" err="1"/>
            <a:t>Jarak</a:t>
          </a:r>
          <a:r>
            <a:rPr lang="en-US" dirty="0"/>
            <a:t> (Distance Metric Parameters)</a:t>
          </a:r>
        </a:p>
      </dgm:t>
    </dgm:pt>
    <dgm:pt modelId="{407B8B2B-7AE5-40D3-A0E3-6395C327DFD5}" type="parTrans" cxnId="{9077C1DE-5AF5-40EA-8E05-CA93FF61D7BE}">
      <dgm:prSet/>
      <dgm:spPr/>
      <dgm:t>
        <a:bodyPr/>
        <a:lstStyle/>
        <a:p>
          <a:endParaRPr lang="en-US"/>
        </a:p>
      </dgm:t>
    </dgm:pt>
    <dgm:pt modelId="{212C8253-0D23-4B01-BE65-E757F05F8509}" type="sibTrans" cxnId="{9077C1DE-5AF5-40EA-8E05-CA93FF61D7BE}">
      <dgm:prSet/>
      <dgm:spPr/>
      <dgm:t>
        <a:bodyPr/>
        <a:lstStyle/>
        <a:p>
          <a:endParaRPr lang="en-US"/>
        </a:p>
      </dgm:t>
    </dgm:pt>
    <dgm:pt modelId="{432FBCCD-FBBE-41AD-AC52-47956692F25E}">
      <dgm:prSet phldrT="[Text]"/>
      <dgm:spPr/>
      <dgm:t>
        <a:bodyPr/>
        <a:lstStyle/>
        <a:p>
          <a:r>
            <a:rPr lang="en-US" dirty="0" err="1"/>
            <a:t>Normalisasi</a:t>
          </a:r>
          <a:r>
            <a:rPr lang="en-US" dirty="0"/>
            <a:t> Data</a:t>
          </a:r>
        </a:p>
      </dgm:t>
    </dgm:pt>
    <dgm:pt modelId="{7783A7F0-371C-475A-9212-5B7348FE9ECA}" type="parTrans" cxnId="{EAF9B56C-5713-43BD-B7BB-B61777023C16}">
      <dgm:prSet/>
      <dgm:spPr/>
      <dgm:t>
        <a:bodyPr/>
        <a:lstStyle/>
        <a:p>
          <a:endParaRPr lang="en-US"/>
        </a:p>
      </dgm:t>
    </dgm:pt>
    <dgm:pt modelId="{5ED1F114-E337-4FBA-A611-7188BB831CE0}" type="sibTrans" cxnId="{EAF9B56C-5713-43BD-B7BB-B61777023C16}">
      <dgm:prSet/>
      <dgm:spPr/>
      <dgm:t>
        <a:bodyPr/>
        <a:lstStyle/>
        <a:p>
          <a:endParaRPr lang="en-US"/>
        </a:p>
      </dgm:t>
    </dgm:pt>
    <dgm:pt modelId="{38BF5C91-4641-4C0B-8D2E-1BC16658ED0B}" type="pres">
      <dgm:prSet presAssocID="{332611BB-F0B8-4046-BA3F-C639490C1899}" presName="Name0" presStyleCnt="0">
        <dgm:presLayoutVars>
          <dgm:chMax val="7"/>
          <dgm:chPref val="7"/>
          <dgm:dir/>
        </dgm:presLayoutVars>
      </dgm:prSet>
      <dgm:spPr/>
    </dgm:pt>
    <dgm:pt modelId="{79F5E3D7-0778-4CBC-93B4-A5EFE214CEA4}" type="pres">
      <dgm:prSet presAssocID="{332611BB-F0B8-4046-BA3F-C639490C1899}" presName="Name1" presStyleCnt="0"/>
      <dgm:spPr/>
    </dgm:pt>
    <dgm:pt modelId="{59C5E1B2-3275-4750-8CA8-313DC9136798}" type="pres">
      <dgm:prSet presAssocID="{332611BB-F0B8-4046-BA3F-C639490C1899}" presName="cycle" presStyleCnt="0"/>
      <dgm:spPr/>
    </dgm:pt>
    <dgm:pt modelId="{8A514937-C222-40CF-9A71-FA89B78F8F0F}" type="pres">
      <dgm:prSet presAssocID="{332611BB-F0B8-4046-BA3F-C639490C1899}" presName="srcNode" presStyleLbl="node1" presStyleIdx="0" presStyleCnt="6"/>
      <dgm:spPr/>
    </dgm:pt>
    <dgm:pt modelId="{66AF6DC1-C171-49AB-BE69-74004D7C3A23}" type="pres">
      <dgm:prSet presAssocID="{332611BB-F0B8-4046-BA3F-C639490C1899}" presName="conn" presStyleLbl="parChTrans1D2" presStyleIdx="0" presStyleCnt="1"/>
      <dgm:spPr/>
    </dgm:pt>
    <dgm:pt modelId="{3A6E4494-6493-46FA-8B77-038DEDEE4A0B}" type="pres">
      <dgm:prSet presAssocID="{332611BB-F0B8-4046-BA3F-C639490C1899}" presName="extraNode" presStyleLbl="node1" presStyleIdx="0" presStyleCnt="6"/>
      <dgm:spPr/>
    </dgm:pt>
    <dgm:pt modelId="{FD0BBF71-1823-4BF2-9750-178C85BA2CBF}" type="pres">
      <dgm:prSet presAssocID="{332611BB-F0B8-4046-BA3F-C639490C1899}" presName="dstNode" presStyleLbl="node1" presStyleIdx="0" presStyleCnt="6"/>
      <dgm:spPr/>
    </dgm:pt>
    <dgm:pt modelId="{D29A09F6-B6CB-4AE4-A5F8-61ED9D4BF30F}" type="pres">
      <dgm:prSet presAssocID="{4C3B436B-AF58-495D-8E1A-7D38E829EF31}" presName="text_1" presStyleLbl="node1" presStyleIdx="0" presStyleCnt="6">
        <dgm:presLayoutVars>
          <dgm:bulletEnabled val="1"/>
        </dgm:presLayoutVars>
      </dgm:prSet>
      <dgm:spPr/>
    </dgm:pt>
    <dgm:pt modelId="{7D98EF1D-A88E-48E2-BFEF-840B58C8E299}" type="pres">
      <dgm:prSet presAssocID="{4C3B436B-AF58-495D-8E1A-7D38E829EF31}" presName="accent_1" presStyleCnt="0"/>
      <dgm:spPr/>
    </dgm:pt>
    <dgm:pt modelId="{9D9E9751-1C8F-4FEE-ADE6-2FC569F55947}" type="pres">
      <dgm:prSet presAssocID="{4C3B436B-AF58-495D-8E1A-7D38E829EF31}" presName="accentRepeatNode" presStyleLbl="solidFgAcc1" presStyleIdx="0" presStyleCnt="6"/>
      <dgm:spPr/>
    </dgm:pt>
    <dgm:pt modelId="{75C49EA7-657A-489B-8C89-3E234E04C6AA}" type="pres">
      <dgm:prSet presAssocID="{B921460D-A1CF-4238-8857-13EA28352787}" presName="text_2" presStyleLbl="node1" presStyleIdx="1" presStyleCnt="6">
        <dgm:presLayoutVars>
          <dgm:bulletEnabled val="1"/>
        </dgm:presLayoutVars>
      </dgm:prSet>
      <dgm:spPr/>
    </dgm:pt>
    <dgm:pt modelId="{ACEDD392-AA77-4CFF-82C4-0AB366B0D874}" type="pres">
      <dgm:prSet presAssocID="{B921460D-A1CF-4238-8857-13EA28352787}" presName="accent_2" presStyleCnt="0"/>
      <dgm:spPr/>
    </dgm:pt>
    <dgm:pt modelId="{E929E7FF-4B45-45DD-B083-4AED91356EB7}" type="pres">
      <dgm:prSet presAssocID="{B921460D-A1CF-4238-8857-13EA28352787}" presName="accentRepeatNode" presStyleLbl="solidFgAcc1" presStyleIdx="1" presStyleCnt="6"/>
      <dgm:spPr/>
    </dgm:pt>
    <dgm:pt modelId="{A4F3218F-597F-41A4-A487-675B0C0555C0}" type="pres">
      <dgm:prSet presAssocID="{2B44399B-0C40-40BF-80CF-59973147965F}" presName="text_3" presStyleLbl="node1" presStyleIdx="2" presStyleCnt="6">
        <dgm:presLayoutVars>
          <dgm:bulletEnabled val="1"/>
        </dgm:presLayoutVars>
      </dgm:prSet>
      <dgm:spPr/>
    </dgm:pt>
    <dgm:pt modelId="{1FE381C4-1C89-44E3-B164-3108AB8D5CFF}" type="pres">
      <dgm:prSet presAssocID="{2B44399B-0C40-40BF-80CF-59973147965F}" presName="accent_3" presStyleCnt="0"/>
      <dgm:spPr/>
    </dgm:pt>
    <dgm:pt modelId="{EB232130-3C94-4454-8022-A79725394A92}" type="pres">
      <dgm:prSet presAssocID="{2B44399B-0C40-40BF-80CF-59973147965F}" presName="accentRepeatNode" presStyleLbl="solidFgAcc1" presStyleIdx="2" presStyleCnt="6"/>
      <dgm:spPr/>
    </dgm:pt>
    <dgm:pt modelId="{A36773EE-218E-407E-A06C-99ED69583DA6}" type="pres">
      <dgm:prSet presAssocID="{B7F3F1FC-9E9A-43F9-9663-1D15415337D8}" presName="text_4" presStyleLbl="node1" presStyleIdx="3" presStyleCnt="6">
        <dgm:presLayoutVars>
          <dgm:bulletEnabled val="1"/>
        </dgm:presLayoutVars>
      </dgm:prSet>
      <dgm:spPr/>
    </dgm:pt>
    <dgm:pt modelId="{88B0DDE0-D946-435B-B9C8-0CB6CE65CD6E}" type="pres">
      <dgm:prSet presAssocID="{B7F3F1FC-9E9A-43F9-9663-1D15415337D8}" presName="accent_4" presStyleCnt="0"/>
      <dgm:spPr/>
    </dgm:pt>
    <dgm:pt modelId="{275E41C8-57A7-4C0B-9C6C-E406C52DDEB9}" type="pres">
      <dgm:prSet presAssocID="{B7F3F1FC-9E9A-43F9-9663-1D15415337D8}" presName="accentRepeatNode" presStyleLbl="solidFgAcc1" presStyleIdx="3" presStyleCnt="6"/>
      <dgm:spPr/>
    </dgm:pt>
    <dgm:pt modelId="{C8328E0B-F78B-41B1-BE83-BAA83EAEBCB6}" type="pres">
      <dgm:prSet presAssocID="{432FBCCD-FBBE-41AD-AC52-47956692F25E}" presName="text_5" presStyleLbl="node1" presStyleIdx="4" presStyleCnt="6">
        <dgm:presLayoutVars>
          <dgm:bulletEnabled val="1"/>
        </dgm:presLayoutVars>
      </dgm:prSet>
      <dgm:spPr/>
    </dgm:pt>
    <dgm:pt modelId="{308A7381-9D92-43AA-87FA-850BFBF4ED64}" type="pres">
      <dgm:prSet presAssocID="{432FBCCD-FBBE-41AD-AC52-47956692F25E}" presName="accent_5" presStyleCnt="0"/>
      <dgm:spPr/>
    </dgm:pt>
    <dgm:pt modelId="{ABE7C7A9-4B39-40B7-A0CB-08549BD3081D}" type="pres">
      <dgm:prSet presAssocID="{432FBCCD-FBBE-41AD-AC52-47956692F25E}" presName="accentRepeatNode" presStyleLbl="solidFgAcc1" presStyleIdx="4" presStyleCnt="6"/>
      <dgm:spPr/>
    </dgm:pt>
    <dgm:pt modelId="{B47F690F-8E2A-482E-A101-447312CCEEDD}" type="pres">
      <dgm:prSet presAssocID="{C664685D-1726-44FF-B633-B1BAFD02F327}" presName="text_6" presStyleLbl="node1" presStyleIdx="5" presStyleCnt="6">
        <dgm:presLayoutVars>
          <dgm:bulletEnabled val="1"/>
        </dgm:presLayoutVars>
      </dgm:prSet>
      <dgm:spPr/>
    </dgm:pt>
    <dgm:pt modelId="{BB784D4C-6EC2-4364-8DA1-13141C4D3264}" type="pres">
      <dgm:prSet presAssocID="{C664685D-1726-44FF-B633-B1BAFD02F327}" presName="accent_6" presStyleCnt="0"/>
      <dgm:spPr/>
    </dgm:pt>
    <dgm:pt modelId="{E62F9ADB-B468-4A6D-B002-D24D245B43A5}" type="pres">
      <dgm:prSet presAssocID="{C664685D-1726-44FF-B633-B1BAFD02F327}" presName="accentRepeatNode" presStyleLbl="solidFgAcc1" presStyleIdx="5" presStyleCnt="6"/>
      <dgm:spPr/>
    </dgm:pt>
  </dgm:ptLst>
  <dgm:cxnLst>
    <dgm:cxn modelId="{EAAE290D-8034-4F67-BEE0-AAAA5F2E3FF3}" srcId="{332611BB-F0B8-4046-BA3F-C639490C1899}" destId="{C664685D-1726-44FF-B633-B1BAFD02F327}" srcOrd="5" destOrd="0" parTransId="{E639DBEA-603B-4E48-9BA5-60D1FCA6BC53}" sibTransId="{1D65ECF9-7F8A-4B08-BC24-F5DA5DBEA72B}"/>
    <dgm:cxn modelId="{D8162C2A-47BE-445E-B7A5-C1A5B50837ED}" type="presOf" srcId="{2B44399B-0C40-40BF-80CF-59973147965F}" destId="{A4F3218F-597F-41A4-A487-675B0C0555C0}" srcOrd="0" destOrd="0" presId="urn:microsoft.com/office/officeart/2008/layout/VerticalCurvedList"/>
    <dgm:cxn modelId="{A1D0303A-299A-46E6-92D3-4A2103CC53D8}" type="presOf" srcId="{1E47D17E-D8FB-4719-922F-9B43E5DEFAC8}" destId="{66AF6DC1-C171-49AB-BE69-74004D7C3A23}" srcOrd="0" destOrd="0" presId="urn:microsoft.com/office/officeart/2008/layout/VerticalCurvedList"/>
    <dgm:cxn modelId="{EAF9B56C-5713-43BD-B7BB-B61777023C16}" srcId="{332611BB-F0B8-4046-BA3F-C639490C1899}" destId="{432FBCCD-FBBE-41AD-AC52-47956692F25E}" srcOrd="4" destOrd="0" parTransId="{7783A7F0-371C-475A-9212-5B7348FE9ECA}" sibTransId="{5ED1F114-E337-4FBA-A611-7188BB831CE0}"/>
    <dgm:cxn modelId="{DEABA353-1410-4BCB-A03C-D097BBC2C009}" srcId="{332611BB-F0B8-4046-BA3F-C639490C1899}" destId="{2B44399B-0C40-40BF-80CF-59973147965F}" srcOrd="2" destOrd="0" parTransId="{CD4FAAC1-B826-44F5-9735-DD82021E9859}" sibTransId="{41754638-C165-4523-A1BB-3DD8DC7CA547}"/>
    <dgm:cxn modelId="{63F63E7F-68B4-48FC-9450-32F3C91B4038}" srcId="{332611BB-F0B8-4046-BA3F-C639490C1899}" destId="{B921460D-A1CF-4238-8857-13EA28352787}" srcOrd="1" destOrd="0" parTransId="{238360DD-19B3-4A4E-8067-B5477C1E0A75}" sibTransId="{6C103315-C03B-42FA-BCEF-CC575F911734}"/>
    <dgm:cxn modelId="{76CCC187-9696-4311-BB5D-0BE956027220}" type="presOf" srcId="{4C3B436B-AF58-495D-8E1A-7D38E829EF31}" destId="{D29A09F6-B6CB-4AE4-A5F8-61ED9D4BF30F}" srcOrd="0" destOrd="0" presId="urn:microsoft.com/office/officeart/2008/layout/VerticalCurvedList"/>
    <dgm:cxn modelId="{DCE4768F-CE15-43DB-AA8B-119CE140D889}" type="presOf" srcId="{C664685D-1726-44FF-B633-B1BAFD02F327}" destId="{B47F690F-8E2A-482E-A101-447312CCEEDD}" srcOrd="0" destOrd="0" presId="urn:microsoft.com/office/officeart/2008/layout/VerticalCurvedList"/>
    <dgm:cxn modelId="{467CA3A7-0C65-458C-B551-FB0F6A03C499}" type="presOf" srcId="{B921460D-A1CF-4238-8857-13EA28352787}" destId="{75C49EA7-657A-489B-8C89-3E234E04C6AA}" srcOrd="0" destOrd="0" presId="urn:microsoft.com/office/officeart/2008/layout/VerticalCurvedList"/>
    <dgm:cxn modelId="{9A5A5EC1-5397-4E39-AC39-E4668676DF93}" srcId="{332611BB-F0B8-4046-BA3F-C639490C1899}" destId="{4C3B436B-AF58-495D-8E1A-7D38E829EF31}" srcOrd="0" destOrd="0" parTransId="{1DA381E4-E8E4-4188-8063-5B2A7F454E97}" sibTransId="{1E47D17E-D8FB-4719-922F-9B43E5DEFAC8}"/>
    <dgm:cxn modelId="{25DDE0C1-5ECF-4B02-9CF5-5C364602821E}" type="presOf" srcId="{432FBCCD-FBBE-41AD-AC52-47956692F25E}" destId="{C8328E0B-F78B-41B1-BE83-BAA83EAEBCB6}" srcOrd="0" destOrd="0" presId="urn:microsoft.com/office/officeart/2008/layout/VerticalCurvedList"/>
    <dgm:cxn modelId="{B2DDF4C3-5E2D-489D-8DE1-3E737562B0FA}" type="presOf" srcId="{332611BB-F0B8-4046-BA3F-C639490C1899}" destId="{38BF5C91-4641-4C0B-8D2E-1BC16658ED0B}" srcOrd="0" destOrd="0" presId="urn:microsoft.com/office/officeart/2008/layout/VerticalCurvedList"/>
    <dgm:cxn modelId="{3C0D91CD-9DA0-4078-91D8-FC4BCED59E12}" type="presOf" srcId="{B7F3F1FC-9E9A-43F9-9663-1D15415337D8}" destId="{A36773EE-218E-407E-A06C-99ED69583DA6}" srcOrd="0" destOrd="0" presId="urn:microsoft.com/office/officeart/2008/layout/VerticalCurvedList"/>
    <dgm:cxn modelId="{9077C1DE-5AF5-40EA-8E05-CA93FF61D7BE}" srcId="{332611BB-F0B8-4046-BA3F-C639490C1899}" destId="{B7F3F1FC-9E9A-43F9-9663-1D15415337D8}" srcOrd="3" destOrd="0" parTransId="{407B8B2B-7AE5-40D3-A0E3-6395C327DFD5}" sibTransId="{212C8253-0D23-4B01-BE65-E757F05F8509}"/>
    <dgm:cxn modelId="{DA83CA69-BA44-4E3F-BE79-4A0C0C09F91D}" type="presParOf" srcId="{38BF5C91-4641-4C0B-8D2E-1BC16658ED0B}" destId="{79F5E3D7-0778-4CBC-93B4-A5EFE214CEA4}" srcOrd="0" destOrd="0" presId="urn:microsoft.com/office/officeart/2008/layout/VerticalCurvedList"/>
    <dgm:cxn modelId="{E80D8E69-857E-4CDC-ABA7-6AA32818166D}" type="presParOf" srcId="{79F5E3D7-0778-4CBC-93B4-A5EFE214CEA4}" destId="{59C5E1B2-3275-4750-8CA8-313DC9136798}" srcOrd="0" destOrd="0" presId="urn:microsoft.com/office/officeart/2008/layout/VerticalCurvedList"/>
    <dgm:cxn modelId="{81DD06EC-DBF1-4CAC-8609-487CE538C014}" type="presParOf" srcId="{59C5E1B2-3275-4750-8CA8-313DC9136798}" destId="{8A514937-C222-40CF-9A71-FA89B78F8F0F}" srcOrd="0" destOrd="0" presId="urn:microsoft.com/office/officeart/2008/layout/VerticalCurvedList"/>
    <dgm:cxn modelId="{9E6E3247-7611-4F53-B976-CB4B37110AC1}" type="presParOf" srcId="{59C5E1B2-3275-4750-8CA8-313DC9136798}" destId="{66AF6DC1-C171-49AB-BE69-74004D7C3A23}" srcOrd="1" destOrd="0" presId="urn:microsoft.com/office/officeart/2008/layout/VerticalCurvedList"/>
    <dgm:cxn modelId="{80B90D03-0DB0-4E2F-A222-75C9885AC5D5}" type="presParOf" srcId="{59C5E1B2-3275-4750-8CA8-313DC9136798}" destId="{3A6E4494-6493-46FA-8B77-038DEDEE4A0B}" srcOrd="2" destOrd="0" presId="urn:microsoft.com/office/officeart/2008/layout/VerticalCurvedList"/>
    <dgm:cxn modelId="{A75976ED-F9BE-48F5-ACCD-4F36F4E2B534}" type="presParOf" srcId="{59C5E1B2-3275-4750-8CA8-313DC9136798}" destId="{FD0BBF71-1823-4BF2-9750-178C85BA2CBF}" srcOrd="3" destOrd="0" presId="urn:microsoft.com/office/officeart/2008/layout/VerticalCurvedList"/>
    <dgm:cxn modelId="{CB4C4416-C939-45FD-875C-4AC431329CAC}" type="presParOf" srcId="{79F5E3D7-0778-4CBC-93B4-A5EFE214CEA4}" destId="{D29A09F6-B6CB-4AE4-A5F8-61ED9D4BF30F}" srcOrd="1" destOrd="0" presId="urn:microsoft.com/office/officeart/2008/layout/VerticalCurvedList"/>
    <dgm:cxn modelId="{928617B1-7564-4318-8C40-CD030FD221AB}" type="presParOf" srcId="{79F5E3D7-0778-4CBC-93B4-A5EFE214CEA4}" destId="{7D98EF1D-A88E-48E2-BFEF-840B58C8E299}" srcOrd="2" destOrd="0" presId="urn:microsoft.com/office/officeart/2008/layout/VerticalCurvedList"/>
    <dgm:cxn modelId="{EC0EC357-B956-48E5-AE46-5BB6A7E7D7D7}" type="presParOf" srcId="{7D98EF1D-A88E-48E2-BFEF-840B58C8E299}" destId="{9D9E9751-1C8F-4FEE-ADE6-2FC569F55947}" srcOrd="0" destOrd="0" presId="urn:microsoft.com/office/officeart/2008/layout/VerticalCurvedList"/>
    <dgm:cxn modelId="{C9853C48-4294-47C7-BE68-B5F6DB2C0066}" type="presParOf" srcId="{79F5E3D7-0778-4CBC-93B4-A5EFE214CEA4}" destId="{75C49EA7-657A-489B-8C89-3E234E04C6AA}" srcOrd="3" destOrd="0" presId="urn:microsoft.com/office/officeart/2008/layout/VerticalCurvedList"/>
    <dgm:cxn modelId="{AF397B41-737E-4437-A2F0-86E74E2BACA5}" type="presParOf" srcId="{79F5E3D7-0778-4CBC-93B4-A5EFE214CEA4}" destId="{ACEDD392-AA77-4CFF-82C4-0AB366B0D874}" srcOrd="4" destOrd="0" presId="urn:microsoft.com/office/officeart/2008/layout/VerticalCurvedList"/>
    <dgm:cxn modelId="{15A0FF01-365F-470E-8AD5-5C35403EF081}" type="presParOf" srcId="{ACEDD392-AA77-4CFF-82C4-0AB366B0D874}" destId="{E929E7FF-4B45-45DD-B083-4AED91356EB7}" srcOrd="0" destOrd="0" presId="urn:microsoft.com/office/officeart/2008/layout/VerticalCurvedList"/>
    <dgm:cxn modelId="{5027C621-28CE-4530-B662-41A4F4040A75}" type="presParOf" srcId="{79F5E3D7-0778-4CBC-93B4-A5EFE214CEA4}" destId="{A4F3218F-597F-41A4-A487-675B0C0555C0}" srcOrd="5" destOrd="0" presId="urn:microsoft.com/office/officeart/2008/layout/VerticalCurvedList"/>
    <dgm:cxn modelId="{ECC08786-4A6F-4DDD-BC1E-E31D5594D7E1}" type="presParOf" srcId="{79F5E3D7-0778-4CBC-93B4-A5EFE214CEA4}" destId="{1FE381C4-1C89-44E3-B164-3108AB8D5CFF}" srcOrd="6" destOrd="0" presId="urn:microsoft.com/office/officeart/2008/layout/VerticalCurvedList"/>
    <dgm:cxn modelId="{CE7F9ABE-C4BD-4732-81EE-B3D5A92C59A1}" type="presParOf" srcId="{1FE381C4-1C89-44E3-B164-3108AB8D5CFF}" destId="{EB232130-3C94-4454-8022-A79725394A92}" srcOrd="0" destOrd="0" presId="urn:microsoft.com/office/officeart/2008/layout/VerticalCurvedList"/>
    <dgm:cxn modelId="{E46A2B08-CBC7-43BE-9418-F45F399ABE67}" type="presParOf" srcId="{79F5E3D7-0778-4CBC-93B4-A5EFE214CEA4}" destId="{A36773EE-218E-407E-A06C-99ED69583DA6}" srcOrd="7" destOrd="0" presId="urn:microsoft.com/office/officeart/2008/layout/VerticalCurvedList"/>
    <dgm:cxn modelId="{1EC0364A-0ADA-46A3-BE0C-46B44236D867}" type="presParOf" srcId="{79F5E3D7-0778-4CBC-93B4-A5EFE214CEA4}" destId="{88B0DDE0-D946-435B-B9C8-0CB6CE65CD6E}" srcOrd="8" destOrd="0" presId="urn:microsoft.com/office/officeart/2008/layout/VerticalCurvedList"/>
    <dgm:cxn modelId="{84CB6CDD-8F74-47EF-8F41-0EDC45694ED4}" type="presParOf" srcId="{88B0DDE0-D946-435B-B9C8-0CB6CE65CD6E}" destId="{275E41C8-57A7-4C0B-9C6C-E406C52DDEB9}" srcOrd="0" destOrd="0" presId="urn:microsoft.com/office/officeart/2008/layout/VerticalCurvedList"/>
    <dgm:cxn modelId="{0074C2F8-AB48-4A60-8614-2E83A695CCDA}" type="presParOf" srcId="{79F5E3D7-0778-4CBC-93B4-A5EFE214CEA4}" destId="{C8328E0B-F78B-41B1-BE83-BAA83EAEBCB6}" srcOrd="9" destOrd="0" presId="urn:microsoft.com/office/officeart/2008/layout/VerticalCurvedList"/>
    <dgm:cxn modelId="{D61EDB38-6515-4421-B748-4CDE52D0120D}" type="presParOf" srcId="{79F5E3D7-0778-4CBC-93B4-A5EFE214CEA4}" destId="{308A7381-9D92-43AA-87FA-850BFBF4ED64}" srcOrd="10" destOrd="0" presId="urn:microsoft.com/office/officeart/2008/layout/VerticalCurvedList"/>
    <dgm:cxn modelId="{58FE8D93-C4D5-4B83-8CBC-DE239365BD83}" type="presParOf" srcId="{308A7381-9D92-43AA-87FA-850BFBF4ED64}" destId="{ABE7C7A9-4B39-40B7-A0CB-08549BD3081D}" srcOrd="0" destOrd="0" presId="urn:microsoft.com/office/officeart/2008/layout/VerticalCurvedList"/>
    <dgm:cxn modelId="{7FD0D078-EAF1-456A-834C-F9EC026B1855}" type="presParOf" srcId="{79F5E3D7-0778-4CBC-93B4-A5EFE214CEA4}" destId="{B47F690F-8E2A-482E-A101-447312CCEEDD}" srcOrd="11" destOrd="0" presId="urn:microsoft.com/office/officeart/2008/layout/VerticalCurvedList"/>
    <dgm:cxn modelId="{9D262A7D-CB22-4935-8677-284E3992CC5E}" type="presParOf" srcId="{79F5E3D7-0778-4CBC-93B4-A5EFE214CEA4}" destId="{BB784D4C-6EC2-4364-8DA1-13141C4D3264}" srcOrd="12" destOrd="0" presId="urn:microsoft.com/office/officeart/2008/layout/VerticalCurvedList"/>
    <dgm:cxn modelId="{F54A2DCC-1994-4692-ADEA-1BA92D610D80}" type="presParOf" srcId="{BB784D4C-6EC2-4364-8DA1-13141C4D3264}" destId="{E62F9ADB-B468-4A6D-B002-D24D245B43A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2611BB-F0B8-4046-BA3F-C639490C189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3B436B-AF58-495D-8E1A-7D38E829EF31}">
      <dgm:prSet phldrT="[Text]" custT="1"/>
      <dgm:spPr/>
      <dgm:t>
        <a:bodyPr/>
        <a:lstStyle/>
        <a:p>
          <a:r>
            <a:rPr lang="en-US" sz="6000" b="0" i="0" dirty="0" err="1"/>
            <a:t>Probabilitas</a:t>
          </a:r>
          <a:r>
            <a:rPr lang="en-US" sz="6000" b="0" i="0" dirty="0"/>
            <a:t> Prior</a:t>
          </a:r>
          <a:endParaRPr lang="en-US" sz="6000" dirty="0"/>
        </a:p>
      </dgm:t>
    </dgm:pt>
    <dgm:pt modelId="{1DA381E4-E8E4-4188-8063-5B2A7F454E97}" type="parTrans" cxnId="{9A5A5EC1-5397-4E39-AC39-E4668676DF93}">
      <dgm:prSet/>
      <dgm:spPr/>
      <dgm:t>
        <a:bodyPr/>
        <a:lstStyle/>
        <a:p>
          <a:endParaRPr lang="en-US"/>
        </a:p>
      </dgm:t>
    </dgm:pt>
    <dgm:pt modelId="{1E47D17E-D8FB-4719-922F-9B43E5DEFAC8}" type="sibTrans" cxnId="{9A5A5EC1-5397-4E39-AC39-E4668676DF93}">
      <dgm:prSet/>
      <dgm:spPr/>
      <dgm:t>
        <a:bodyPr/>
        <a:lstStyle/>
        <a:p>
          <a:endParaRPr lang="en-US"/>
        </a:p>
      </dgm:t>
    </dgm:pt>
    <dgm:pt modelId="{2B44399B-0C40-40BF-80CF-59973147965F}">
      <dgm:prSet phldrT="[Text]" custT="1"/>
      <dgm:spPr/>
      <dgm:t>
        <a:bodyPr/>
        <a:lstStyle/>
        <a:p>
          <a:r>
            <a:rPr lang="en-US" sz="6000" b="0" i="0" dirty="0" err="1"/>
            <a:t>Probabilitas</a:t>
          </a:r>
          <a:r>
            <a:rPr lang="en-US" sz="6000" b="0" i="0" dirty="0"/>
            <a:t> Likelihood</a:t>
          </a:r>
          <a:endParaRPr lang="en-US" sz="6000" dirty="0"/>
        </a:p>
      </dgm:t>
    </dgm:pt>
    <dgm:pt modelId="{CD4FAAC1-B826-44F5-9735-DD82021E9859}" type="parTrans" cxnId="{DEABA353-1410-4BCB-A03C-D097BBC2C009}">
      <dgm:prSet/>
      <dgm:spPr/>
      <dgm:t>
        <a:bodyPr/>
        <a:lstStyle/>
        <a:p>
          <a:endParaRPr lang="en-US"/>
        </a:p>
      </dgm:t>
    </dgm:pt>
    <dgm:pt modelId="{41754638-C165-4523-A1BB-3DD8DC7CA547}" type="sibTrans" cxnId="{DEABA353-1410-4BCB-A03C-D097BBC2C009}">
      <dgm:prSet/>
      <dgm:spPr/>
      <dgm:t>
        <a:bodyPr/>
        <a:lstStyle/>
        <a:p>
          <a:endParaRPr lang="en-US"/>
        </a:p>
      </dgm:t>
    </dgm:pt>
    <dgm:pt modelId="{CF3DDB72-DB65-4969-82E9-0E17A4F41EF3}">
      <dgm:prSet/>
      <dgm:spPr/>
      <dgm:t>
        <a:bodyPr/>
        <a:lstStyle/>
        <a:p>
          <a:r>
            <a:rPr lang="en-US" b="0" i="0"/>
            <a:t>Laplace Smoothing</a:t>
          </a:r>
          <a:endParaRPr lang="en-US" dirty="0"/>
        </a:p>
      </dgm:t>
    </dgm:pt>
    <dgm:pt modelId="{F2800994-8EC2-4D7B-9B09-21365AC22E80}" type="parTrans" cxnId="{BE08CC4F-2E08-4454-8A10-D45203382F24}">
      <dgm:prSet/>
      <dgm:spPr/>
      <dgm:t>
        <a:bodyPr/>
        <a:lstStyle/>
        <a:p>
          <a:endParaRPr lang="en-US"/>
        </a:p>
      </dgm:t>
    </dgm:pt>
    <dgm:pt modelId="{FFA6B9F7-1522-40AC-85D6-2A0C963187A8}" type="sibTrans" cxnId="{BE08CC4F-2E08-4454-8A10-D45203382F24}">
      <dgm:prSet/>
      <dgm:spPr/>
      <dgm:t>
        <a:bodyPr/>
        <a:lstStyle/>
        <a:p>
          <a:endParaRPr lang="en-US"/>
        </a:p>
      </dgm:t>
    </dgm:pt>
    <dgm:pt modelId="{38BF5C91-4641-4C0B-8D2E-1BC16658ED0B}" type="pres">
      <dgm:prSet presAssocID="{332611BB-F0B8-4046-BA3F-C639490C1899}" presName="Name0" presStyleCnt="0">
        <dgm:presLayoutVars>
          <dgm:chMax val="7"/>
          <dgm:chPref val="7"/>
          <dgm:dir/>
        </dgm:presLayoutVars>
      </dgm:prSet>
      <dgm:spPr/>
    </dgm:pt>
    <dgm:pt modelId="{79F5E3D7-0778-4CBC-93B4-A5EFE214CEA4}" type="pres">
      <dgm:prSet presAssocID="{332611BB-F0B8-4046-BA3F-C639490C1899}" presName="Name1" presStyleCnt="0"/>
      <dgm:spPr/>
    </dgm:pt>
    <dgm:pt modelId="{59C5E1B2-3275-4750-8CA8-313DC9136798}" type="pres">
      <dgm:prSet presAssocID="{332611BB-F0B8-4046-BA3F-C639490C1899}" presName="cycle" presStyleCnt="0"/>
      <dgm:spPr/>
    </dgm:pt>
    <dgm:pt modelId="{8A514937-C222-40CF-9A71-FA89B78F8F0F}" type="pres">
      <dgm:prSet presAssocID="{332611BB-F0B8-4046-BA3F-C639490C1899}" presName="srcNode" presStyleLbl="node1" presStyleIdx="0" presStyleCnt="3"/>
      <dgm:spPr/>
    </dgm:pt>
    <dgm:pt modelId="{66AF6DC1-C171-49AB-BE69-74004D7C3A23}" type="pres">
      <dgm:prSet presAssocID="{332611BB-F0B8-4046-BA3F-C639490C1899}" presName="conn" presStyleLbl="parChTrans1D2" presStyleIdx="0" presStyleCnt="1"/>
      <dgm:spPr/>
    </dgm:pt>
    <dgm:pt modelId="{3A6E4494-6493-46FA-8B77-038DEDEE4A0B}" type="pres">
      <dgm:prSet presAssocID="{332611BB-F0B8-4046-BA3F-C639490C1899}" presName="extraNode" presStyleLbl="node1" presStyleIdx="0" presStyleCnt="3"/>
      <dgm:spPr/>
    </dgm:pt>
    <dgm:pt modelId="{FD0BBF71-1823-4BF2-9750-178C85BA2CBF}" type="pres">
      <dgm:prSet presAssocID="{332611BB-F0B8-4046-BA3F-C639490C1899}" presName="dstNode" presStyleLbl="node1" presStyleIdx="0" presStyleCnt="3"/>
      <dgm:spPr/>
    </dgm:pt>
    <dgm:pt modelId="{D29A09F6-B6CB-4AE4-A5F8-61ED9D4BF30F}" type="pres">
      <dgm:prSet presAssocID="{4C3B436B-AF58-495D-8E1A-7D38E829EF31}" presName="text_1" presStyleLbl="node1" presStyleIdx="0" presStyleCnt="3">
        <dgm:presLayoutVars>
          <dgm:bulletEnabled val="1"/>
        </dgm:presLayoutVars>
      </dgm:prSet>
      <dgm:spPr/>
    </dgm:pt>
    <dgm:pt modelId="{7D98EF1D-A88E-48E2-BFEF-840B58C8E299}" type="pres">
      <dgm:prSet presAssocID="{4C3B436B-AF58-495D-8E1A-7D38E829EF31}" presName="accent_1" presStyleCnt="0"/>
      <dgm:spPr/>
    </dgm:pt>
    <dgm:pt modelId="{9D9E9751-1C8F-4FEE-ADE6-2FC569F55947}" type="pres">
      <dgm:prSet presAssocID="{4C3B436B-AF58-495D-8E1A-7D38E829EF31}" presName="accentRepeatNode" presStyleLbl="solidFgAcc1" presStyleIdx="0" presStyleCnt="3"/>
      <dgm:spPr/>
    </dgm:pt>
    <dgm:pt modelId="{75A4C7F2-01AA-4762-AE1A-2B974984A8C8}" type="pres">
      <dgm:prSet presAssocID="{2B44399B-0C40-40BF-80CF-59973147965F}" presName="text_2" presStyleLbl="node1" presStyleIdx="1" presStyleCnt="3">
        <dgm:presLayoutVars>
          <dgm:bulletEnabled val="1"/>
        </dgm:presLayoutVars>
      </dgm:prSet>
      <dgm:spPr/>
    </dgm:pt>
    <dgm:pt modelId="{70741C88-F04E-41BA-B794-553F1CCA0939}" type="pres">
      <dgm:prSet presAssocID="{2B44399B-0C40-40BF-80CF-59973147965F}" presName="accent_2" presStyleCnt="0"/>
      <dgm:spPr/>
    </dgm:pt>
    <dgm:pt modelId="{EB232130-3C94-4454-8022-A79725394A92}" type="pres">
      <dgm:prSet presAssocID="{2B44399B-0C40-40BF-80CF-59973147965F}" presName="accentRepeatNode" presStyleLbl="solidFgAcc1" presStyleIdx="1" presStyleCnt="3"/>
      <dgm:spPr/>
    </dgm:pt>
    <dgm:pt modelId="{2C6092E2-168D-4C88-A80F-16E1796DD1D2}" type="pres">
      <dgm:prSet presAssocID="{CF3DDB72-DB65-4969-82E9-0E17A4F41EF3}" presName="text_3" presStyleLbl="node1" presStyleIdx="2" presStyleCnt="3">
        <dgm:presLayoutVars>
          <dgm:bulletEnabled val="1"/>
        </dgm:presLayoutVars>
      </dgm:prSet>
      <dgm:spPr/>
    </dgm:pt>
    <dgm:pt modelId="{AF7064DE-6EDB-4BD9-B1E8-75DB7165CC85}" type="pres">
      <dgm:prSet presAssocID="{CF3DDB72-DB65-4969-82E9-0E17A4F41EF3}" presName="accent_3" presStyleCnt="0"/>
      <dgm:spPr/>
    </dgm:pt>
    <dgm:pt modelId="{BF43AA51-C246-4BE3-827B-D3F1F0CE19FC}" type="pres">
      <dgm:prSet presAssocID="{CF3DDB72-DB65-4969-82E9-0E17A4F41EF3}" presName="accentRepeatNode" presStyleLbl="solidFgAcc1" presStyleIdx="2" presStyleCnt="3"/>
      <dgm:spPr/>
    </dgm:pt>
  </dgm:ptLst>
  <dgm:cxnLst>
    <dgm:cxn modelId="{19D8E22A-4490-4E98-886B-D371D1EA00F9}" type="presOf" srcId="{CF3DDB72-DB65-4969-82E9-0E17A4F41EF3}" destId="{2C6092E2-168D-4C88-A80F-16E1796DD1D2}" srcOrd="0" destOrd="0" presId="urn:microsoft.com/office/officeart/2008/layout/VerticalCurvedList"/>
    <dgm:cxn modelId="{A1D0303A-299A-46E6-92D3-4A2103CC53D8}" type="presOf" srcId="{1E47D17E-D8FB-4719-922F-9B43E5DEFAC8}" destId="{66AF6DC1-C171-49AB-BE69-74004D7C3A23}" srcOrd="0" destOrd="0" presId="urn:microsoft.com/office/officeart/2008/layout/VerticalCurvedList"/>
    <dgm:cxn modelId="{BE08CC4F-2E08-4454-8A10-D45203382F24}" srcId="{332611BB-F0B8-4046-BA3F-C639490C1899}" destId="{CF3DDB72-DB65-4969-82E9-0E17A4F41EF3}" srcOrd="2" destOrd="0" parTransId="{F2800994-8EC2-4D7B-9B09-21365AC22E80}" sibTransId="{FFA6B9F7-1522-40AC-85D6-2A0C963187A8}"/>
    <dgm:cxn modelId="{DEABA353-1410-4BCB-A03C-D097BBC2C009}" srcId="{332611BB-F0B8-4046-BA3F-C639490C1899}" destId="{2B44399B-0C40-40BF-80CF-59973147965F}" srcOrd="1" destOrd="0" parTransId="{CD4FAAC1-B826-44F5-9735-DD82021E9859}" sibTransId="{41754638-C165-4523-A1BB-3DD8DC7CA547}"/>
    <dgm:cxn modelId="{AE349855-DDE9-43E3-ADB3-79CF4D782044}" type="presOf" srcId="{2B44399B-0C40-40BF-80CF-59973147965F}" destId="{75A4C7F2-01AA-4762-AE1A-2B974984A8C8}" srcOrd="0" destOrd="0" presId="urn:microsoft.com/office/officeart/2008/layout/VerticalCurvedList"/>
    <dgm:cxn modelId="{76CCC187-9696-4311-BB5D-0BE956027220}" type="presOf" srcId="{4C3B436B-AF58-495D-8E1A-7D38E829EF31}" destId="{D29A09F6-B6CB-4AE4-A5F8-61ED9D4BF30F}" srcOrd="0" destOrd="0" presId="urn:microsoft.com/office/officeart/2008/layout/VerticalCurvedList"/>
    <dgm:cxn modelId="{9A5A5EC1-5397-4E39-AC39-E4668676DF93}" srcId="{332611BB-F0B8-4046-BA3F-C639490C1899}" destId="{4C3B436B-AF58-495D-8E1A-7D38E829EF31}" srcOrd="0" destOrd="0" parTransId="{1DA381E4-E8E4-4188-8063-5B2A7F454E97}" sibTransId="{1E47D17E-D8FB-4719-922F-9B43E5DEFAC8}"/>
    <dgm:cxn modelId="{B2DDF4C3-5E2D-489D-8DE1-3E737562B0FA}" type="presOf" srcId="{332611BB-F0B8-4046-BA3F-C639490C1899}" destId="{38BF5C91-4641-4C0B-8D2E-1BC16658ED0B}" srcOrd="0" destOrd="0" presId="urn:microsoft.com/office/officeart/2008/layout/VerticalCurvedList"/>
    <dgm:cxn modelId="{DA83CA69-BA44-4E3F-BE79-4A0C0C09F91D}" type="presParOf" srcId="{38BF5C91-4641-4C0B-8D2E-1BC16658ED0B}" destId="{79F5E3D7-0778-4CBC-93B4-A5EFE214CEA4}" srcOrd="0" destOrd="0" presId="urn:microsoft.com/office/officeart/2008/layout/VerticalCurvedList"/>
    <dgm:cxn modelId="{E80D8E69-857E-4CDC-ABA7-6AA32818166D}" type="presParOf" srcId="{79F5E3D7-0778-4CBC-93B4-A5EFE214CEA4}" destId="{59C5E1B2-3275-4750-8CA8-313DC9136798}" srcOrd="0" destOrd="0" presId="urn:microsoft.com/office/officeart/2008/layout/VerticalCurvedList"/>
    <dgm:cxn modelId="{81DD06EC-DBF1-4CAC-8609-487CE538C014}" type="presParOf" srcId="{59C5E1B2-3275-4750-8CA8-313DC9136798}" destId="{8A514937-C222-40CF-9A71-FA89B78F8F0F}" srcOrd="0" destOrd="0" presId="urn:microsoft.com/office/officeart/2008/layout/VerticalCurvedList"/>
    <dgm:cxn modelId="{9E6E3247-7611-4F53-B976-CB4B37110AC1}" type="presParOf" srcId="{59C5E1B2-3275-4750-8CA8-313DC9136798}" destId="{66AF6DC1-C171-49AB-BE69-74004D7C3A23}" srcOrd="1" destOrd="0" presId="urn:microsoft.com/office/officeart/2008/layout/VerticalCurvedList"/>
    <dgm:cxn modelId="{80B90D03-0DB0-4E2F-A222-75C9885AC5D5}" type="presParOf" srcId="{59C5E1B2-3275-4750-8CA8-313DC9136798}" destId="{3A6E4494-6493-46FA-8B77-038DEDEE4A0B}" srcOrd="2" destOrd="0" presId="urn:microsoft.com/office/officeart/2008/layout/VerticalCurvedList"/>
    <dgm:cxn modelId="{A75976ED-F9BE-48F5-ACCD-4F36F4E2B534}" type="presParOf" srcId="{59C5E1B2-3275-4750-8CA8-313DC9136798}" destId="{FD0BBF71-1823-4BF2-9750-178C85BA2CBF}" srcOrd="3" destOrd="0" presId="urn:microsoft.com/office/officeart/2008/layout/VerticalCurvedList"/>
    <dgm:cxn modelId="{CB4C4416-C939-45FD-875C-4AC431329CAC}" type="presParOf" srcId="{79F5E3D7-0778-4CBC-93B4-A5EFE214CEA4}" destId="{D29A09F6-B6CB-4AE4-A5F8-61ED9D4BF30F}" srcOrd="1" destOrd="0" presId="urn:microsoft.com/office/officeart/2008/layout/VerticalCurvedList"/>
    <dgm:cxn modelId="{928617B1-7564-4318-8C40-CD030FD221AB}" type="presParOf" srcId="{79F5E3D7-0778-4CBC-93B4-A5EFE214CEA4}" destId="{7D98EF1D-A88E-48E2-BFEF-840B58C8E299}" srcOrd="2" destOrd="0" presId="urn:microsoft.com/office/officeart/2008/layout/VerticalCurvedList"/>
    <dgm:cxn modelId="{EC0EC357-B956-48E5-AE46-5BB6A7E7D7D7}" type="presParOf" srcId="{7D98EF1D-A88E-48E2-BFEF-840B58C8E299}" destId="{9D9E9751-1C8F-4FEE-ADE6-2FC569F55947}" srcOrd="0" destOrd="0" presId="urn:microsoft.com/office/officeart/2008/layout/VerticalCurvedList"/>
    <dgm:cxn modelId="{2905E3F2-E7B2-447E-905A-5A1E7E71989F}" type="presParOf" srcId="{79F5E3D7-0778-4CBC-93B4-A5EFE214CEA4}" destId="{75A4C7F2-01AA-4762-AE1A-2B974984A8C8}" srcOrd="3" destOrd="0" presId="urn:microsoft.com/office/officeart/2008/layout/VerticalCurvedList"/>
    <dgm:cxn modelId="{8E6CB0FF-3D11-4C2E-B0A4-B2B822C739D9}" type="presParOf" srcId="{79F5E3D7-0778-4CBC-93B4-A5EFE214CEA4}" destId="{70741C88-F04E-41BA-B794-553F1CCA0939}" srcOrd="4" destOrd="0" presId="urn:microsoft.com/office/officeart/2008/layout/VerticalCurvedList"/>
    <dgm:cxn modelId="{1853E789-B4B7-433B-87C6-57D8FC6EC8AA}" type="presParOf" srcId="{70741C88-F04E-41BA-B794-553F1CCA0939}" destId="{EB232130-3C94-4454-8022-A79725394A92}" srcOrd="0" destOrd="0" presId="urn:microsoft.com/office/officeart/2008/layout/VerticalCurvedList"/>
    <dgm:cxn modelId="{47812BAA-9820-422E-BA34-CA7F9A12B26C}" type="presParOf" srcId="{79F5E3D7-0778-4CBC-93B4-A5EFE214CEA4}" destId="{2C6092E2-168D-4C88-A80F-16E1796DD1D2}" srcOrd="5" destOrd="0" presId="urn:microsoft.com/office/officeart/2008/layout/VerticalCurvedList"/>
    <dgm:cxn modelId="{4ADEFDC7-09C5-4032-A37F-EB8159202E4E}" type="presParOf" srcId="{79F5E3D7-0778-4CBC-93B4-A5EFE214CEA4}" destId="{AF7064DE-6EDB-4BD9-B1E8-75DB7165CC85}" srcOrd="6" destOrd="0" presId="urn:microsoft.com/office/officeart/2008/layout/VerticalCurvedList"/>
    <dgm:cxn modelId="{AB013C9B-25E4-4F6E-9C4B-212502349181}" type="presParOf" srcId="{AF7064DE-6EDB-4BD9-B1E8-75DB7165CC85}" destId="{BF43AA51-C246-4BE3-827B-D3F1F0CE19F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2611BB-F0B8-4046-BA3F-C639490C189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3B436B-AF58-495D-8E1A-7D38E829EF31}">
      <dgm:prSet phldrT="[Text]"/>
      <dgm:spPr/>
      <dgm:t>
        <a:bodyPr/>
        <a:lstStyle/>
        <a:p>
          <a:r>
            <a:rPr lang="en-US" dirty="0" err="1"/>
            <a:t>Kriteria</a:t>
          </a:r>
          <a:r>
            <a:rPr lang="en-US" dirty="0"/>
            <a:t> (Criterion)</a:t>
          </a:r>
        </a:p>
      </dgm:t>
    </dgm:pt>
    <dgm:pt modelId="{1DA381E4-E8E4-4188-8063-5B2A7F454E97}" type="parTrans" cxnId="{9A5A5EC1-5397-4E39-AC39-E4668676DF93}">
      <dgm:prSet/>
      <dgm:spPr/>
      <dgm:t>
        <a:bodyPr/>
        <a:lstStyle/>
        <a:p>
          <a:endParaRPr lang="en-US"/>
        </a:p>
      </dgm:t>
    </dgm:pt>
    <dgm:pt modelId="{1E47D17E-D8FB-4719-922F-9B43E5DEFAC8}" type="sibTrans" cxnId="{9A5A5EC1-5397-4E39-AC39-E4668676DF93}">
      <dgm:prSet/>
      <dgm:spPr/>
      <dgm:t>
        <a:bodyPr/>
        <a:lstStyle/>
        <a:p>
          <a:endParaRPr lang="en-US"/>
        </a:p>
      </dgm:t>
    </dgm:pt>
    <dgm:pt modelId="{B921460D-A1CF-4238-8857-13EA28352787}">
      <dgm:prSet phldrT="[Text]"/>
      <dgm:spPr/>
      <dgm:t>
        <a:bodyPr/>
        <a:lstStyle/>
        <a:p>
          <a:r>
            <a:rPr lang="en-US" dirty="0" err="1"/>
            <a:t>Maksimal</a:t>
          </a:r>
          <a:r>
            <a:rPr lang="en-US" dirty="0"/>
            <a:t> </a:t>
          </a:r>
          <a:r>
            <a:rPr lang="en-US" dirty="0" err="1"/>
            <a:t>Kedalaman</a:t>
          </a:r>
          <a:r>
            <a:rPr lang="en-US" dirty="0"/>
            <a:t> (</a:t>
          </a:r>
          <a:r>
            <a:rPr lang="en-US" dirty="0" err="1"/>
            <a:t>max_depth</a:t>
          </a:r>
          <a:r>
            <a:rPr lang="en-US" dirty="0"/>
            <a:t>)</a:t>
          </a:r>
        </a:p>
      </dgm:t>
    </dgm:pt>
    <dgm:pt modelId="{238360DD-19B3-4A4E-8067-B5477C1E0A75}" type="parTrans" cxnId="{63F63E7F-68B4-48FC-9450-32F3C91B4038}">
      <dgm:prSet/>
      <dgm:spPr/>
      <dgm:t>
        <a:bodyPr/>
        <a:lstStyle/>
        <a:p>
          <a:endParaRPr lang="en-US"/>
        </a:p>
      </dgm:t>
    </dgm:pt>
    <dgm:pt modelId="{6C103315-C03B-42FA-BCEF-CC575F911734}" type="sibTrans" cxnId="{63F63E7F-68B4-48FC-9450-32F3C91B4038}">
      <dgm:prSet/>
      <dgm:spPr/>
      <dgm:t>
        <a:bodyPr/>
        <a:lstStyle/>
        <a:p>
          <a:endParaRPr lang="en-US"/>
        </a:p>
      </dgm:t>
    </dgm:pt>
    <dgm:pt modelId="{C664685D-1726-44FF-B633-B1BAFD02F327}">
      <dgm:prSet phldrT="[Text]"/>
      <dgm:spPr/>
      <dgm:t>
        <a:bodyPr/>
        <a:lstStyle/>
        <a:p>
          <a:r>
            <a:rPr lang="en-US" dirty="0"/>
            <a:t>Splitter</a:t>
          </a:r>
        </a:p>
      </dgm:t>
    </dgm:pt>
    <dgm:pt modelId="{E639DBEA-603B-4E48-9BA5-60D1FCA6BC53}" type="parTrans" cxnId="{EAAE290D-8034-4F67-BEE0-AAAA5F2E3FF3}">
      <dgm:prSet/>
      <dgm:spPr/>
      <dgm:t>
        <a:bodyPr/>
        <a:lstStyle/>
        <a:p>
          <a:endParaRPr lang="en-US"/>
        </a:p>
      </dgm:t>
    </dgm:pt>
    <dgm:pt modelId="{1D65ECF9-7F8A-4B08-BC24-F5DA5DBEA72B}" type="sibTrans" cxnId="{EAAE290D-8034-4F67-BEE0-AAAA5F2E3FF3}">
      <dgm:prSet/>
      <dgm:spPr/>
      <dgm:t>
        <a:bodyPr/>
        <a:lstStyle/>
        <a:p>
          <a:endParaRPr lang="en-US"/>
        </a:p>
      </dgm:t>
    </dgm:pt>
    <dgm:pt modelId="{2B44399B-0C40-40BF-80CF-59973147965F}">
      <dgm:prSet phldrT="[Text]"/>
      <dgm:spPr/>
      <dgm:t>
        <a:bodyPr/>
        <a:lstStyle/>
        <a:p>
          <a:r>
            <a:rPr lang="en-US" dirty="0" err="1"/>
            <a:t>Min_samples_split</a:t>
          </a:r>
          <a:endParaRPr lang="en-US" dirty="0"/>
        </a:p>
      </dgm:t>
    </dgm:pt>
    <dgm:pt modelId="{CD4FAAC1-B826-44F5-9735-DD82021E9859}" type="parTrans" cxnId="{DEABA353-1410-4BCB-A03C-D097BBC2C009}">
      <dgm:prSet/>
      <dgm:spPr/>
      <dgm:t>
        <a:bodyPr/>
        <a:lstStyle/>
        <a:p>
          <a:endParaRPr lang="en-US"/>
        </a:p>
      </dgm:t>
    </dgm:pt>
    <dgm:pt modelId="{41754638-C165-4523-A1BB-3DD8DC7CA547}" type="sibTrans" cxnId="{DEABA353-1410-4BCB-A03C-D097BBC2C009}">
      <dgm:prSet/>
      <dgm:spPr/>
      <dgm:t>
        <a:bodyPr/>
        <a:lstStyle/>
        <a:p>
          <a:endParaRPr lang="en-US"/>
        </a:p>
      </dgm:t>
    </dgm:pt>
    <dgm:pt modelId="{B7F3F1FC-9E9A-43F9-9663-1D15415337D8}">
      <dgm:prSet phldrT="[Text]"/>
      <dgm:spPr/>
      <dgm:t>
        <a:bodyPr/>
        <a:lstStyle/>
        <a:p>
          <a:r>
            <a:rPr lang="en-US" dirty="0" err="1"/>
            <a:t>Min_samples_leaf</a:t>
          </a:r>
          <a:endParaRPr lang="en-US" dirty="0"/>
        </a:p>
      </dgm:t>
    </dgm:pt>
    <dgm:pt modelId="{407B8B2B-7AE5-40D3-A0E3-6395C327DFD5}" type="parTrans" cxnId="{9077C1DE-5AF5-40EA-8E05-CA93FF61D7BE}">
      <dgm:prSet/>
      <dgm:spPr/>
      <dgm:t>
        <a:bodyPr/>
        <a:lstStyle/>
        <a:p>
          <a:endParaRPr lang="en-US"/>
        </a:p>
      </dgm:t>
    </dgm:pt>
    <dgm:pt modelId="{212C8253-0D23-4B01-BE65-E757F05F8509}" type="sibTrans" cxnId="{9077C1DE-5AF5-40EA-8E05-CA93FF61D7BE}">
      <dgm:prSet/>
      <dgm:spPr/>
      <dgm:t>
        <a:bodyPr/>
        <a:lstStyle/>
        <a:p>
          <a:endParaRPr lang="en-US"/>
        </a:p>
      </dgm:t>
    </dgm:pt>
    <dgm:pt modelId="{432FBCCD-FBBE-41AD-AC52-47956692F25E}">
      <dgm:prSet phldrT="[Text]"/>
      <dgm:spPr/>
      <dgm:t>
        <a:bodyPr/>
        <a:lstStyle/>
        <a:p>
          <a:r>
            <a:rPr lang="en-US" dirty="0" err="1"/>
            <a:t>Max_features</a:t>
          </a:r>
          <a:endParaRPr lang="en-US" dirty="0"/>
        </a:p>
      </dgm:t>
    </dgm:pt>
    <dgm:pt modelId="{7783A7F0-371C-475A-9212-5B7348FE9ECA}" type="parTrans" cxnId="{EAF9B56C-5713-43BD-B7BB-B61777023C16}">
      <dgm:prSet/>
      <dgm:spPr/>
      <dgm:t>
        <a:bodyPr/>
        <a:lstStyle/>
        <a:p>
          <a:endParaRPr lang="en-US"/>
        </a:p>
      </dgm:t>
    </dgm:pt>
    <dgm:pt modelId="{5ED1F114-E337-4FBA-A611-7188BB831CE0}" type="sibTrans" cxnId="{EAF9B56C-5713-43BD-B7BB-B61777023C16}">
      <dgm:prSet/>
      <dgm:spPr/>
      <dgm:t>
        <a:bodyPr/>
        <a:lstStyle/>
        <a:p>
          <a:endParaRPr lang="en-US"/>
        </a:p>
      </dgm:t>
    </dgm:pt>
    <dgm:pt modelId="{38BF5C91-4641-4C0B-8D2E-1BC16658ED0B}" type="pres">
      <dgm:prSet presAssocID="{332611BB-F0B8-4046-BA3F-C639490C1899}" presName="Name0" presStyleCnt="0">
        <dgm:presLayoutVars>
          <dgm:chMax val="7"/>
          <dgm:chPref val="7"/>
          <dgm:dir/>
        </dgm:presLayoutVars>
      </dgm:prSet>
      <dgm:spPr/>
    </dgm:pt>
    <dgm:pt modelId="{79F5E3D7-0778-4CBC-93B4-A5EFE214CEA4}" type="pres">
      <dgm:prSet presAssocID="{332611BB-F0B8-4046-BA3F-C639490C1899}" presName="Name1" presStyleCnt="0"/>
      <dgm:spPr/>
    </dgm:pt>
    <dgm:pt modelId="{59C5E1B2-3275-4750-8CA8-313DC9136798}" type="pres">
      <dgm:prSet presAssocID="{332611BB-F0B8-4046-BA3F-C639490C1899}" presName="cycle" presStyleCnt="0"/>
      <dgm:spPr/>
    </dgm:pt>
    <dgm:pt modelId="{8A514937-C222-40CF-9A71-FA89B78F8F0F}" type="pres">
      <dgm:prSet presAssocID="{332611BB-F0B8-4046-BA3F-C639490C1899}" presName="srcNode" presStyleLbl="node1" presStyleIdx="0" presStyleCnt="6"/>
      <dgm:spPr/>
    </dgm:pt>
    <dgm:pt modelId="{66AF6DC1-C171-49AB-BE69-74004D7C3A23}" type="pres">
      <dgm:prSet presAssocID="{332611BB-F0B8-4046-BA3F-C639490C1899}" presName="conn" presStyleLbl="parChTrans1D2" presStyleIdx="0" presStyleCnt="1"/>
      <dgm:spPr/>
    </dgm:pt>
    <dgm:pt modelId="{3A6E4494-6493-46FA-8B77-038DEDEE4A0B}" type="pres">
      <dgm:prSet presAssocID="{332611BB-F0B8-4046-BA3F-C639490C1899}" presName="extraNode" presStyleLbl="node1" presStyleIdx="0" presStyleCnt="6"/>
      <dgm:spPr/>
    </dgm:pt>
    <dgm:pt modelId="{FD0BBF71-1823-4BF2-9750-178C85BA2CBF}" type="pres">
      <dgm:prSet presAssocID="{332611BB-F0B8-4046-BA3F-C639490C1899}" presName="dstNode" presStyleLbl="node1" presStyleIdx="0" presStyleCnt="6"/>
      <dgm:spPr/>
    </dgm:pt>
    <dgm:pt modelId="{D29A09F6-B6CB-4AE4-A5F8-61ED9D4BF30F}" type="pres">
      <dgm:prSet presAssocID="{4C3B436B-AF58-495D-8E1A-7D38E829EF31}" presName="text_1" presStyleLbl="node1" presStyleIdx="0" presStyleCnt="6">
        <dgm:presLayoutVars>
          <dgm:bulletEnabled val="1"/>
        </dgm:presLayoutVars>
      </dgm:prSet>
      <dgm:spPr/>
    </dgm:pt>
    <dgm:pt modelId="{7D98EF1D-A88E-48E2-BFEF-840B58C8E299}" type="pres">
      <dgm:prSet presAssocID="{4C3B436B-AF58-495D-8E1A-7D38E829EF31}" presName="accent_1" presStyleCnt="0"/>
      <dgm:spPr/>
    </dgm:pt>
    <dgm:pt modelId="{9D9E9751-1C8F-4FEE-ADE6-2FC569F55947}" type="pres">
      <dgm:prSet presAssocID="{4C3B436B-AF58-495D-8E1A-7D38E829EF31}" presName="accentRepeatNode" presStyleLbl="solidFgAcc1" presStyleIdx="0" presStyleCnt="6"/>
      <dgm:spPr/>
    </dgm:pt>
    <dgm:pt modelId="{75C49EA7-657A-489B-8C89-3E234E04C6AA}" type="pres">
      <dgm:prSet presAssocID="{B921460D-A1CF-4238-8857-13EA28352787}" presName="text_2" presStyleLbl="node1" presStyleIdx="1" presStyleCnt="6">
        <dgm:presLayoutVars>
          <dgm:bulletEnabled val="1"/>
        </dgm:presLayoutVars>
      </dgm:prSet>
      <dgm:spPr/>
    </dgm:pt>
    <dgm:pt modelId="{ACEDD392-AA77-4CFF-82C4-0AB366B0D874}" type="pres">
      <dgm:prSet presAssocID="{B921460D-A1CF-4238-8857-13EA28352787}" presName="accent_2" presStyleCnt="0"/>
      <dgm:spPr/>
    </dgm:pt>
    <dgm:pt modelId="{E929E7FF-4B45-45DD-B083-4AED91356EB7}" type="pres">
      <dgm:prSet presAssocID="{B921460D-A1CF-4238-8857-13EA28352787}" presName="accentRepeatNode" presStyleLbl="solidFgAcc1" presStyleIdx="1" presStyleCnt="6"/>
      <dgm:spPr/>
    </dgm:pt>
    <dgm:pt modelId="{A4F3218F-597F-41A4-A487-675B0C0555C0}" type="pres">
      <dgm:prSet presAssocID="{2B44399B-0C40-40BF-80CF-59973147965F}" presName="text_3" presStyleLbl="node1" presStyleIdx="2" presStyleCnt="6">
        <dgm:presLayoutVars>
          <dgm:bulletEnabled val="1"/>
        </dgm:presLayoutVars>
      </dgm:prSet>
      <dgm:spPr/>
    </dgm:pt>
    <dgm:pt modelId="{1FE381C4-1C89-44E3-B164-3108AB8D5CFF}" type="pres">
      <dgm:prSet presAssocID="{2B44399B-0C40-40BF-80CF-59973147965F}" presName="accent_3" presStyleCnt="0"/>
      <dgm:spPr/>
    </dgm:pt>
    <dgm:pt modelId="{EB232130-3C94-4454-8022-A79725394A92}" type="pres">
      <dgm:prSet presAssocID="{2B44399B-0C40-40BF-80CF-59973147965F}" presName="accentRepeatNode" presStyleLbl="solidFgAcc1" presStyleIdx="2" presStyleCnt="6"/>
      <dgm:spPr/>
    </dgm:pt>
    <dgm:pt modelId="{A36773EE-218E-407E-A06C-99ED69583DA6}" type="pres">
      <dgm:prSet presAssocID="{B7F3F1FC-9E9A-43F9-9663-1D15415337D8}" presName="text_4" presStyleLbl="node1" presStyleIdx="3" presStyleCnt="6">
        <dgm:presLayoutVars>
          <dgm:bulletEnabled val="1"/>
        </dgm:presLayoutVars>
      </dgm:prSet>
      <dgm:spPr/>
    </dgm:pt>
    <dgm:pt modelId="{88B0DDE0-D946-435B-B9C8-0CB6CE65CD6E}" type="pres">
      <dgm:prSet presAssocID="{B7F3F1FC-9E9A-43F9-9663-1D15415337D8}" presName="accent_4" presStyleCnt="0"/>
      <dgm:spPr/>
    </dgm:pt>
    <dgm:pt modelId="{275E41C8-57A7-4C0B-9C6C-E406C52DDEB9}" type="pres">
      <dgm:prSet presAssocID="{B7F3F1FC-9E9A-43F9-9663-1D15415337D8}" presName="accentRepeatNode" presStyleLbl="solidFgAcc1" presStyleIdx="3" presStyleCnt="6"/>
      <dgm:spPr/>
    </dgm:pt>
    <dgm:pt modelId="{C8328E0B-F78B-41B1-BE83-BAA83EAEBCB6}" type="pres">
      <dgm:prSet presAssocID="{432FBCCD-FBBE-41AD-AC52-47956692F25E}" presName="text_5" presStyleLbl="node1" presStyleIdx="4" presStyleCnt="6">
        <dgm:presLayoutVars>
          <dgm:bulletEnabled val="1"/>
        </dgm:presLayoutVars>
      </dgm:prSet>
      <dgm:spPr/>
    </dgm:pt>
    <dgm:pt modelId="{308A7381-9D92-43AA-87FA-850BFBF4ED64}" type="pres">
      <dgm:prSet presAssocID="{432FBCCD-FBBE-41AD-AC52-47956692F25E}" presName="accent_5" presStyleCnt="0"/>
      <dgm:spPr/>
    </dgm:pt>
    <dgm:pt modelId="{ABE7C7A9-4B39-40B7-A0CB-08549BD3081D}" type="pres">
      <dgm:prSet presAssocID="{432FBCCD-FBBE-41AD-AC52-47956692F25E}" presName="accentRepeatNode" presStyleLbl="solidFgAcc1" presStyleIdx="4" presStyleCnt="6"/>
      <dgm:spPr/>
    </dgm:pt>
    <dgm:pt modelId="{B47F690F-8E2A-482E-A101-447312CCEEDD}" type="pres">
      <dgm:prSet presAssocID="{C664685D-1726-44FF-B633-B1BAFD02F327}" presName="text_6" presStyleLbl="node1" presStyleIdx="5" presStyleCnt="6">
        <dgm:presLayoutVars>
          <dgm:bulletEnabled val="1"/>
        </dgm:presLayoutVars>
      </dgm:prSet>
      <dgm:spPr/>
    </dgm:pt>
    <dgm:pt modelId="{BB784D4C-6EC2-4364-8DA1-13141C4D3264}" type="pres">
      <dgm:prSet presAssocID="{C664685D-1726-44FF-B633-B1BAFD02F327}" presName="accent_6" presStyleCnt="0"/>
      <dgm:spPr/>
    </dgm:pt>
    <dgm:pt modelId="{E62F9ADB-B468-4A6D-B002-D24D245B43A5}" type="pres">
      <dgm:prSet presAssocID="{C664685D-1726-44FF-B633-B1BAFD02F327}" presName="accentRepeatNode" presStyleLbl="solidFgAcc1" presStyleIdx="5" presStyleCnt="6"/>
      <dgm:spPr/>
    </dgm:pt>
  </dgm:ptLst>
  <dgm:cxnLst>
    <dgm:cxn modelId="{EAAE290D-8034-4F67-BEE0-AAAA5F2E3FF3}" srcId="{332611BB-F0B8-4046-BA3F-C639490C1899}" destId="{C664685D-1726-44FF-B633-B1BAFD02F327}" srcOrd="5" destOrd="0" parTransId="{E639DBEA-603B-4E48-9BA5-60D1FCA6BC53}" sibTransId="{1D65ECF9-7F8A-4B08-BC24-F5DA5DBEA72B}"/>
    <dgm:cxn modelId="{D8162C2A-47BE-445E-B7A5-C1A5B50837ED}" type="presOf" srcId="{2B44399B-0C40-40BF-80CF-59973147965F}" destId="{A4F3218F-597F-41A4-A487-675B0C0555C0}" srcOrd="0" destOrd="0" presId="urn:microsoft.com/office/officeart/2008/layout/VerticalCurvedList"/>
    <dgm:cxn modelId="{A1D0303A-299A-46E6-92D3-4A2103CC53D8}" type="presOf" srcId="{1E47D17E-D8FB-4719-922F-9B43E5DEFAC8}" destId="{66AF6DC1-C171-49AB-BE69-74004D7C3A23}" srcOrd="0" destOrd="0" presId="urn:microsoft.com/office/officeart/2008/layout/VerticalCurvedList"/>
    <dgm:cxn modelId="{EAF9B56C-5713-43BD-B7BB-B61777023C16}" srcId="{332611BB-F0B8-4046-BA3F-C639490C1899}" destId="{432FBCCD-FBBE-41AD-AC52-47956692F25E}" srcOrd="4" destOrd="0" parTransId="{7783A7F0-371C-475A-9212-5B7348FE9ECA}" sibTransId="{5ED1F114-E337-4FBA-A611-7188BB831CE0}"/>
    <dgm:cxn modelId="{DEABA353-1410-4BCB-A03C-D097BBC2C009}" srcId="{332611BB-F0B8-4046-BA3F-C639490C1899}" destId="{2B44399B-0C40-40BF-80CF-59973147965F}" srcOrd="2" destOrd="0" parTransId="{CD4FAAC1-B826-44F5-9735-DD82021E9859}" sibTransId="{41754638-C165-4523-A1BB-3DD8DC7CA547}"/>
    <dgm:cxn modelId="{63F63E7F-68B4-48FC-9450-32F3C91B4038}" srcId="{332611BB-F0B8-4046-BA3F-C639490C1899}" destId="{B921460D-A1CF-4238-8857-13EA28352787}" srcOrd="1" destOrd="0" parTransId="{238360DD-19B3-4A4E-8067-B5477C1E0A75}" sibTransId="{6C103315-C03B-42FA-BCEF-CC575F911734}"/>
    <dgm:cxn modelId="{76CCC187-9696-4311-BB5D-0BE956027220}" type="presOf" srcId="{4C3B436B-AF58-495D-8E1A-7D38E829EF31}" destId="{D29A09F6-B6CB-4AE4-A5F8-61ED9D4BF30F}" srcOrd="0" destOrd="0" presId="urn:microsoft.com/office/officeart/2008/layout/VerticalCurvedList"/>
    <dgm:cxn modelId="{DCE4768F-CE15-43DB-AA8B-119CE140D889}" type="presOf" srcId="{C664685D-1726-44FF-B633-B1BAFD02F327}" destId="{B47F690F-8E2A-482E-A101-447312CCEEDD}" srcOrd="0" destOrd="0" presId="urn:microsoft.com/office/officeart/2008/layout/VerticalCurvedList"/>
    <dgm:cxn modelId="{467CA3A7-0C65-458C-B551-FB0F6A03C499}" type="presOf" srcId="{B921460D-A1CF-4238-8857-13EA28352787}" destId="{75C49EA7-657A-489B-8C89-3E234E04C6AA}" srcOrd="0" destOrd="0" presId="urn:microsoft.com/office/officeart/2008/layout/VerticalCurvedList"/>
    <dgm:cxn modelId="{9A5A5EC1-5397-4E39-AC39-E4668676DF93}" srcId="{332611BB-F0B8-4046-BA3F-C639490C1899}" destId="{4C3B436B-AF58-495D-8E1A-7D38E829EF31}" srcOrd="0" destOrd="0" parTransId="{1DA381E4-E8E4-4188-8063-5B2A7F454E97}" sibTransId="{1E47D17E-D8FB-4719-922F-9B43E5DEFAC8}"/>
    <dgm:cxn modelId="{25DDE0C1-5ECF-4B02-9CF5-5C364602821E}" type="presOf" srcId="{432FBCCD-FBBE-41AD-AC52-47956692F25E}" destId="{C8328E0B-F78B-41B1-BE83-BAA83EAEBCB6}" srcOrd="0" destOrd="0" presId="urn:microsoft.com/office/officeart/2008/layout/VerticalCurvedList"/>
    <dgm:cxn modelId="{B2DDF4C3-5E2D-489D-8DE1-3E737562B0FA}" type="presOf" srcId="{332611BB-F0B8-4046-BA3F-C639490C1899}" destId="{38BF5C91-4641-4C0B-8D2E-1BC16658ED0B}" srcOrd="0" destOrd="0" presId="urn:microsoft.com/office/officeart/2008/layout/VerticalCurvedList"/>
    <dgm:cxn modelId="{3C0D91CD-9DA0-4078-91D8-FC4BCED59E12}" type="presOf" srcId="{B7F3F1FC-9E9A-43F9-9663-1D15415337D8}" destId="{A36773EE-218E-407E-A06C-99ED69583DA6}" srcOrd="0" destOrd="0" presId="urn:microsoft.com/office/officeart/2008/layout/VerticalCurvedList"/>
    <dgm:cxn modelId="{9077C1DE-5AF5-40EA-8E05-CA93FF61D7BE}" srcId="{332611BB-F0B8-4046-BA3F-C639490C1899}" destId="{B7F3F1FC-9E9A-43F9-9663-1D15415337D8}" srcOrd="3" destOrd="0" parTransId="{407B8B2B-7AE5-40D3-A0E3-6395C327DFD5}" sibTransId="{212C8253-0D23-4B01-BE65-E757F05F8509}"/>
    <dgm:cxn modelId="{DA83CA69-BA44-4E3F-BE79-4A0C0C09F91D}" type="presParOf" srcId="{38BF5C91-4641-4C0B-8D2E-1BC16658ED0B}" destId="{79F5E3D7-0778-4CBC-93B4-A5EFE214CEA4}" srcOrd="0" destOrd="0" presId="urn:microsoft.com/office/officeart/2008/layout/VerticalCurvedList"/>
    <dgm:cxn modelId="{E80D8E69-857E-4CDC-ABA7-6AA32818166D}" type="presParOf" srcId="{79F5E3D7-0778-4CBC-93B4-A5EFE214CEA4}" destId="{59C5E1B2-3275-4750-8CA8-313DC9136798}" srcOrd="0" destOrd="0" presId="urn:microsoft.com/office/officeart/2008/layout/VerticalCurvedList"/>
    <dgm:cxn modelId="{81DD06EC-DBF1-4CAC-8609-487CE538C014}" type="presParOf" srcId="{59C5E1B2-3275-4750-8CA8-313DC9136798}" destId="{8A514937-C222-40CF-9A71-FA89B78F8F0F}" srcOrd="0" destOrd="0" presId="urn:microsoft.com/office/officeart/2008/layout/VerticalCurvedList"/>
    <dgm:cxn modelId="{9E6E3247-7611-4F53-B976-CB4B37110AC1}" type="presParOf" srcId="{59C5E1B2-3275-4750-8CA8-313DC9136798}" destId="{66AF6DC1-C171-49AB-BE69-74004D7C3A23}" srcOrd="1" destOrd="0" presId="urn:microsoft.com/office/officeart/2008/layout/VerticalCurvedList"/>
    <dgm:cxn modelId="{80B90D03-0DB0-4E2F-A222-75C9885AC5D5}" type="presParOf" srcId="{59C5E1B2-3275-4750-8CA8-313DC9136798}" destId="{3A6E4494-6493-46FA-8B77-038DEDEE4A0B}" srcOrd="2" destOrd="0" presId="urn:microsoft.com/office/officeart/2008/layout/VerticalCurvedList"/>
    <dgm:cxn modelId="{A75976ED-F9BE-48F5-ACCD-4F36F4E2B534}" type="presParOf" srcId="{59C5E1B2-3275-4750-8CA8-313DC9136798}" destId="{FD0BBF71-1823-4BF2-9750-178C85BA2CBF}" srcOrd="3" destOrd="0" presId="urn:microsoft.com/office/officeart/2008/layout/VerticalCurvedList"/>
    <dgm:cxn modelId="{CB4C4416-C939-45FD-875C-4AC431329CAC}" type="presParOf" srcId="{79F5E3D7-0778-4CBC-93B4-A5EFE214CEA4}" destId="{D29A09F6-B6CB-4AE4-A5F8-61ED9D4BF30F}" srcOrd="1" destOrd="0" presId="urn:microsoft.com/office/officeart/2008/layout/VerticalCurvedList"/>
    <dgm:cxn modelId="{928617B1-7564-4318-8C40-CD030FD221AB}" type="presParOf" srcId="{79F5E3D7-0778-4CBC-93B4-A5EFE214CEA4}" destId="{7D98EF1D-A88E-48E2-BFEF-840B58C8E299}" srcOrd="2" destOrd="0" presId="urn:microsoft.com/office/officeart/2008/layout/VerticalCurvedList"/>
    <dgm:cxn modelId="{EC0EC357-B956-48E5-AE46-5BB6A7E7D7D7}" type="presParOf" srcId="{7D98EF1D-A88E-48E2-BFEF-840B58C8E299}" destId="{9D9E9751-1C8F-4FEE-ADE6-2FC569F55947}" srcOrd="0" destOrd="0" presId="urn:microsoft.com/office/officeart/2008/layout/VerticalCurvedList"/>
    <dgm:cxn modelId="{C9853C48-4294-47C7-BE68-B5F6DB2C0066}" type="presParOf" srcId="{79F5E3D7-0778-4CBC-93B4-A5EFE214CEA4}" destId="{75C49EA7-657A-489B-8C89-3E234E04C6AA}" srcOrd="3" destOrd="0" presId="urn:microsoft.com/office/officeart/2008/layout/VerticalCurvedList"/>
    <dgm:cxn modelId="{AF397B41-737E-4437-A2F0-86E74E2BACA5}" type="presParOf" srcId="{79F5E3D7-0778-4CBC-93B4-A5EFE214CEA4}" destId="{ACEDD392-AA77-4CFF-82C4-0AB366B0D874}" srcOrd="4" destOrd="0" presId="urn:microsoft.com/office/officeart/2008/layout/VerticalCurvedList"/>
    <dgm:cxn modelId="{15A0FF01-365F-470E-8AD5-5C35403EF081}" type="presParOf" srcId="{ACEDD392-AA77-4CFF-82C4-0AB366B0D874}" destId="{E929E7FF-4B45-45DD-B083-4AED91356EB7}" srcOrd="0" destOrd="0" presId="urn:microsoft.com/office/officeart/2008/layout/VerticalCurvedList"/>
    <dgm:cxn modelId="{5027C621-28CE-4530-B662-41A4F4040A75}" type="presParOf" srcId="{79F5E3D7-0778-4CBC-93B4-A5EFE214CEA4}" destId="{A4F3218F-597F-41A4-A487-675B0C0555C0}" srcOrd="5" destOrd="0" presId="urn:microsoft.com/office/officeart/2008/layout/VerticalCurvedList"/>
    <dgm:cxn modelId="{ECC08786-4A6F-4DDD-BC1E-E31D5594D7E1}" type="presParOf" srcId="{79F5E3D7-0778-4CBC-93B4-A5EFE214CEA4}" destId="{1FE381C4-1C89-44E3-B164-3108AB8D5CFF}" srcOrd="6" destOrd="0" presId="urn:microsoft.com/office/officeart/2008/layout/VerticalCurvedList"/>
    <dgm:cxn modelId="{CE7F9ABE-C4BD-4732-81EE-B3D5A92C59A1}" type="presParOf" srcId="{1FE381C4-1C89-44E3-B164-3108AB8D5CFF}" destId="{EB232130-3C94-4454-8022-A79725394A92}" srcOrd="0" destOrd="0" presId="urn:microsoft.com/office/officeart/2008/layout/VerticalCurvedList"/>
    <dgm:cxn modelId="{E46A2B08-CBC7-43BE-9418-F45F399ABE67}" type="presParOf" srcId="{79F5E3D7-0778-4CBC-93B4-A5EFE214CEA4}" destId="{A36773EE-218E-407E-A06C-99ED69583DA6}" srcOrd="7" destOrd="0" presId="urn:microsoft.com/office/officeart/2008/layout/VerticalCurvedList"/>
    <dgm:cxn modelId="{1EC0364A-0ADA-46A3-BE0C-46B44236D867}" type="presParOf" srcId="{79F5E3D7-0778-4CBC-93B4-A5EFE214CEA4}" destId="{88B0DDE0-D946-435B-B9C8-0CB6CE65CD6E}" srcOrd="8" destOrd="0" presId="urn:microsoft.com/office/officeart/2008/layout/VerticalCurvedList"/>
    <dgm:cxn modelId="{84CB6CDD-8F74-47EF-8F41-0EDC45694ED4}" type="presParOf" srcId="{88B0DDE0-D946-435B-B9C8-0CB6CE65CD6E}" destId="{275E41C8-57A7-4C0B-9C6C-E406C52DDEB9}" srcOrd="0" destOrd="0" presId="urn:microsoft.com/office/officeart/2008/layout/VerticalCurvedList"/>
    <dgm:cxn modelId="{0074C2F8-AB48-4A60-8614-2E83A695CCDA}" type="presParOf" srcId="{79F5E3D7-0778-4CBC-93B4-A5EFE214CEA4}" destId="{C8328E0B-F78B-41B1-BE83-BAA83EAEBCB6}" srcOrd="9" destOrd="0" presId="urn:microsoft.com/office/officeart/2008/layout/VerticalCurvedList"/>
    <dgm:cxn modelId="{D61EDB38-6515-4421-B748-4CDE52D0120D}" type="presParOf" srcId="{79F5E3D7-0778-4CBC-93B4-A5EFE214CEA4}" destId="{308A7381-9D92-43AA-87FA-850BFBF4ED64}" srcOrd="10" destOrd="0" presId="urn:microsoft.com/office/officeart/2008/layout/VerticalCurvedList"/>
    <dgm:cxn modelId="{58FE8D93-C4D5-4B83-8CBC-DE239365BD83}" type="presParOf" srcId="{308A7381-9D92-43AA-87FA-850BFBF4ED64}" destId="{ABE7C7A9-4B39-40B7-A0CB-08549BD3081D}" srcOrd="0" destOrd="0" presId="urn:microsoft.com/office/officeart/2008/layout/VerticalCurvedList"/>
    <dgm:cxn modelId="{7FD0D078-EAF1-456A-834C-F9EC026B1855}" type="presParOf" srcId="{79F5E3D7-0778-4CBC-93B4-A5EFE214CEA4}" destId="{B47F690F-8E2A-482E-A101-447312CCEEDD}" srcOrd="11" destOrd="0" presId="urn:microsoft.com/office/officeart/2008/layout/VerticalCurvedList"/>
    <dgm:cxn modelId="{9D262A7D-CB22-4935-8677-284E3992CC5E}" type="presParOf" srcId="{79F5E3D7-0778-4CBC-93B4-A5EFE214CEA4}" destId="{BB784D4C-6EC2-4364-8DA1-13141C4D3264}" srcOrd="12" destOrd="0" presId="urn:microsoft.com/office/officeart/2008/layout/VerticalCurvedList"/>
    <dgm:cxn modelId="{F54A2DCC-1994-4692-ADEA-1BA92D610D80}" type="presParOf" srcId="{BB784D4C-6EC2-4364-8DA1-13141C4D3264}" destId="{E62F9ADB-B468-4A6D-B002-D24D245B43A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F6DC1-C171-49AB-BE69-74004D7C3A23}">
      <dsp:nvSpPr>
        <dsp:cNvPr id="0" name=""/>
        <dsp:cNvSpPr/>
      </dsp:nvSpPr>
      <dsp:spPr>
        <a:xfrm>
          <a:off x="-9188722" y="-1403415"/>
          <a:ext cx="10934832" cy="10934832"/>
        </a:xfrm>
        <a:prstGeom prst="blockArc">
          <a:avLst>
            <a:gd name="adj1" fmla="val 18900000"/>
            <a:gd name="adj2" fmla="val 2700000"/>
            <a:gd name="adj3" fmla="val 198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9A09F6-B6CB-4AE4-A5F8-61ED9D4BF30F}">
      <dsp:nvSpPr>
        <dsp:cNvPr id="0" name=""/>
        <dsp:cNvSpPr/>
      </dsp:nvSpPr>
      <dsp:spPr>
        <a:xfrm>
          <a:off x="650646" y="428020"/>
          <a:ext cx="11425529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/>
            <a:t>Jumlah</a:t>
          </a:r>
          <a:r>
            <a:rPr lang="en-US" sz="4300" kern="1200" dirty="0"/>
            <a:t> </a:t>
          </a:r>
          <a:r>
            <a:rPr lang="en-US" sz="4300" kern="1200" dirty="0" err="1"/>
            <a:t>Tetangga</a:t>
          </a:r>
          <a:r>
            <a:rPr lang="en-US" sz="4300" kern="1200" dirty="0"/>
            <a:t> (K)</a:t>
          </a:r>
        </a:p>
      </dsp:txBody>
      <dsp:txXfrm>
        <a:off x="650646" y="428020"/>
        <a:ext cx="11425529" cy="855715"/>
      </dsp:txXfrm>
    </dsp:sp>
    <dsp:sp modelId="{9D9E9751-1C8F-4FEE-ADE6-2FC569F55947}">
      <dsp:nvSpPr>
        <dsp:cNvPr id="0" name=""/>
        <dsp:cNvSpPr/>
      </dsp:nvSpPr>
      <dsp:spPr>
        <a:xfrm>
          <a:off x="115823" y="321056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49EA7-657A-489B-8C89-3E234E04C6AA}">
      <dsp:nvSpPr>
        <dsp:cNvPr id="0" name=""/>
        <dsp:cNvSpPr/>
      </dsp:nvSpPr>
      <dsp:spPr>
        <a:xfrm>
          <a:off x="1354531" y="1711431"/>
          <a:ext cx="10721644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Metric </a:t>
          </a:r>
          <a:r>
            <a:rPr lang="en-US" sz="4300" kern="1200" dirty="0" err="1"/>
            <a:t>Jarak</a:t>
          </a:r>
          <a:endParaRPr lang="en-US" sz="4300" kern="1200" dirty="0"/>
        </a:p>
      </dsp:txBody>
      <dsp:txXfrm>
        <a:off x="1354531" y="1711431"/>
        <a:ext cx="10721644" cy="855715"/>
      </dsp:txXfrm>
    </dsp:sp>
    <dsp:sp modelId="{E929E7FF-4B45-45DD-B083-4AED91356EB7}">
      <dsp:nvSpPr>
        <dsp:cNvPr id="0" name=""/>
        <dsp:cNvSpPr/>
      </dsp:nvSpPr>
      <dsp:spPr>
        <a:xfrm>
          <a:off x="819708" y="1604467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3218F-597F-41A4-A487-675B0C0555C0}">
      <dsp:nvSpPr>
        <dsp:cNvPr id="0" name=""/>
        <dsp:cNvSpPr/>
      </dsp:nvSpPr>
      <dsp:spPr>
        <a:xfrm>
          <a:off x="1676399" y="2994842"/>
          <a:ext cx="10399776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/>
            <a:t>Bobot</a:t>
          </a:r>
          <a:r>
            <a:rPr lang="en-US" sz="4300" kern="1200" dirty="0"/>
            <a:t> (Weights)</a:t>
          </a:r>
        </a:p>
      </dsp:txBody>
      <dsp:txXfrm>
        <a:off x="1676399" y="2994842"/>
        <a:ext cx="10399776" cy="855715"/>
      </dsp:txXfrm>
    </dsp:sp>
    <dsp:sp modelId="{EB232130-3C94-4454-8022-A79725394A92}">
      <dsp:nvSpPr>
        <dsp:cNvPr id="0" name=""/>
        <dsp:cNvSpPr/>
      </dsp:nvSpPr>
      <dsp:spPr>
        <a:xfrm>
          <a:off x="1141577" y="2887878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773EE-218E-407E-A06C-99ED69583DA6}">
      <dsp:nvSpPr>
        <dsp:cNvPr id="0" name=""/>
        <dsp:cNvSpPr/>
      </dsp:nvSpPr>
      <dsp:spPr>
        <a:xfrm>
          <a:off x="1676399" y="4277441"/>
          <a:ext cx="10399776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/>
            <a:t>Panjang</a:t>
          </a:r>
          <a:r>
            <a:rPr lang="en-US" sz="4300" kern="1200" dirty="0"/>
            <a:t> </a:t>
          </a:r>
          <a:r>
            <a:rPr lang="en-US" sz="4300" kern="1200" dirty="0" err="1"/>
            <a:t>Jarak</a:t>
          </a:r>
          <a:r>
            <a:rPr lang="en-US" sz="4300" kern="1200" dirty="0"/>
            <a:t> (Distance Metric Parameters)</a:t>
          </a:r>
        </a:p>
      </dsp:txBody>
      <dsp:txXfrm>
        <a:off x="1676399" y="4277441"/>
        <a:ext cx="10399776" cy="855715"/>
      </dsp:txXfrm>
    </dsp:sp>
    <dsp:sp modelId="{275E41C8-57A7-4C0B-9C6C-E406C52DDEB9}">
      <dsp:nvSpPr>
        <dsp:cNvPr id="0" name=""/>
        <dsp:cNvSpPr/>
      </dsp:nvSpPr>
      <dsp:spPr>
        <a:xfrm>
          <a:off x="1141577" y="4170476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28E0B-F78B-41B1-BE83-BAA83EAEBCB6}">
      <dsp:nvSpPr>
        <dsp:cNvPr id="0" name=""/>
        <dsp:cNvSpPr/>
      </dsp:nvSpPr>
      <dsp:spPr>
        <a:xfrm>
          <a:off x="1354531" y="5560852"/>
          <a:ext cx="10721644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/>
            <a:t>Normalisasi</a:t>
          </a:r>
          <a:r>
            <a:rPr lang="en-US" sz="4300" kern="1200" dirty="0"/>
            <a:t> Data</a:t>
          </a:r>
        </a:p>
      </dsp:txBody>
      <dsp:txXfrm>
        <a:off x="1354531" y="5560852"/>
        <a:ext cx="10721644" cy="855715"/>
      </dsp:txXfrm>
    </dsp:sp>
    <dsp:sp modelId="{ABE7C7A9-4B39-40B7-A0CB-08549BD3081D}">
      <dsp:nvSpPr>
        <dsp:cNvPr id="0" name=""/>
        <dsp:cNvSpPr/>
      </dsp:nvSpPr>
      <dsp:spPr>
        <a:xfrm>
          <a:off x="819708" y="5453888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F690F-8E2A-482E-A101-447312CCEEDD}">
      <dsp:nvSpPr>
        <dsp:cNvPr id="0" name=""/>
        <dsp:cNvSpPr/>
      </dsp:nvSpPr>
      <dsp:spPr>
        <a:xfrm>
          <a:off x="650646" y="6844263"/>
          <a:ext cx="11425529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/>
            <a:t>Algoritma</a:t>
          </a:r>
          <a:r>
            <a:rPr lang="en-US" sz="4300" kern="1200" dirty="0"/>
            <a:t> </a:t>
          </a:r>
          <a:r>
            <a:rPr lang="en-US" sz="4300" kern="1200" dirty="0" err="1"/>
            <a:t>Pencarian</a:t>
          </a:r>
          <a:r>
            <a:rPr lang="en-US" sz="4300" kern="1200" dirty="0"/>
            <a:t> </a:t>
          </a:r>
          <a:r>
            <a:rPr lang="en-US" sz="4300" kern="1200" dirty="0" err="1"/>
            <a:t>Tetangga</a:t>
          </a:r>
          <a:endParaRPr lang="en-US" sz="4300" kern="1200" dirty="0"/>
        </a:p>
      </dsp:txBody>
      <dsp:txXfrm>
        <a:off x="650646" y="6844263"/>
        <a:ext cx="11425529" cy="855715"/>
      </dsp:txXfrm>
    </dsp:sp>
    <dsp:sp modelId="{E62F9ADB-B468-4A6D-B002-D24D245B43A5}">
      <dsp:nvSpPr>
        <dsp:cNvPr id="0" name=""/>
        <dsp:cNvSpPr/>
      </dsp:nvSpPr>
      <dsp:spPr>
        <a:xfrm>
          <a:off x="115823" y="6737299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F6DC1-C171-49AB-BE69-74004D7C3A23}">
      <dsp:nvSpPr>
        <dsp:cNvPr id="0" name=""/>
        <dsp:cNvSpPr/>
      </dsp:nvSpPr>
      <dsp:spPr>
        <a:xfrm>
          <a:off x="-9185064" y="-1403415"/>
          <a:ext cx="10934832" cy="10934832"/>
        </a:xfrm>
        <a:prstGeom prst="blockArc">
          <a:avLst>
            <a:gd name="adj1" fmla="val 18900000"/>
            <a:gd name="adj2" fmla="val 2700000"/>
            <a:gd name="adj3" fmla="val 198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9A09F6-B6CB-4AE4-A5F8-61ED9D4BF30F}">
      <dsp:nvSpPr>
        <dsp:cNvPr id="0" name=""/>
        <dsp:cNvSpPr/>
      </dsp:nvSpPr>
      <dsp:spPr>
        <a:xfrm>
          <a:off x="1128166" y="812800"/>
          <a:ext cx="10951667" cy="162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0320" tIns="152400" rIns="152400" bIns="1524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0" i="0" kern="1200" dirty="0" err="1"/>
            <a:t>Probabilitas</a:t>
          </a:r>
          <a:r>
            <a:rPr lang="en-US" sz="6000" b="0" i="0" kern="1200" dirty="0"/>
            <a:t> Prior</a:t>
          </a:r>
          <a:endParaRPr lang="en-US" sz="6000" kern="1200" dirty="0"/>
        </a:p>
      </dsp:txBody>
      <dsp:txXfrm>
        <a:off x="1128166" y="812800"/>
        <a:ext cx="10951667" cy="1625600"/>
      </dsp:txXfrm>
    </dsp:sp>
    <dsp:sp modelId="{9D9E9751-1C8F-4FEE-ADE6-2FC569F55947}">
      <dsp:nvSpPr>
        <dsp:cNvPr id="0" name=""/>
        <dsp:cNvSpPr/>
      </dsp:nvSpPr>
      <dsp:spPr>
        <a:xfrm>
          <a:off x="112166" y="609600"/>
          <a:ext cx="2032000" cy="20320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A4C7F2-01AA-4762-AE1A-2B974984A8C8}">
      <dsp:nvSpPr>
        <dsp:cNvPr id="0" name=""/>
        <dsp:cNvSpPr/>
      </dsp:nvSpPr>
      <dsp:spPr>
        <a:xfrm>
          <a:off x="1719072" y="3251199"/>
          <a:ext cx="10360761" cy="162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0320" tIns="152400" rIns="152400" bIns="1524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0" i="0" kern="1200" dirty="0" err="1"/>
            <a:t>Probabilitas</a:t>
          </a:r>
          <a:r>
            <a:rPr lang="en-US" sz="6000" b="0" i="0" kern="1200" dirty="0"/>
            <a:t> Likelihood</a:t>
          </a:r>
          <a:endParaRPr lang="en-US" sz="6000" kern="1200" dirty="0"/>
        </a:p>
      </dsp:txBody>
      <dsp:txXfrm>
        <a:off x="1719072" y="3251199"/>
        <a:ext cx="10360761" cy="1625600"/>
      </dsp:txXfrm>
    </dsp:sp>
    <dsp:sp modelId="{EB232130-3C94-4454-8022-A79725394A92}">
      <dsp:nvSpPr>
        <dsp:cNvPr id="0" name=""/>
        <dsp:cNvSpPr/>
      </dsp:nvSpPr>
      <dsp:spPr>
        <a:xfrm>
          <a:off x="703072" y="3047999"/>
          <a:ext cx="2032000" cy="20320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6092E2-168D-4C88-A80F-16E1796DD1D2}">
      <dsp:nvSpPr>
        <dsp:cNvPr id="0" name=""/>
        <dsp:cNvSpPr/>
      </dsp:nvSpPr>
      <dsp:spPr>
        <a:xfrm>
          <a:off x="1128166" y="5689600"/>
          <a:ext cx="10951667" cy="162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0320" tIns="165100" rIns="165100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Laplace Smoothing</a:t>
          </a:r>
          <a:endParaRPr lang="en-US" sz="6500" kern="1200" dirty="0"/>
        </a:p>
      </dsp:txBody>
      <dsp:txXfrm>
        <a:off x="1128166" y="5689600"/>
        <a:ext cx="10951667" cy="1625600"/>
      </dsp:txXfrm>
    </dsp:sp>
    <dsp:sp modelId="{BF43AA51-C246-4BE3-827B-D3F1F0CE19FC}">
      <dsp:nvSpPr>
        <dsp:cNvPr id="0" name=""/>
        <dsp:cNvSpPr/>
      </dsp:nvSpPr>
      <dsp:spPr>
        <a:xfrm>
          <a:off x="112166" y="5486400"/>
          <a:ext cx="2032000" cy="20320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F6DC1-C171-49AB-BE69-74004D7C3A23}">
      <dsp:nvSpPr>
        <dsp:cNvPr id="0" name=""/>
        <dsp:cNvSpPr/>
      </dsp:nvSpPr>
      <dsp:spPr>
        <a:xfrm>
          <a:off x="-9188722" y="-1403415"/>
          <a:ext cx="10934832" cy="10934832"/>
        </a:xfrm>
        <a:prstGeom prst="blockArc">
          <a:avLst>
            <a:gd name="adj1" fmla="val 18900000"/>
            <a:gd name="adj2" fmla="val 2700000"/>
            <a:gd name="adj3" fmla="val 198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9A09F6-B6CB-4AE4-A5F8-61ED9D4BF30F}">
      <dsp:nvSpPr>
        <dsp:cNvPr id="0" name=""/>
        <dsp:cNvSpPr/>
      </dsp:nvSpPr>
      <dsp:spPr>
        <a:xfrm>
          <a:off x="650646" y="428020"/>
          <a:ext cx="11425529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 err="1"/>
            <a:t>Kriteria</a:t>
          </a:r>
          <a:r>
            <a:rPr lang="en-US" sz="4400" kern="1200" dirty="0"/>
            <a:t> (Criterion)</a:t>
          </a:r>
        </a:p>
      </dsp:txBody>
      <dsp:txXfrm>
        <a:off x="650646" y="428020"/>
        <a:ext cx="11425529" cy="855715"/>
      </dsp:txXfrm>
    </dsp:sp>
    <dsp:sp modelId="{9D9E9751-1C8F-4FEE-ADE6-2FC569F55947}">
      <dsp:nvSpPr>
        <dsp:cNvPr id="0" name=""/>
        <dsp:cNvSpPr/>
      </dsp:nvSpPr>
      <dsp:spPr>
        <a:xfrm>
          <a:off x="115823" y="321056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49EA7-657A-489B-8C89-3E234E04C6AA}">
      <dsp:nvSpPr>
        <dsp:cNvPr id="0" name=""/>
        <dsp:cNvSpPr/>
      </dsp:nvSpPr>
      <dsp:spPr>
        <a:xfrm>
          <a:off x="1354531" y="1711431"/>
          <a:ext cx="10721644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 err="1"/>
            <a:t>Maksimal</a:t>
          </a:r>
          <a:r>
            <a:rPr lang="en-US" sz="4400" kern="1200" dirty="0"/>
            <a:t> </a:t>
          </a:r>
          <a:r>
            <a:rPr lang="en-US" sz="4400" kern="1200" dirty="0" err="1"/>
            <a:t>Kedalaman</a:t>
          </a:r>
          <a:r>
            <a:rPr lang="en-US" sz="4400" kern="1200" dirty="0"/>
            <a:t> (</a:t>
          </a:r>
          <a:r>
            <a:rPr lang="en-US" sz="4400" kern="1200" dirty="0" err="1"/>
            <a:t>max_depth</a:t>
          </a:r>
          <a:r>
            <a:rPr lang="en-US" sz="4400" kern="1200" dirty="0"/>
            <a:t>)</a:t>
          </a:r>
        </a:p>
      </dsp:txBody>
      <dsp:txXfrm>
        <a:off x="1354531" y="1711431"/>
        <a:ext cx="10721644" cy="855715"/>
      </dsp:txXfrm>
    </dsp:sp>
    <dsp:sp modelId="{E929E7FF-4B45-45DD-B083-4AED91356EB7}">
      <dsp:nvSpPr>
        <dsp:cNvPr id="0" name=""/>
        <dsp:cNvSpPr/>
      </dsp:nvSpPr>
      <dsp:spPr>
        <a:xfrm>
          <a:off x="819708" y="1604467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3218F-597F-41A4-A487-675B0C0555C0}">
      <dsp:nvSpPr>
        <dsp:cNvPr id="0" name=""/>
        <dsp:cNvSpPr/>
      </dsp:nvSpPr>
      <dsp:spPr>
        <a:xfrm>
          <a:off x="1676399" y="2994842"/>
          <a:ext cx="10399776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 err="1"/>
            <a:t>Min_samples_split</a:t>
          </a:r>
          <a:endParaRPr lang="en-US" sz="4400" kern="1200" dirty="0"/>
        </a:p>
      </dsp:txBody>
      <dsp:txXfrm>
        <a:off x="1676399" y="2994842"/>
        <a:ext cx="10399776" cy="855715"/>
      </dsp:txXfrm>
    </dsp:sp>
    <dsp:sp modelId="{EB232130-3C94-4454-8022-A79725394A92}">
      <dsp:nvSpPr>
        <dsp:cNvPr id="0" name=""/>
        <dsp:cNvSpPr/>
      </dsp:nvSpPr>
      <dsp:spPr>
        <a:xfrm>
          <a:off x="1141577" y="2887878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773EE-218E-407E-A06C-99ED69583DA6}">
      <dsp:nvSpPr>
        <dsp:cNvPr id="0" name=""/>
        <dsp:cNvSpPr/>
      </dsp:nvSpPr>
      <dsp:spPr>
        <a:xfrm>
          <a:off x="1676399" y="4277441"/>
          <a:ext cx="10399776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 err="1"/>
            <a:t>Min_samples_leaf</a:t>
          </a:r>
          <a:endParaRPr lang="en-US" sz="4400" kern="1200" dirty="0"/>
        </a:p>
      </dsp:txBody>
      <dsp:txXfrm>
        <a:off x="1676399" y="4277441"/>
        <a:ext cx="10399776" cy="855715"/>
      </dsp:txXfrm>
    </dsp:sp>
    <dsp:sp modelId="{275E41C8-57A7-4C0B-9C6C-E406C52DDEB9}">
      <dsp:nvSpPr>
        <dsp:cNvPr id="0" name=""/>
        <dsp:cNvSpPr/>
      </dsp:nvSpPr>
      <dsp:spPr>
        <a:xfrm>
          <a:off x="1141577" y="4170476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28E0B-F78B-41B1-BE83-BAA83EAEBCB6}">
      <dsp:nvSpPr>
        <dsp:cNvPr id="0" name=""/>
        <dsp:cNvSpPr/>
      </dsp:nvSpPr>
      <dsp:spPr>
        <a:xfrm>
          <a:off x="1354531" y="5560852"/>
          <a:ext cx="10721644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 err="1"/>
            <a:t>Max_features</a:t>
          </a:r>
          <a:endParaRPr lang="en-US" sz="4400" kern="1200" dirty="0"/>
        </a:p>
      </dsp:txBody>
      <dsp:txXfrm>
        <a:off x="1354531" y="5560852"/>
        <a:ext cx="10721644" cy="855715"/>
      </dsp:txXfrm>
    </dsp:sp>
    <dsp:sp modelId="{ABE7C7A9-4B39-40B7-A0CB-08549BD3081D}">
      <dsp:nvSpPr>
        <dsp:cNvPr id="0" name=""/>
        <dsp:cNvSpPr/>
      </dsp:nvSpPr>
      <dsp:spPr>
        <a:xfrm>
          <a:off x="819708" y="5453888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F690F-8E2A-482E-A101-447312CCEEDD}">
      <dsp:nvSpPr>
        <dsp:cNvPr id="0" name=""/>
        <dsp:cNvSpPr/>
      </dsp:nvSpPr>
      <dsp:spPr>
        <a:xfrm>
          <a:off x="650646" y="6844263"/>
          <a:ext cx="11425529" cy="8557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224" tIns="111760" rIns="111760" bIns="11176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Splitter</a:t>
          </a:r>
        </a:p>
      </dsp:txBody>
      <dsp:txXfrm>
        <a:off x="650646" y="6844263"/>
        <a:ext cx="11425529" cy="855715"/>
      </dsp:txXfrm>
    </dsp:sp>
    <dsp:sp modelId="{E62F9ADB-B468-4A6D-B002-D24D245B43A5}">
      <dsp:nvSpPr>
        <dsp:cNvPr id="0" name=""/>
        <dsp:cNvSpPr/>
      </dsp:nvSpPr>
      <dsp:spPr>
        <a:xfrm>
          <a:off x="115823" y="6737299"/>
          <a:ext cx="1069644" cy="10696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1C830-9C34-4941-A1BF-6C8F11E448E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DCA36-99ED-481A-ADCF-ED808D660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9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8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4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39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09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EE39-37F4-19B4-3FB5-5D9AB999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52F0B-C179-7D2C-99D1-CC0F4EFCE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1770C-A791-E849-77D0-11D12DC1A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7B76-6A9F-F51C-DF4E-19B48E173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3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6960E-23E7-2CA9-D746-1C28C043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7687F-FB4D-80EF-2355-AF4EE1493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97F28-EA19-6B90-CBC3-7FFC8D32D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D1C8D-4955-26AD-99B0-D0E911C15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95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01516-E597-362D-F241-E1A788E89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4E79E-62FE-F0A8-3EC2-C163C2B8C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8F1A6-2FFE-48F4-2573-9B03A0830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B5CD4-B8AF-8723-1738-0E5013C8F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54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81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75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29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06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18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69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55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76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45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23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06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1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61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164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40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BB72C-0A99-6FF7-30AD-2DEC5DB6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7B6DC-81FD-ECCD-24F4-16A1318BC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7FC32-7F10-6E7C-2075-037FC482A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A1AB4-AD50-BC68-ABFB-92F9D620E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56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9B44A-D44C-D991-0E8E-E40ABCA0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EB4D0-8887-E8D6-E4F4-7391818B3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DB599-1BB1-5B34-FB0B-421D7AE5C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9B1F3-FDBF-2FFE-C05D-BABA5A70C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068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626CB-4F15-BD09-6339-1D0EA67E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73850-1EC0-DF37-C617-B6034A68E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B40A1-A667-6642-FB2D-9159D263A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0EB94-DA5D-9DF4-F973-038F83E1A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564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9AACF-39F8-1365-7CBB-C98D0C904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97DE7-268E-9459-23DA-A9EF653D6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5EBAB-076F-CBBC-B3D3-927007852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16EA2-DA2D-8A94-523C-508924A88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110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AA9B3-8BA7-F6F5-F6FD-7E5A9864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EA635-93CA-2DC4-6620-FFABEC0BC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E5764-AAAA-F896-B9A6-10408960E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AB04B-8B7A-F782-E800-C32F0BADF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226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6099-72E2-2C03-0572-B4BC011C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B5682-9DE4-D496-18FF-183754018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33461-A0CF-D0E3-6A60-741A6D613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5CEE2-C189-1231-A1E5-71073BA81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702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4DBE1-7D0C-22A3-9830-E4364808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A67BC-1D99-11EB-7658-1755D2BDA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2B721-ADD5-AC9A-28C7-09A748DE3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678D1-3087-3B2F-C127-A77A89AE7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679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6FAD1-1652-F365-23CD-322A97F3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42B6D-D234-2A27-73B8-D8EF3D163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B22F5-FF88-2050-6C21-3FC5A366E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6384C-781C-6563-82BD-1233555C1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772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1581-B058-71E9-0B02-B570DBC7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98992-47EA-E296-358C-A0CC56D64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B353A-EAE2-523C-2D1D-A7A083430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2DADB-CBB2-5650-CB39-47C56889B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09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5909B-AF59-6272-550A-1B40F011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326C5-F4D1-0A69-720A-192F6076D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65049-9239-3932-0819-F38573757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08F56-E91D-5C6D-A961-69E76577D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379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3D6C-4F13-04BD-0945-D5B5E9D0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3F9B5-BE13-FBCE-2D17-833DE2BF8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8E592-FC71-97A3-060A-9ED115C2C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255AD-8369-BB96-3CED-C1C42D628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554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A322E-045C-7CD7-3F97-FBBE9CC5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B5361-34F9-CD68-867D-7FF572BC5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75B96-144A-FB70-2BBF-A7D410074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687D8-DB6D-EF48-08C2-23F8E5F4E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930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BF496-17F3-C08D-4AF5-B4F06384C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FBC51-9013-5080-B3B6-5A88EB9A0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37C9F-0596-9C86-4415-2645BB0B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1C95C-2580-BE8B-FE97-5A503435F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480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D4E7-379E-B2D1-2D00-35C0124E9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E1FEE-B2AC-1574-9990-19850B39F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07620-D522-4602-CBE2-3BEC32FE9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2EB26-4073-05EA-441C-BB1502E45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404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5B67-6535-5979-B4B7-E6F0B3C52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3917B-728F-F476-05D3-4B451908A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0A1E3-2654-300C-C96F-D236350CB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5641E-7DDE-CF51-5D67-D2BBA5A7A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804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50A4-D15D-67D7-9B6D-4960E803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C9ADE-FDD8-4FC2-7610-F2F85CED1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2EC90-E018-2F8A-49E9-5D46F7EF7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1752A-E792-D5E3-BDF8-E4D82967A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60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3D0D7-631B-C416-676E-2B965832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86081-5BEE-FDC4-C488-FF6DD0D4E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561FC-0F1A-2784-5579-7F47CF81B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4BF5-3646-77B0-99B0-F2CFB5DB4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329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408D-9D3C-B4FC-1B2B-9EF1C9D8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93351-D306-9E47-3C09-3F4A3B473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75840-559F-E440-A68D-DB962FE0C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B58EE-8319-5842-4E41-FD1215BD9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510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6466-51C7-A2D5-0B07-4BAE9B860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2833C-44FF-A200-EA43-81ED08031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174D1-FAF1-3EE6-16A8-1AE4355EE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D48C4-C414-F4F0-9B68-8D19A9A46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694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6E100-7A2D-A31A-C25E-30630328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BB92E-8559-C403-F453-F7C36D7A6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85B8B-8488-39E8-50EA-3EF8C2E7B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7EEB5-4FEA-9C66-AC74-D3626DCC8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904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08B6F-6D2C-94AC-1F74-EC46D329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46208-A391-632B-1146-8D2256BD9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BE708-41CD-C000-C2D4-757E3A74A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62B9E-C2FD-B78D-DEAE-1EED65EC0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944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61961-034D-B973-5E1E-A34699EDD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12EBC-953E-F06D-0D80-8899837D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C27EC-1A12-C2BD-8919-B191796DD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B8A3D-45D1-F703-AD45-AD5BF577F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48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E4EA-68C5-8CE8-1EC5-FAE27DFB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25B9B-706F-6380-F524-0112426DF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F6C6C-2DAE-63D8-E5C3-0EC5E23D0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63CC0-45EC-6483-9FBD-7C74EF441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239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643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B249-B372-941D-A706-07D1008B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F41C2-6401-0149-1186-D124D89E2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4B9D3-450D-C16E-CDB8-13E90CC04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4A0B5-EE7E-568D-5AAF-0F54E9E66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111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843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608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40D3B-AA92-E728-AE6F-D04E37EE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EE15C-AABF-A315-ED8A-6E379CDE6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48197-2E53-8EF3-F961-3AED9EA51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32271-89A8-9480-5252-B4C6E4D6D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481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39862-6223-6177-982B-7A46A616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9441A-9498-F386-79DC-651116430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0DA54-850C-C434-99B1-355BDF9B3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5579A-3424-4CB4-CA38-FC60D9717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1216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FF4E-831A-2799-B9E5-DE4D2008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5C226-DD4A-3BF3-2E44-643D78E3E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481DA-0164-FABB-09E0-C07F9AC65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F36E2-A5FE-473F-2E5C-B13532FB8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993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cikit-learn.org/stable/modules/naive_bayes.html" TargetMode="External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2.jpe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jpeg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jpeg"/><Relationship Id="rId4" Type="http://schemas.openxmlformats.org/officeDocument/2006/relationships/image" Target="../media/image6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ltut.com/k-fold-cross-validation-in-machine-learning-how-does-k-fold-work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3969"/>
            <a:ext cx="18288000" cy="11240970"/>
          </a:xfrm>
          <a:custGeom>
            <a:avLst/>
            <a:gdLst/>
            <a:ahLst/>
            <a:cxnLst/>
            <a:rect l="l" t="t" r="r" b="b"/>
            <a:pathLst>
              <a:path w="18288000" h="12194939">
                <a:moveTo>
                  <a:pt x="0" y="0"/>
                </a:moveTo>
                <a:lnTo>
                  <a:pt x="18288000" y="0"/>
                </a:lnTo>
                <a:lnTo>
                  <a:pt x="18288000" y="12194940"/>
                </a:lnTo>
                <a:lnTo>
                  <a:pt x="0" y="121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>
                <a:alpha val="7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05748" y="323497"/>
            <a:ext cx="1690679" cy="1410406"/>
          </a:xfrm>
          <a:custGeom>
            <a:avLst/>
            <a:gdLst/>
            <a:ahLst/>
            <a:cxnLst/>
            <a:rect l="l" t="t" r="r" b="b"/>
            <a:pathLst>
              <a:path w="1690679" h="1410406">
                <a:moveTo>
                  <a:pt x="0" y="0"/>
                </a:moveTo>
                <a:lnTo>
                  <a:pt x="1690679" y="0"/>
                </a:lnTo>
                <a:lnTo>
                  <a:pt x="1690679" y="1410406"/>
                </a:lnTo>
                <a:lnTo>
                  <a:pt x="0" y="141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9831614"/>
            <a:ext cx="18288000" cy="455385"/>
            <a:chOff x="0" y="0"/>
            <a:chExt cx="3793620" cy="2880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93620" cy="288059"/>
            </a:xfrm>
            <a:custGeom>
              <a:avLst/>
              <a:gdLst/>
              <a:ahLst/>
              <a:cxnLst/>
              <a:rect l="l" t="t" r="r" b="b"/>
              <a:pathLst>
                <a:path w="3793620" h="288059">
                  <a:moveTo>
                    <a:pt x="0" y="0"/>
                  </a:moveTo>
                  <a:lnTo>
                    <a:pt x="3793620" y="0"/>
                  </a:lnTo>
                  <a:lnTo>
                    <a:pt x="3793620" y="288059"/>
                  </a:lnTo>
                  <a:lnTo>
                    <a:pt x="0" y="288059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93620" cy="326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96427" y="395391"/>
            <a:ext cx="154333" cy="1266619"/>
          </a:xfrm>
          <a:custGeom>
            <a:avLst/>
            <a:gdLst/>
            <a:ahLst/>
            <a:cxnLst/>
            <a:rect l="l" t="t" r="r" b="b"/>
            <a:pathLst>
              <a:path w="154333" h="1266619">
                <a:moveTo>
                  <a:pt x="0" y="0"/>
                </a:moveTo>
                <a:lnTo>
                  <a:pt x="154334" y="0"/>
                </a:lnTo>
                <a:lnTo>
                  <a:pt x="154334" y="1266618"/>
                </a:lnTo>
                <a:lnTo>
                  <a:pt x="0" y="1266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801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246411" y="2595229"/>
            <a:ext cx="13795173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spc="63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Introduction to Classification</a:t>
            </a:r>
          </a:p>
          <a:p>
            <a:pPr algn="ctr"/>
            <a:r>
              <a:rPr lang="en-US" sz="6000" b="1" spc="63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0434" y="4694049"/>
            <a:ext cx="8807132" cy="194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Week 5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D4 Robotics Engineering Study Program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Department of Electrical Engineering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 err="1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Negeri Batam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7839" y="404916"/>
            <a:ext cx="2167395" cy="12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</a:p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Negeri Batam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0593" y="7475884"/>
            <a:ext cx="9753969" cy="43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Machine Learning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897880" y="7082061"/>
            <a:ext cx="649224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Machine Learning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7751403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5295601" y="6143370"/>
            <a:ext cx="7643911" cy="3948650"/>
          </a:xfrm>
          <a:custGeom>
            <a:avLst/>
            <a:gdLst/>
            <a:ahLst/>
            <a:cxnLst/>
            <a:rect l="l" t="t" r="r" b="b"/>
            <a:pathLst>
              <a:path w="7643911" h="3948650">
                <a:moveTo>
                  <a:pt x="0" y="0"/>
                </a:moveTo>
                <a:lnTo>
                  <a:pt x="7643912" y="0"/>
                </a:lnTo>
                <a:lnTo>
                  <a:pt x="7643912" y="3948650"/>
                </a:lnTo>
                <a:lnTo>
                  <a:pt x="0" y="3948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152286" y="1328699"/>
            <a:ext cx="9983428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Supervised Learning?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417" y="3536335"/>
            <a:ext cx="15591442" cy="2151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7"/>
              </a:lnSpc>
            </a:pP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Dalam Supervised Learning,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mesin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dilatih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menggunakan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berlabel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yang juga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dikenal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sebagai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pelatihan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memprediksi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hasil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Tujuannya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adalah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membangun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model yang dapat belajar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dari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berlabel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ini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membuat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prediksi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atau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klasifikasi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pada data baru yang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belum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pernah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dilihat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sebelumnya.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Classification?</a:t>
            </a:r>
          </a:p>
        </p:txBody>
      </p:sp>
      <p:pic>
        <p:nvPicPr>
          <p:cNvPr id="12" name="Picture 2" descr="Image result for apel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053087"/>
            <a:ext cx="2819398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Image result for JERU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5186156"/>
            <a:ext cx="2693724" cy="269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mage result for semangk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680" y="5090050"/>
            <a:ext cx="2737243" cy="283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Image result for mel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286" y="5157155"/>
            <a:ext cx="3450274" cy="253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 9"/>
          <p:cNvSpPr/>
          <p:nvPr/>
        </p:nvSpPr>
        <p:spPr>
          <a:xfrm>
            <a:off x="14592123" y="615014"/>
            <a:ext cx="1967960" cy="1826684"/>
          </a:xfrm>
          <a:custGeom>
            <a:avLst/>
            <a:gdLst/>
            <a:ahLst/>
            <a:cxnLst/>
            <a:rect l="l" t="t" r="r" b="b"/>
            <a:pathLst>
              <a:path w="7643911" h="3948650">
                <a:moveTo>
                  <a:pt x="0" y="0"/>
                </a:moveTo>
                <a:lnTo>
                  <a:pt x="7643912" y="0"/>
                </a:lnTo>
                <a:lnTo>
                  <a:pt x="7643912" y="3948650"/>
                </a:lnTo>
                <a:lnTo>
                  <a:pt x="0" y="39486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/>
            <a:stretch>
              <a:fillRect r="-98626" b="-10540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5515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759C0-9F23-7F82-2202-05FF4835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18815BE-4B81-8689-6515-9FA549073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6286" y="3086100"/>
            <a:ext cx="7385750" cy="5878835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E777B27F-7CEE-4937-7CE3-9E19C5EE5F4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22897F2-4923-6655-2D63-1DC58D8714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076409-D2C7-DB38-61C2-EE19636894D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7ABB9E0-62E1-D74C-4CD8-6DB124E5640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D29A533-7140-FA2F-509E-E773735442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5B375C8-620C-0645-7D10-3290B58D44A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2E947AD-BF50-5273-DD7B-6BD00BC63C8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5D4D8A-4672-5231-9741-6E5D8A1D750B}"/>
              </a:ext>
            </a:extLst>
          </p:cNvPr>
          <p:cNvSpPr txBox="1"/>
          <p:nvPr/>
        </p:nvSpPr>
        <p:spPr>
          <a:xfrm>
            <a:off x="1111216" y="1232844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887074-D71C-00E2-4F86-0AF6767121D7}"/>
              </a:ext>
            </a:extLst>
          </p:cNvPr>
          <p:cNvSpPr txBox="1"/>
          <p:nvPr/>
        </p:nvSpPr>
        <p:spPr>
          <a:xfrm>
            <a:off x="1981200" y="1965619"/>
            <a:ext cx="16666600" cy="7129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</a:t>
            </a:r>
            <a:r>
              <a:rPr lang="sv-SE" sz="2800" dirty="0">
                <a:latin typeface="Montserrat" panose="020B0604020202020204" charset="0"/>
              </a:rPr>
              <a:t>Model memprediksi kategori atau label diskrit dari input yang diberikan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Output : </a:t>
            </a: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Categorical </a:t>
            </a:r>
            <a:r>
              <a:rPr lang="en-US" sz="2800" dirty="0" err="1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atau</a:t>
            </a: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 discrete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Model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Decision Tree,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Naïve Bayes,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Random Forest,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Support Vector Machine (SVM)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Model evaluation: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Accuracy,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Precision,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Recall, F1- Score</a:t>
            </a:r>
          </a:p>
        </p:txBody>
      </p:sp>
    </p:spTree>
    <p:extLst>
      <p:ext uri="{BB962C8B-B14F-4D97-AF65-F5344CB8AC3E}">
        <p14:creationId xmlns:p14="http://schemas.microsoft.com/office/powerpoint/2010/main" val="1105852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11111E-6 L 0.275 -0.2737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-136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AC208-DEAB-0A23-89AC-83D9D19E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BD22A3-2850-5EEB-73DF-4FEACA04FF23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06FB6A-1DC3-608D-08BC-171EACD514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0CB1FD2-68DE-A868-1BD0-3B207BFDF63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4144B89-FED3-5B09-5FAD-1EFA8F3AFBC3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6A30EEC-F570-6F1A-C9E3-5DFEC4CA22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1A33302-0AF7-F27C-C2C5-D5244F06A4D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AD522EC-A6C8-9D09-7D6A-D4035D6DA55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594AEC-A91E-0615-E07B-C5E79CD06BBB}"/>
              </a:ext>
            </a:extLst>
          </p:cNvPr>
          <p:cNvSpPr txBox="1"/>
          <p:nvPr/>
        </p:nvSpPr>
        <p:spPr>
          <a:xfrm>
            <a:off x="751416" y="1521577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F3F2F3-756C-4E3D-D40C-BC91651494D6}"/>
              </a:ext>
            </a:extLst>
          </p:cNvPr>
          <p:cNvSpPr txBox="1"/>
          <p:nvPr/>
        </p:nvSpPr>
        <p:spPr>
          <a:xfrm>
            <a:off x="1644846" y="2493462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The model learns from labeled data to predict new outputs.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5217E3-AD96-FF24-FE51-5D6A9B66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04"/>
          <a:stretch/>
        </p:blipFill>
        <p:spPr>
          <a:xfrm>
            <a:off x="55662" y="4217917"/>
            <a:ext cx="18013514" cy="32574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1242F3-D334-9053-F582-4B656E639B75}"/>
              </a:ext>
            </a:extLst>
          </p:cNvPr>
          <p:cNvSpPr txBox="1"/>
          <p:nvPr/>
        </p:nvSpPr>
        <p:spPr>
          <a:xfrm>
            <a:off x="1790700" y="3390900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B</a:t>
            </a:r>
            <a:r>
              <a:rPr lang="en-US" sz="3200" b="1" i="0" dirty="0">
                <a:solidFill>
                  <a:srgbClr val="1F2328"/>
                </a:solidFill>
                <a:effectLst/>
                <a:latin typeface="Montserrat" panose="00000500000000000000" pitchFamily="2" charset="0"/>
              </a:rPr>
              <a:t>ank Customer Churn Prediction</a:t>
            </a:r>
          </a:p>
        </p:txBody>
      </p:sp>
    </p:spTree>
    <p:extLst>
      <p:ext uri="{BB962C8B-B14F-4D97-AF65-F5344CB8AC3E}">
        <p14:creationId xmlns:p14="http://schemas.microsoft.com/office/powerpoint/2010/main" val="231224740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4CEF-B362-D68C-151A-D2FD39B2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CA51E7-4694-4843-5784-DBE6D77139C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FB4AFE-9C0E-0F8A-991E-56D9ADEBFF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E056183-A56A-A689-EFA3-41BD14905EB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1AF8758-FA85-2BD4-75C4-C279CEBDDB8B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04B956D-FFB9-25B1-A303-5BE55FB79E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65E582D-1AC1-ACD7-AAA8-875850E09E4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20F6E23-330E-B6C5-F0B0-79CADD3514B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1F6C5FC-52EE-A925-A6A8-3F3B9E168C6E}"/>
              </a:ext>
            </a:extLst>
          </p:cNvPr>
          <p:cNvSpPr txBox="1"/>
          <p:nvPr/>
        </p:nvSpPr>
        <p:spPr>
          <a:xfrm>
            <a:off x="751416" y="1521577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Classification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87DD9-C4AA-B01F-A0D3-5299FF830795}"/>
              </a:ext>
            </a:extLst>
          </p:cNvPr>
          <p:cNvSpPr txBox="1"/>
          <p:nvPr/>
        </p:nvSpPr>
        <p:spPr>
          <a:xfrm>
            <a:off x="1644846" y="2493462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The model learns from labeled data to predict new outputs.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7D498E-2E4E-71FE-9503-24219EDE0447}"/>
              </a:ext>
            </a:extLst>
          </p:cNvPr>
          <p:cNvSpPr txBox="1"/>
          <p:nvPr/>
        </p:nvSpPr>
        <p:spPr>
          <a:xfrm>
            <a:off x="1790700" y="3390900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Anemia Disease Prediction</a:t>
            </a:r>
            <a:endParaRPr lang="en-US" sz="3200" b="1" i="0" dirty="0">
              <a:solidFill>
                <a:srgbClr val="1F2328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7CC22D-27E9-4B44-4A1B-7F5E406A3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674" y="4288338"/>
            <a:ext cx="15364652" cy="400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872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1416" y="1565597"/>
            <a:ext cx="939296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51"/>
              </a:lnSpc>
              <a:spcBef>
                <a:spcPct val="0"/>
              </a:spcBef>
            </a:pPr>
            <a:r>
              <a:rPr lang="en-US" sz="5792" b="1" spc="19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Types of Classification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33600" y="2902029"/>
            <a:ext cx="12719944" cy="5819374"/>
            <a:chOff x="0" y="0"/>
            <a:chExt cx="16959925" cy="77591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59925" cy="7759166"/>
            </a:xfrm>
            <a:custGeom>
              <a:avLst/>
              <a:gdLst/>
              <a:ahLst/>
              <a:cxnLst/>
              <a:rect l="l" t="t" r="r" b="b"/>
              <a:pathLst>
                <a:path w="16959925" h="7759166">
                  <a:moveTo>
                    <a:pt x="0" y="0"/>
                  </a:moveTo>
                  <a:lnTo>
                    <a:pt x="16959925" y="0"/>
                  </a:lnTo>
                  <a:lnTo>
                    <a:pt x="16959925" y="7759166"/>
                  </a:lnTo>
                  <a:lnTo>
                    <a:pt x="0" y="7759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8404" y="7293190"/>
              <a:ext cx="8061137" cy="458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993"/>
                </a:lnSpc>
                <a:spcBef>
                  <a:spcPct val="0"/>
                </a:spcBef>
              </a:pPr>
              <a:r>
                <a:rPr lang="en-ID" b="0" i="0" dirty="0">
                  <a:solidFill>
                    <a:srgbClr val="074364"/>
                  </a:solidFill>
                  <a:effectLst/>
                  <a:latin typeface="Raleway" pitchFamily="2" charset="0"/>
                </a:rPr>
                <a:t>Image Source </a:t>
              </a:r>
              <a:r>
                <a:rPr lang="en-US" dirty="0">
                  <a:solidFill>
                    <a:srgbClr val="08377C"/>
                  </a:solidFill>
                  <a:latin typeface="Raleway" pitchFamily="2" charset="0"/>
                  <a:ea typeface="Montserrat Classic"/>
                  <a:cs typeface="Montserrat Classic"/>
                  <a:sym typeface="Montserrat Classic"/>
                </a:rPr>
                <a:t>: </a:t>
              </a:r>
              <a:r>
                <a:rPr lang="en-US" u="sng" dirty="0">
                  <a:solidFill>
                    <a:srgbClr val="08377C"/>
                  </a:solidFill>
                  <a:latin typeface="Raleway" pitchFamily="2" charset="0"/>
                  <a:ea typeface="Montserrat Classic"/>
                  <a:cs typeface="Montserrat Classic"/>
                  <a:sym typeface="Montserrat Classic"/>
                </a:rPr>
                <a:t>https://www.dicoding.com/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455878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902264" y="3609602"/>
            <a:ext cx="5813600" cy="4461408"/>
          </a:xfrm>
          <a:custGeom>
            <a:avLst/>
            <a:gdLst/>
            <a:ahLst/>
            <a:cxnLst/>
            <a:rect l="l" t="t" r="r" b="b"/>
            <a:pathLst>
              <a:path w="5813600" h="4461408">
                <a:moveTo>
                  <a:pt x="0" y="0"/>
                </a:moveTo>
                <a:lnTo>
                  <a:pt x="5813600" y="0"/>
                </a:lnTo>
                <a:lnTo>
                  <a:pt x="5813600" y="4461408"/>
                </a:lnTo>
                <a:lnTo>
                  <a:pt x="0" y="4461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002" t="-23446" r="-27292" b="-6065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418771" y="2967073"/>
            <a:ext cx="8164863" cy="5746466"/>
          </a:xfrm>
          <a:custGeom>
            <a:avLst/>
            <a:gdLst/>
            <a:ahLst/>
            <a:cxnLst/>
            <a:rect l="l" t="t" r="r" b="b"/>
            <a:pathLst>
              <a:path w="8164863" h="5746466">
                <a:moveTo>
                  <a:pt x="0" y="0"/>
                </a:moveTo>
                <a:lnTo>
                  <a:pt x="8164863" y="0"/>
                </a:lnTo>
                <a:lnTo>
                  <a:pt x="8164863" y="5746466"/>
                </a:lnTo>
                <a:lnTo>
                  <a:pt x="0" y="5746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033" t="-6820" r="-21454" b="-705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6" y="1521577"/>
            <a:ext cx="11895607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Binary Classification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AECD67BB-3723-2AF2-ADE3-4F7C643B0BBA}"/>
              </a:ext>
            </a:extLst>
          </p:cNvPr>
          <p:cNvSpPr txBox="1"/>
          <p:nvPr/>
        </p:nvSpPr>
        <p:spPr>
          <a:xfrm>
            <a:off x="9094267" y="8541665"/>
            <a:ext cx="6045853" cy="343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3"/>
              </a:lnSpc>
              <a:spcBef>
                <a:spcPct val="0"/>
              </a:spcBef>
            </a:pPr>
            <a:r>
              <a:rPr lang="en-ID" b="0" i="0" dirty="0">
                <a:solidFill>
                  <a:srgbClr val="074364"/>
                </a:solidFill>
                <a:effectLst/>
                <a:latin typeface="Raleway" pitchFamily="2" charset="0"/>
              </a:rPr>
              <a:t>Image Source </a:t>
            </a:r>
            <a:r>
              <a:rPr lang="en-US" dirty="0">
                <a:solidFill>
                  <a:srgbClr val="08377C"/>
                </a:solidFill>
                <a:latin typeface="Raleway" pitchFamily="2" charset="0"/>
                <a:ea typeface="Montserrat Classic"/>
                <a:cs typeface="Montserrat Classic"/>
                <a:sym typeface="Montserrat Classic"/>
              </a:rPr>
              <a:t>: </a:t>
            </a:r>
            <a:r>
              <a:rPr lang="en-US" u="sng" dirty="0">
                <a:solidFill>
                  <a:srgbClr val="08377C"/>
                </a:solidFill>
                <a:latin typeface="Raleway" pitchFamily="2" charset="0"/>
                <a:ea typeface="Montserrat Classic"/>
                <a:cs typeface="Montserrat Classic"/>
                <a:sym typeface="Montserrat Classic"/>
              </a:rPr>
              <a:t>https://www.dicoding.com/ </a:t>
            </a:r>
          </a:p>
        </p:txBody>
      </p:sp>
    </p:spTree>
    <p:extLst>
      <p:ext uri="{BB962C8B-B14F-4D97-AF65-F5344CB8AC3E}">
        <p14:creationId xmlns:p14="http://schemas.microsoft.com/office/powerpoint/2010/main" val="23440185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6" y="1521577"/>
            <a:ext cx="11895607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Multiclass Classification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4487D24-80AC-05AA-9C0D-9AE466CFD3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0" t="22445" r="21945"/>
          <a:stretch/>
        </p:blipFill>
        <p:spPr bwMode="auto">
          <a:xfrm>
            <a:off x="1277238" y="2920031"/>
            <a:ext cx="5816576" cy="473807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2">
            <a:extLst>
              <a:ext uri="{FF2B5EF4-FFF2-40B4-BE49-F238E27FC236}">
                <a16:creationId xmlns:a16="http://schemas.microsoft.com/office/drawing/2014/main" id="{419904CD-F321-4C74-08E7-4EE6E97851E5}"/>
              </a:ext>
            </a:extLst>
          </p:cNvPr>
          <p:cNvSpPr txBox="1"/>
          <p:nvPr/>
        </p:nvSpPr>
        <p:spPr>
          <a:xfrm>
            <a:off x="8001000" y="7486227"/>
            <a:ext cx="6045853" cy="343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3"/>
              </a:lnSpc>
              <a:spcBef>
                <a:spcPct val="0"/>
              </a:spcBef>
            </a:pPr>
            <a:r>
              <a:rPr lang="en-ID" b="0" i="0" dirty="0">
                <a:solidFill>
                  <a:srgbClr val="074364"/>
                </a:solidFill>
                <a:effectLst/>
                <a:latin typeface="Raleway" pitchFamily="2" charset="0"/>
              </a:rPr>
              <a:t>Image Source </a:t>
            </a:r>
            <a:r>
              <a:rPr lang="en-US" dirty="0">
                <a:solidFill>
                  <a:srgbClr val="08377C"/>
                </a:solidFill>
                <a:latin typeface="Raleway" pitchFamily="2" charset="0"/>
                <a:ea typeface="Montserrat Classic"/>
                <a:cs typeface="Montserrat Classic"/>
                <a:sym typeface="Montserrat Classic"/>
              </a:rPr>
              <a:t>: </a:t>
            </a:r>
            <a:r>
              <a:rPr lang="en-US" u="sng" dirty="0">
                <a:solidFill>
                  <a:srgbClr val="08377C"/>
                </a:solidFill>
                <a:latin typeface="Raleway" pitchFamily="2" charset="0"/>
                <a:ea typeface="Montserrat Classic"/>
                <a:cs typeface="Montserrat Classic"/>
                <a:sym typeface="Montserrat Classic"/>
              </a:rPr>
              <a:t>https://www.dicoding.com/ 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0222E58F-025D-5F80-3B39-97A7FD224A8F}"/>
              </a:ext>
            </a:extLst>
          </p:cNvPr>
          <p:cNvSpPr/>
          <p:nvPr/>
        </p:nvSpPr>
        <p:spPr>
          <a:xfrm>
            <a:off x="8382000" y="337142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16959925" h="7759166">
                <a:moveTo>
                  <a:pt x="0" y="0"/>
                </a:moveTo>
                <a:lnTo>
                  <a:pt x="16959925" y="0"/>
                </a:lnTo>
                <a:lnTo>
                  <a:pt x="16959925" y="7759166"/>
                </a:lnTo>
                <a:lnTo>
                  <a:pt x="0" y="7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6193" t="-25644" r="-128679" b="-13060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7309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277236" y="2629501"/>
            <a:ext cx="15591442" cy="408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556" spc="76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Multilabel classification is a method that allows data to be categorized into more than one label or category at a time. Unlike multiclass classification, which limits data to only one category from several options, multilabel classification provides greater flexibility by allowing a single data sample to have multiple labels.</a:t>
            </a:r>
          </a:p>
          <a:p>
            <a:pPr algn="l">
              <a:lnSpc>
                <a:spcPts val="4116"/>
              </a:lnSpc>
            </a:pPr>
            <a:endParaRPr lang="en-US" sz="2556" spc="76" dirty="0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16"/>
              </a:lnSpc>
            </a:pPr>
            <a:r>
              <a:rPr lang="en-US" sz="2556" spc="76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</a:p>
          <a:p>
            <a:pPr algn="l">
              <a:lnSpc>
                <a:spcPts val="4116"/>
              </a:lnSpc>
            </a:pPr>
            <a:r>
              <a:rPr lang="en-US" sz="2556" b="1" spc="76" dirty="0">
                <a:solidFill>
                  <a:srgbClr val="08377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Tagging a news article</a:t>
            </a:r>
          </a:p>
          <a:p>
            <a:pPr marL="0" lvl="0" indent="0" algn="l">
              <a:lnSpc>
                <a:spcPts val="4116"/>
              </a:lnSpc>
            </a:pPr>
            <a:endParaRPr lang="en-US" sz="2556" b="1" spc="76" dirty="0">
              <a:solidFill>
                <a:srgbClr val="08377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7120183" y="6232014"/>
            <a:ext cx="3151262" cy="3136744"/>
          </a:xfrm>
          <a:custGeom>
            <a:avLst/>
            <a:gdLst/>
            <a:ahLst/>
            <a:cxnLst/>
            <a:rect l="l" t="t" r="r" b="b"/>
            <a:pathLst>
              <a:path w="3151262" h="3136744">
                <a:moveTo>
                  <a:pt x="0" y="0"/>
                </a:moveTo>
                <a:lnTo>
                  <a:pt x="3151262" y="0"/>
                </a:lnTo>
                <a:lnTo>
                  <a:pt x="3151262" y="3136745"/>
                </a:lnTo>
                <a:lnTo>
                  <a:pt x="0" y="3136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179842" y="6921791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51416" y="1521577"/>
            <a:ext cx="11895607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Multilabel Classification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9920" y="7081154"/>
            <a:ext cx="2099456" cy="485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031" lvl="1" indent="-276016" algn="l">
              <a:lnSpc>
                <a:spcPts val="4116"/>
              </a:lnSpc>
              <a:buFont typeface="Arial"/>
              <a:buChar char="•"/>
            </a:pPr>
            <a:r>
              <a:rPr lang="en-US" sz="2556" spc="7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Politics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09920" y="7583383"/>
            <a:ext cx="2271877" cy="485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031" lvl="1" indent="-276016" algn="l">
              <a:lnSpc>
                <a:spcPts val="4116"/>
              </a:lnSpc>
              <a:buFont typeface="Arial"/>
              <a:buChar char="•"/>
            </a:pPr>
            <a:r>
              <a:rPr lang="en-US" sz="2556" spc="76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Economy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09920" y="8073585"/>
            <a:ext cx="3133985" cy="485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031" lvl="1" indent="-276016" algn="l">
              <a:lnSpc>
                <a:spcPts val="4116"/>
              </a:lnSpc>
              <a:buFont typeface="Arial"/>
              <a:buChar char="•"/>
            </a:pPr>
            <a:r>
              <a:rPr lang="en-US" sz="2556" spc="76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CDC917F-9C56-FEFE-BD45-D7FE675BB470}"/>
              </a:ext>
            </a:extLst>
          </p:cNvPr>
          <p:cNvSpPr/>
          <p:nvPr/>
        </p:nvSpPr>
        <p:spPr>
          <a:xfrm>
            <a:off x="5470333" y="7510683"/>
            <a:ext cx="1575483" cy="879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1E24674-3B3E-3862-AD9F-CC20D8C20B1F}"/>
              </a:ext>
            </a:extLst>
          </p:cNvPr>
          <p:cNvSpPr/>
          <p:nvPr/>
        </p:nvSpPr>
        <p:spPr>
          <a:xfrm>
            <a:off x="10365543" y="7510683"/>
            <a:ext cx="1575483" cy="879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FA2F67-34E0-89AE-80F8-7F7455474CFE}"/>
              </a:ext>
            </a:extLst>
          </p:cNvPr>
          <p:cNvSpPr txBox="1"/>
          <p:nvPr/>
        </p:nvSpPr>
        <p:spPr>
          <a:xfrm>
            <a:off x="3179842" y="9184092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ontserrat" panose="00000500000000000000" pitchFamily="2" charset="0"/>
              </a:rPr>
              <a:t>News Article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57B1FF-4174-EDED-1289-B6C781ABA3A5}"/>
              </a:ext>
            </a:extLst>
          </p:cNvPr>
          <p:cNvSpPr txBox="1"/>
          <p:nvPr/>
        </p:nvSpPr>
        <p:spPr>
          <a:xfrm>
            <a:off x="12514690" y="8979191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ontserrat" panose="00000500000000000000" pitchFamily="2" charset="0"/>
              </a:rPr>
              <a:t>Tag</a:t>
            </a:r>
          </a:p>
        </p:txBody>
      </p:sp>
    </p:spTree>
    <p:extLst>
      <p:ext uri="{BB962C8B-B14F-4D97-AF65-F5344CB8AC3E}">
        <p14:creationId xmlns:p14="http://schemas.microsoft.com/office/powerpoint/2010/main" val="316697801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88229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 Classification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Machine Learning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829602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1416" y="1565597"/>
            <a:ext cx="1326938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 Classification</a:t>
            </a:r>
          </a:p>
        </p:txBody>
      </p:sp>
      <p:sp>
        <p:nvSpPr>
          <p:cNvPr id="6" name="AutoShape 2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4229100"/>
            <a:ext cx="7141308" cy="3276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57700"/>
            <a:ext cx="5735778" cy="2779452"/>
          </a:xfrm>
          <a:prstGeom prst="rect">
            <a:avLst/>
          </a:prstGeom>
        </p:spPr>
      </p:pic>
      <p:sp>
        <p:nvSpPr>
          <p:cNvPr id="16" name="TextBox 12">
            <a:extLst>
              <a:ext uri="{FF2B5EF4-FFF2-40B4-BE49-F238E27FC236}">
                <a16:creationId xmlns:a16="http://schemas.microsoft.com/office/drawing/2014/main" id="{74594AEC-A91E-0615-E07B-C5E79CD06BBB}"/>
              </a:ext>
            </a:extLst>
          </p:cNvPr>
          <p:cNvSpPr txBox="1"/>
          <p:nvPr/>
        </p:nvSpPr>
        <p:spPr>
          <a:xfrm>
            <a:off x="293190" y="3438626"/>
            <a:ext cx="275481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32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74594AEC-A91E-0615-E07B-C5E79CD06BBB}"/>
              </a:ext>
            </a:extLst>
          </p:cNvPr>
          <p:cNvSpPr txBox="1"/>
          <p:nvPr/>
        </p:nvSpPr>
        <p:spPr>
          <a:xfrm>
            <a:off x="9296400" y="3438626"/>
            <a:ext cx="51816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32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Decision Tree</a:t>
            </a:r>
          </a:p>
        </p:txBody>
      </p:sp>
    </p:spTree>
    <p:extLst>
      <p:ext uri="{BB962C8B-B14F-4D97-AF65-F5344CB8AC3E}">
        <p14:creationId xmlns:p14="http://schemas.microsoft.com/office/powerpoint/2010/main" val="206538656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1416" y="1565597"/>
            <a:ext cx="1326938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 Classification</a:t>
            </a:r>
          </a:p>
        </p:txBody>
      </p:sp>
      <p:sp>
        <p:nvSpPr>
          <p:cNvPr id="6" name="AutoShape 2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594AEC-A91E-0615-E07B-C5E79CD06BBB}"/>
              </a:ext>
            </a:extLst>
          </p:cNvPr>
          <p:cNvSpPr txBox="1"/>
          <p:nvPr/>
        </p:nvSpPr>
        <p:spPr>
          <a:xfrm>
            <a:off x="293190" y="3438626"/>
            <a:ext cx="702201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32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Random Forest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74594AEC-A91E-0615-E07B-C5E79CD06BBB}"/>
              </a:ext>
            </a:extLst>
          </p:cNvPr>
          <p:cNvSpPr txBox="1"/>
          <p:nvPr/>
        </p:nvSpPr>
        <p:spPr>
          <a:xfrm>
            <a:off x="8534400" y="3438626"/>
            <a:ext cx="8596045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32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4. Support Vector Machine (SVM)</a:t>
            </a:r>
          </a:p>
        </p:txBody>
      </p:sp>
      <p:pic>
        <p:nvPicPr>
          <p:cNvPr id="4098" name="Picture 2" descr="10 Must-Know Models for ML Beginners: Random Forest | by Dagang Wei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06" y="4114318"/>
            <a:ext cx="6753857" cy="415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support vector mach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4304188"/>
            <a:ext cx="5322972" cy="377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531072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1416" y="1565597"/>
            <a:ext cx="1326938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 Classification</a:t>
            </a:r>
          </a:p>
        </p:txBody>
      </p:sp>
      <p:sp>
        <p:nvSpPr>
          <p:cNvPr id="6" name="AutoShape 2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Depiction of the working of kNN algorithm. | Download Scientific Diagr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594AEC-A91E-0615-E07B-C5E79CD06BBB}"/>
              </a:ext>
            </a:extLst>
          </p:cNvPr>
          <p:cNvSpPr txBox="1"/>
          <p:nvPr/>
        </p:nvSpPr>
        <p:spPr>
          <a:xfrm>
            <a:off x="293190" y="3438626"/>
            <a:ext cx="7022010" cy="589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32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5. Naïve Bayes</a:t>
            </a:r>
          </a:p>
        </p:txBody>
      </p:sp>
      <p:pic>
        <p:nvPicPr>
          <p:cNvPr id="5122" name="Picture 2" descr="What is the Naive Bayes Algorithm? | Data Baseca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29" y="4305300"/>
            <a:ext cx="5352270" cy="370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586931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88229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KNN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Classification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1736235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KNN?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86100"/>
            <a:ext cx="7971693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52599" y="7353300"/>
            <a:ext cx="149618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Montserrat" panose="020B0604020202020204" charset="0"/>
              </a:rPr>
              <a:t>KNN (K-Nearest Neighbor) </a:t>
            </a:r>
            <a:r>
              <a:rPr lang="en-US" sz="2400" dirty="0" err="1">
                <a:latin typeface="Montserrat" panose="020B0604020202020204" charset="0"/>
              </a:rPr>
              <a:t>adalah</a:t>
            </a:r>
            <a:r>
              <a:rPr lang="en-US" sz="2400" dirty="0">
                <a:latin typeface="Montserrat" panose="020B0604020202020204" charset="0"/>
              </a:rPr>
              <a:t> </a:t>
            </a:r>
            <a:r>
              <a:rPr lang="en-US" sz="2400" dirty="0" err="1">
                <a:latin typeface="Montserrat" panose="020B0604020202020204" charset="0"/>
              </a:rPr>
              <a:t>salah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satu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algoritma</a:t>
            </a:r>
            <a:r>
              <a:rPr lang="en-US" sz="2400" b="1" dirty="0">
                <a:latin typeface="Montserrat" panose="020B0604020202020204" charset="0"/>
              </a:rPr>
              <a:t> machine learning yang </a:t>
            </a:r>
            <a:r>
              <a:rPr lang="en-US" sz="2400" b="1" dirty="0" err="1">
                <a:latin typeface="Montserrat" panose="020B0604020202020204" charset="0"/>
              </a:rPr>
              <a:t>digunakan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untuk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melakukan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klasifikasi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pada</a:t>
            </a:r>
            <a:r>
              <a:rPr lang="en-US" sz="2400" b="1" dirty="0">
                <a:latin typeface="Montserrat" panose="020B0604020202020204" charset="0"/>
              </a:rPr>
              <a:t> data</a:t>
            </a:r>
            <a:r>
              <a:rPr lang="en-US" sz="2400" dirty="0">
                <a:latin typeface="Montserrat" panose="020B0604020202020204" charset="0"/>
              </a:rPr>
              <a:t>. </a:t>
            </a:r>
            <a:r>
              <a:rPr lang="en-US" sz="2400" dirty="0" err="1">
                <a:latin typeface="Montserrat" panose="020B0604020202020204" charset="0"/>
              </a:rPr>
              <a:t>Algoritma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ini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bekerja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berdasarkan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prinsip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bahwa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objek</a:t>
            </a:r>
            <a:r>
              <a:rPr lang="en-US" sz="2400" b="1" dirty="0">
                <a:latin typeface="Montserrat" panose="020B0604020202020204" charset="0"/>
              </a:rPr>
              <a:t> yang </a:t>
            </a:r>
            <a:r>
              <a:rPr lang="en-US" sz="2400" b="1" dirty="0" err="1">
                <a:latin typeface="Montserrat" panose="020B0604020202020204" charset="0"/>
              </a:rPr>
              <a:t>mirip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cenderung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berada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dalam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jarak</a:t>
            </a:r>
            <a:r>
              <a:rPr lang="en-US" sz="2400" b="1" dirty="0">
                <a:latin typeface="Montserrat" panose="020B0604020202020204" charset="0"/>
              </a:rPr>
              <a:t> yang </a:t>
            </a:r>
            <a:r>
              <a:rPr lang="en-US" sz="2400" b="1" dirty="0" err="1">
                <a:latin typeface="Montserrat" panose="020B0604020202020204" charset="0"/>
              </a:rPr>
              <a:t>dekat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satu</a:t>
            </a:r>
            <a:r>
              <a:rPr lang="en-US" sz="2400" b="1" dirty="0">
                <a:latin typeface="Montserrat" panose="020B0604020202020204" charset="0"/>
              </a:rPr>
              <a:t> </a:t>
            </a:r>
            <a:r>
              <a:rPr lang="en-US" sz="2400" b="1" dirty="0" err="1">
                <a:latin typeface="Montserrat" panose="020B0604020202020204" charset="0"/>
              </a:rPr>
              <a:t>sama</a:t>
            </a:r>
            <a:r>
              <a:rPr lang="en-US" sz="2400" b="1" dirty="0">
                <a:latin typeface="Montserrat" panose="020B0604020202020204" charset="0"/>
              </a:rPr>
              <a:t> lain</a:t>
            </a:r>
            <a:r>
              <a:rPr lang="en-US" sz="2400" dirty="0">
                <a:latin typeface="Montserrat" panose="020B060402020202020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6827698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208157011"/>
              </p:ext>
            </p:extLst>
          </p:nvPr>
        </p:nvGraphicFramePr>
        <p:xfrm>
          <a:off x="4724400" y="1301688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4"/>
          <p:cNvSpPr txBox="1"/>
          <p:nvPr/>
        </p:nvSpPr>
        <p:spPr>
          <a:xfrm>
            <a:off x="914400" y="3467100"/>
            <a:ext cx="3962400" cy="3739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5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Parameter </a:t>
            </a:r>
            <a:r>
              <a:rPr lang="en-US" sz="5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Utama</a:t>
            </a:r>
            <a:r>
              <a:rPr lang="en-US" sz="5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KNN</a:t>
            </a:r>
          </a:p>
        </p:txBody>
      </p:sp>
    </p:spTree>
    <p:extLst>
      <p:ext uri="{BB962C8B-B14F-4D97-AF65-F5344CB8AC3E}">
        <p14:creationId xmlns:p14="http://schemas.microsoft.com/office/powerpoint/2010/main" val="288318669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 err="1">
                <a:solidFill>
                  <a:srgbClr val="08377C"/>
                </a:solidFill>
              </a:rPr>
              <a:t>Jumlah</a:t>
            </a:r>
            <a:r>
              <a:rPr lang="en-US" sz="3200" b="1" dirty="0">
                <a:solidFill>
                  <a:srgbClr val="08377C"/>
                </a:solidFill>
              </a:rPr>
              <a:t> </a:t>
            </a:r>
            <a:r>
              <a:rPr lang="en-US" sz="3200" b="1" dirty="0" err="1">
                <a:solidFill>
                  <a:srgbClr val="08377C"/>
                </a:solidFill>
              </a:rPr>
              <a:t>Tetangga</a:t>
            </a:r>
            <a:r>
              <a:rPr lang="en-US" sz="3200" b="1" dirty="0">
                <a:solidFill>
                  <a:srgbClr val="08377C"/>
                </a:solidFill>
              </a:rPr>
              <a:t> (K) </a:t>
            </a:r>
            <a:r>
              <a:rPr lang="en-US" sz="3200" b="1" dirty="0" err="1">
                <a:solidFill>
                  <a:srgbClr val="08377C"/>
                </a:solidFill>
              </a:rPr>
              <a:t>atau</a:t>
            </a:r>
            <a:r>
              <a:rPr lang="en-US" sz="3200" b="1" dirty="0">
                <a:solidFill>
                  <a:srgbClr val="08377C"/>
                </a:solidFill>
              </a:rPr>
              <a:t> </a:t>
            </a:r>
            <a:r>
              <a:rPr lang="en-US" sz="3200" b="1" dirty="0" err="1">
                <a:solidFill>
                  <a:srgbClr val="08377C"/>
                </a:solidFill>
              </a:rPr>
              <a:t>n_neighbors</a:t>
            </a:r>
            <a:r>
              <a:rPr lang="en-US" sz="3200" b="1" dirty="0">
                <a:solidFill>
                  <a:srgbClr val="08377C"/>
                </a:solidFill>
              </a:rPr>
              <a:t> (default = 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045156"/>
            <a:ext cx="1496182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Montserrat" panose="020B0604020202020204" charset="0"/>
              </a:rPr>
              <a:t>Nilai</a:t>
            </a:r>
            <a:r>
              <a:rPr lang="en-US" sz="2800" b="1" dirty="0">
                <a:latin typeface="Montserrat" panose="020B0604020202020204" charset="0"/>
              </a:rPr>
              <a:t> K Kecil: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 err="1">
                <a:solidFill>
                  <a:srgbClr val="FF0000"/>
                </a:solidFill>
                <a:latin typeface="Montserrat" panose="020B0604020202020204" charset="0"/>
              </a:rPr>
              <a:t>Jika</a:t>
            </a:r>
            <a:r>
              <a:rPr lang="en-US" sz="2800" i="1" dirty="0">
                <a:solidFill>
                  <a:srgbClr val="FF0000"/>
                </a:solidFill>
                <a:latin typeface="Montserrat" panose="020B0604020202020204" charset="0"/>
              </a:rPr>
              <a:t> K </a:t>
            </a:r>
            <a:r>
              <a:rPr lang="en-US" sz="2800" i="1" dirty="0" err="1">
                <a:solidFill>
                  <a:srgbClr val="FF0000"/>
                </a:solidFill>
                <a:latin typeface="Montserrat" panose="020B0604020202020204" charset="0"/>
              </a:rPr>
              <a:t>terlalu</a:t>
            </a:r>
            <a:r>
              <a:rPr lang="en-US" sz="2800" i="1" dirty="0">
                <a:solidFill>
                  <a:srgbClr val="FF0000"/>
                </a:solidFill>
                <a:latin typeface="Montserrat" panose="020B0604020202020204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Montserrat" panose="020B0604020202020204" charset="0"/>
              </a:rPr>
              <a:t>kecil</a:t>
            </a:r>
            <a:r>
              <a:rPr lang="en-US" sz="2800" i="1" dirty="0">
                <a:solidFill>
                  <a:srgbClr val="FF0000"/>
                </a:solidFill>
                <a:latin typeface="Montserrat" panose="020B0604020202020204" charset="0"/>
              </a:rPr>
              <a:t> (</a:t>
            </a:r>
            <a:r>
              <a:rPr lang="en-US" sz="2800" i="1" dirty="0" err="1">
                <a:solidFill>
                  <a:srgbClr val="FF0000"/>
                </a:solidFill>
                <a:latin typeface="Montserrat" panose="020B0604020202020204" charset="0"/>
              </a:rPr>
              <a:t>misalnya</a:t>
            </a:r>
            <a:r>
              <a:rPr lang="en-US" sz="2800" i="1" dirty="0">
                <a:solidFill>
                  <a:srgbClr val="FF0000"/>
                </a:solidFill>
                <a:latin typeface="Montserrat" panose="020B0604020202020204" charset="0"/>
              </a:rPr>
              <a:t>, K = 1), </a:t>
            </a:r>
            <a:r>
              <a:rPr lang="en-US" sz="2800" dirty="0">
                <a:latin typeface="Montserrat" panose="020B0604020202020204" charset="0"/>
              </a:rPr>
              <a:t>model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sangat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sensitif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terhadap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>
                <a:latin typeface="Montserrat" panose="020B0604020202020204" charset="0"/>
              </a:rPr>
              <a:t>noise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>
                <a:latin typeface="Montserrat" panose="020B0604020202020204" charset="0"/>
              </a:rPr>
              <a:t>outlier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karena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hanya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mempertimbangkan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satu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sering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menyebabkan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 err="1">
                <a:latin typeface="Montserrat" panose="020B0604020202020204" charset="0"/>
              </a:rPr>
              <a:t>overfitting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karena</a:t>
            </a:r>
            <a:r>
              <a:rPr lang="en-US" sz="2800" dirty="0">
                <a:latin typeface="Montserrat" panose="020B0604020202020204" charset="0"/>
              </a:rPr>
              <a:t> model </a:t>
            </a:r>
            <a:r>
              <a:rPr lang="en-US" sz="2800" dirty="0" err="1">
                <a:latin typeface="Montserrat" panose="020B0604020202020204" charset="0"/>
              </a:rPr>
              <a:t>terlalu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sesuai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pelatihan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kurang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mampu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generalisasi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pada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baru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20B060402020202020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Montserrat" panose="020B0604020202020204" charset="0"/>
              </a:rPr>
              <a:t>Nilai</a:t>
            </a:r>
            <a:r>
              <a:rPr lang="en-US" sz="2800" b="1" dirty="0">
                <a:latin typeface="Montserrat" panose="020B0604020202020204" charset="0"/>
              </a:rPr>
              <a:t> K </a:t>
            </a:r>
            <a:r>
              <a:rPr lang="en-US" sz="2800" b="1" dirty="0" err="1">
                <a:latin typeface="Montserrat" panose="020B0604020202020204" charset="0"/>
              </a:rPr>
              <a:t>Besar</a:t>
            </a:r>
            <a:r>
              <a:rPr lang="en-US" sz="2800" b="1" dirty="0">
                <a:latin typeface="Montserrat" panose="020B0604020202020204" charset="0"/>
              </a:rPr>
              <a:t>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 err="1">
                <a:solidFill>
                  <a:srgbClr val="08377C"/>
                </a:solidFill>
                <a:latin typeface="Montserrat" panose="020B0604020202020204" charset="0"/>
              </a:rPr>
              <a:t>Jika</a:t>
            </a:r>
            <a:r>
              <a:rPr lang="en-US" sz="2800" i="1" dirty="0">
                <a:solidFill>
                  <a:srgbClr val="08377C"/>
                </a:solidFill>
                <a:latin typeface="Montserrat" panose="020B0604020202020204" charset="0"/>
              </a:rPr>
              <a:t> K </a:t>
            </a:r>
            <a:r>
              <a:rPr lang="en-US" sz="2800" i="1" dirty="0" err="1">
                <a:solidFill>
                  <a:srgbClr val="08377C"/>
                </a:solidFill>
                <a:latin typeface="Montserrat" panose="020B0604020202020204" charset="0"/>
              </a:rPr>
              <a:t>terlalu</a:t>
            </a:r>
            <a:r>
              <a:rPr lang="en-US" sz="2800" i="1" dirty="0">
                <a:solidFill>
                  <a:srgbClr val="08377C"/>
                </a:solidFill>
                <a:latin typeface="Montserrat" panose="020B0604020202020204" charset="0"/>
              </a:rPr>
              <a:t> </a:t>
            </a:r>
            <a:r>
              <a:rPr lang="en-US" sz="2800" i="1" dirty="0" err="1">
                <a:solidFill>
                  <a:srgbClr val="08377C"/>
                </a:solidFill>
                <a:latin typeface="Montserrat" panose="020B0604020202020204" charset="0"/>
              </a:rPr>
              <a:t>besar</a:t>
            </a:r>
            <a:r>
              <a:rPr lang="en-US" sz="2800" i="1" dirty="0">
                <a:solidFill>
                  <a:srgbClr val="08377C"/>
                </a:solidFill>
                <a:latin typeface="Montserrat" panose="020B0604020202020204" charset="0"/>
              </a:rPr>
              <a:t> (</a:t>
            </a:r>
            <a:r>
              <a:rPr lang="en-US" sz="2800" i="1" dirty="0" err="1">
                <a:solidFill>
                  <a:srgbClr val="08377C"/>
                </a:solidFill>
                <a:latin typeface="Montserrat" panose="020B0604020202020204" charset="0"/>
              </a:rPr>
              <a:t>misalnya</a:t>
            </a:r>
            <a:r>
              <a:rPr lang="en-US" sz="2800" i="1" dirty="0">
                <a:solidFill>
                  <a:srgbClr val="08377C"/>
                </a:solidFill>
                <a:latin typeface="Montserrat" panose="020B0604020202020204" charset="0"/>
              </a:rPr>
              <a:t>, K = 20)</a:t>
            </a:r>
            <a:r>
              <a:rPr lang="en-US" sz="2800" dirty="0">
                <a:latin typeface="Montserrat" panose="020B0604020202020204" charset="0"/>
              </a:rPr>
              <a:t>, model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stabil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kurang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terpengaruh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oleh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>
                <a:latin typeface="Montserrat" panose="020B0604020202020204" charset="0"/>
              </a:rPr>
              <a:t>noise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tetapi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terlalu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umum</a:t>
            </a:r>
            <a:r>
              <a:rPr lang="en-US" sz="2800" dirty="0">
                <a:latin typeface="Montserrat" panose="020B0604020202020204" charset="0"/>
              </a:rPr>
              <a:t> (</a:t>
            </a:r>
            <a:r>
              <a:rPr lang="en-US" sz="2800" i="1" dirty="0" err="1">
                <a:latin typeface="Montserrat" panose="020B0604020202020204" charset="0"/>
              </a:rPr>
              <a:t>underfitting</a:t>
            </a:r>
            <a:r>
              <a:rPr lang="en-US" sz="2800" dirty="0">
                <a:latin typeface="Montserrat" panose="020B0604020202020204" charset="0"/>
              </a:rPr>
              <a:t>).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memengaruhi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hasil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berdasarkan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jauh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mengabaikan</a:t>
            </a:r>
            <a:r>
              <a:rPr lang="en-US" sz="2800" dirty="0">
                <a:latin typeface="Montserrat" panose="020B0604020202020204" charset="0"/>
              </a:rPr>
              <a:t> detail </a:t>
            </a:r>
            <a:r>
              <a:rPr lang="en-US" sz="2800" dirty="0" err="1">
                <a:latin typeface="Montserrat" panose="020B0604020202020204" charset="0"/>
              </a:rPr>
              <a:t>penting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dari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pelatihan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5108097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 descr="dos-a369fe173701f0d0704d4581736a0b3d20241015142620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681" y="4505482"/>
            <a:ext cx="5367710" cy="253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2. Metric </a:t>
            </a:r>
            <a:r>
              <a:rPr lang="en-US" sz="3200" b="1" dirty="0" err="1">
                <a:solidFill>
                  <a:srgbClr val="08377C"/>
                </a:solidFill>
              </a:rPr>
              <a:t>Jarak</a:t>
            </a:r>
            <a:r>
              <a:rPr lang="en-US" sz="3200" b="1" dirty="0">
                <a:solidFill>
                  <a:srgbClr val="08377C"/>
                </a:solidFill>
              </a:rPr>
              <a:t> (default = </a:t>
            </a:r>
            <a:r>
              <a:rPr lang="en-US" sz="3200" b="1" dirty="0" err="1">
                <a:solidFill>
                  <a:srgbClr val="08377C"/>
                </a:solidFill>
              </a:rPr>
              <a:t>minkowski</a:t>
            </a:r>
            <a:r>
              <a:rPr lang="en-US" sz="3200" b="1" dirty="0">
                <a:solidFill>
                  <a:srgbClr val="08377C"/>
                </a:solidFill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045156"/>
            <a:ext cx="14961827" cy="1963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20B0604020202020204" charset="0"/>
              </a:rPr>
              <a:t>Metrik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digunakan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mengukur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seberapa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atau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mirip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dua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titik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ruang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fitur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Metrik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berbeda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mengukur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atau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kesamaan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cara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berbeda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memengaruhi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pemilihan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terdekat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</p:txBody>
      </p:sp>
      <p:pic>
        <p:nvPicPr>
          <p:cNvPr id="6146" name="Picture 2" descr="dos-c9863be676998a6770ea50ed285154c920241015141900.jpe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85" y="4447358"/>
            <a:ext cx="5310000" cy="252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37812" y="6695591"/>
            <a:ext cx="3467588" cy="501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Montserrat" panose="020B0604020202020204" charset="0"/>
              </a:rPr>
              <a:t>Euclidean Distance</a:t>
            </a:r>
          </a:p>
        </p:txBody>
      </p:sp>
      <p:pic>
        <p:nvPicPr>
          <p:cNvPr id="6148" name="Picture 4" descr="dos-d0faaa6adf7d2a0b981d677a25d1e09820241015142536.jpe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447358"/>
            <a:ext cx="5831108" cy="253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6744360" y="6739338"/>
            <a:ext cx="34675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Montserrat" panose="020B0604020202020204" charset="0"/>
              </a:rPr>
              <a:t>Manhattan Distance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36089" y="6758950"/>
            <a:ext cx="3467588" cy="501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Montserrat" panose="020B0604020202020204" charset="0"/>
              </a:rPr>
              <a:t>Minkowski</a:t>
            </a:r>
            <a:r>
              <a:rPr lang="en-US" sz="2000" b="1" dirty="0">
                <a:latin typeface="Montserrat" panose="020B0604020202020204" charset="0"/>
              </a:rPr>
              <a:t> Distance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6135" y="7365486"/>
            <a:ext cx="43064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latin typeface="Montserrat" panose="020B0604020202020204" charset="0"/>
              </a:rPr>
              <a:t>mengukur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jarak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garis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lurus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antara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dua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titik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dalam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ruang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fitur</a:t>
            </a:r>
            <a:r>
              <a:rPr lang="en-US" dirty="0">
                <a:latin typeface="Montserrat" panose="020B0604020202020204" charset="0"/>
              </a:rPr>
              <a:t>. </a:t>
            </a:r>
            <a:r>
              <a:rPr lang="en-US" dirty="0" err="1">
                <a:latin typeface="Montserrat" panose="020B0604020202020204" charset="0"/>
              </a:rPr>
              <a:t>Ini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adalah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jenis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jarak</a:t>
            </a:r>
            <a:r>
              <a:rPr lang="en-US" dirty="0">
                <a:latin typeface="Montserrat" panose="020B0604020202020204" charset="0"/>
              </a:rPr>
              <a:t> yang paling </a:t>
            </a:r>
            <a:r>
              <a:rPr lang="en-US" dirty="0" err="1">
                <a:latin typeface="Montserrat" panose="020B0604020202020204" charset="0"/>
              </a:rPr>
              <a:t>umum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digunakan</a:t>
            </a:r>
            <a:endParaRPr lang="en-US" dirty="0">
              <a:latin typeface="Montserrat" panose="020B06040202020202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62216" y="7365486"/>
            <a:ext cx="430646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latin typeface="Montserrat" panose="020B0604020202020204" charset="0"/>
              </a:rPr>
              <a:t>mengukur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jarak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berdasarkan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jumlah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perbedaan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sepanjang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sumbu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koordinat</a:t>
            </a:r>
            <a:r>
              <a:rPr lang="en-US" dirty="0">
                <a:latin typeface="Montserrat" panose="020B0604020202020204" charset="0"/>
              </a:rPr>
              <a:t>.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68297" y="7365486"/>
            <a:ext cx="430646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latin typeface="Montserrat" panose="020B0604020202020204" charset="0"/>
              </a:rPr>
              <a:t>Generalisasi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dari</a:t>
            </a:r>
            <a:r>
              <a:rPr lang="en-US" dirty="0">
                <a:latin typeface="Montserrat" panose="020B0604020202020204" charset="0"/>
              </a:rPr>
              <a:t> Euclidean </a:t>
            </a:r>
            <a:r>
              <a:rPr lang="en-US" dirty="0" err="1">
                <a:latin typeface="Montserrat" panose="020B0604020202020204" charset="0"/>
              </a:rPr>
              <a:t>dan</a:t>
            </a:r>
            <a:r>
              <a:rPr lang="en-US" dirty="0">
                <a:latin typeface="Montserrat" panose="020B0604020202020204" charset="0"/>
              </a:rPr>
              <a:t> Manhattan Distance yang </a:t>
            </a:r>
            <a:r>
              <a:rPr lang="en-US" dirty="0" err="1">
                <a:latin typeface="Montserrat" panose="020B0604020202020204" charset="0"/>
              </a:rPr>
              <a:t>bergantung</a:t>
            </a:r>
            <a:r>
              <a:rPr lang="en-US" dirty="0">
                <a:latin typeface="Montserrat" panose="020B0604020202020204" charset="0"/>
              </a:rPr>
              <a:t> </a:t>
            </a:r>
            <a:r>
              <a:rPr lang="en-US" dirty="0" err="1">
                <a:latin typeface="Montserrat" panose="020B0604020202020204" charset="0"/>
              </a:rPr>
              <a:t>pada</a:t>
            </a:r>
            <a:r>
              <a:rPr lang="en-US" dirty="0">
                <a:latin typeface="Montserrat" panose="020B0604020202020204" charset="0"/>
              </a:rPr>
              <a:t> parameter p. </a:t>
            </a:r>
          </a:p>
        </p:txBody>
      </p:sp>
    </p:spTree>
    <p:extLst>
      <p:ext uri="{BB962C8B-B14F-4D97-AF65-F5344CB8AC3E}">
        <p14:creationId xmlns:p14="http://schemas.microsoft.com/office/powerpoint/2010/main" val="3543505862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3. </a:t>
            </a:r>
            <a:r>
              <a:rPr lang="en-US" sz="3200" b="1" dirty="0" err="1">
                <a:solidFill>
                  <a:srgbClr val="08377C"/>
                </a:solidFill>
              </a:rPr>
              <a:t>Bobot</a:t>
            </a:r>
            <a:r>
              <a:rPr lang="en-US" sz="3200" b="1" dirty="0">
                <a:solidFill>
                  <a:srgbClr val="08377C"/>
                </a:solidFill>
              </a:rPr>
              <a:t> (</a:t>
            </a:r>
            <a:r>
              <a:rPr lang="en-US" sz="3200" b="1" i="1" dirty="0">
                <a:solidFill>
                  <a:srgbClr val="08377C"/>
                </a:solidFill>
              </a:rPr>
              <a:t>Weights</a:t>
            </a:r>
            <a:r>
              <a:rPr lang="en-US" sz="3200" b="1" dirty="0">
                <a:solidFill>
                  <a:srgbClr val="08377C"/>
                </a:solidFill>
              </a:rPr>
              <a:t>) (default = uniform)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045156"/>
            <a:ext cx="14961827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menentukan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seberapa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besar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pengaruh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setiap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tetangga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terdekat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terhadap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keputusan</a:t>
            </a:r>
            <a:r>
              <a:rPr lang="en-US" sz="2800" b="1" u="sng" dirty="0">
                <a:latin typeface="Montserrat" panose="020B0604020202020204" charset="0"/>
              </a:rPr>
              <a:t> </a:t>
            </a:r>
            <a:r>
              <a:rPr lang="en-US" sz="2800" b="1" u="sng" dirty="0" err="1">
                <a:latin typeface="Montserrat" panose="020B0604020202020204" charset="0"/>
              </a:rPr>
              <a:t>prediksi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diberikan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memengaruhi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keputusan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akhir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pada</a:t>
            </a:r>
            <a:r>
              <a:rPr lang="en-US" sz="2800" dirty="0">
                <a:latin typeface="Montserrat" panose="020B0604020202020204" charset="0"/>
              </a:rPr>
              <a:t> proses </a:t>
            </a:r>
            <a:r>
              <a:rPr lang="en-US" sz="2800" dirty="0" err="1">
                <a:latin typeface="Montserrat" panose="020B0604020202020204" charset="0"/>
              </a:rPr>
              <a:t>pelatihan</a:t>
            </a:r>
            <a:r>
              <a:rPr lang="en-US" sz="2800" dirty="0">
                <a:latin typeface="Montserrat" panose="020B0604020202020204" charset="0"/>
              </a:rPr>
              <a:t>. Ada </a:t>
            </a:r>
            <a:r>
              <a:rPr lang="en-US" sz="2800" dirty="0" err="1">
                <a:latin typeface="Montserrat" panose="020B0604020202020204" charset="0"/>
              </a:rPr>
              <a:t>dua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jenis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umum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digunakan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20B0604020202020204" charset="0"/>
              </a:rPr>
              <a:t>Uniform: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Setiap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dianggap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memiliki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pengaruh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sama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menentukan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hasil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prediksi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berarti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semua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tidak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peduli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seberapa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atau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jauhnya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memberikan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kontribusi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sama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terhadap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keputusan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akhir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20B0604020202020204" charset="0"/>
              </a:rPr>
              <a:t>Distance: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mendapatkan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besar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artinya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memberikan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kontribusi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signifikan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terhadap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keputusan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prediksi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Bobot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dihitung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terbalik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sebanding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sehingga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semakin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dekat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semakin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besar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pengaruhnya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3429629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4. </a:t>
            </a:r>
            <a:r>
              <a:rPr lang="en-US" sz="3200" b="1" dirty="0" err="1">
                <a:solidFill>
                  <a:srgbClr val="08377C"/>
                </a:solidFill>
                <a:latin typeface="Montserrat" panose="020B0604020202020204" charset="0"/>
              </a:rPr>
              <a:t>Panjang</a:t>
            </a:r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 </a:t>
            </a:r>
            <a:r>
              <a:rPr lang="en-US" sz="3200" b="1" dirty="0" err="1">
                <a:solidFill>
                  <a:srgbClr val="08377C"/>
                </a:solidFill>
                <a:latin typeface="Montserrat" panose="020B0604020202020204" charset="0"/>
              </a:rPr>
              <a:t>Jarak</a:t>
            </a:r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 (Distance Metric Parameters)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1764330"/>
            <a:ext cx="14961827" cy="2604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Montserrat" panose="020B0604020202020204" charset="0"/>
              </a:rPr>
              <a:t>Beberapa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metrik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menggunakan</a:t>
            </a:r>
            <a:r>
              <a:rPr lang="en-US" sz="2800" dirty="0">
                <a:latin typeface="Montserrat" panose="020B0604020202020204" charset="0"/>
              </a:rPr>
              <a:t> parameter </a:t>
            </a:r>
            <a:r>
              <a:rPr lang="en-US" sz="2800" dirty="0" err="1">
                <a:latin typeface="Montserrat" panose="020B0604020202020204" charset="0"/>
              </a:rPr>
              <a:t>tambahan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mengatur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cara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perhitungan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memungkinkan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penyesuaian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metrik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karakteristik</a:t>
            </a:r>
            <a:r>
              <a:rPr lang="en-US" sz="2800" dirty="0">
                <a:latin typeface="Montserrat" panose="020B0604020202020204" charset="0"/>
              </a:rPr>
              <a:t> data. Salah </a:t>
            </a:r>
            <a:r>
              <a:rPr lang="en-US" sz="2800" dirty="0" err="1">
                <a:latin typeface="Montserrat" panose="020B0604020202020204" charset="0"/>
              </a:rPr>
              <a:t>satu</a:t>
            </a:r>
            <a:r>
              <a:rPr lang="en-US" sz="2800" dirty="0">
                <a:latin typeface="Montserrat" panose="020B0604020202020204" charset="0"/>
              </a:rPr>
              <a:t> parameter yang </a:t>
            </a:r>
            <a:r>
              <a:rPr lang="en-US" sz="2800" dirty="0" err="1">
                <a:latin typeface="Montserrat" panose="020B0604020202020204" charset="0"/>
              </a:rPr>
              <a:t>sering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digunakan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adalah</a:t>
            </a:r>
            <a:r>
              <a:rPr lang="en-US" sz="2800" dirty="0">
                <a:latin typeface="Montserrat" panose="020B0604020202020204" charset="0"/>
              </a:rPr>
              <a:t> parameter p (</a:t>
            </a:r>
            <a:r>
              <a:rPr lang="en-US" sz="2800" i="1" dirty="0">
                <a:latin typeface="Montserrat" panose="020B0604020202020204" charset="0"/>
              </a:rPr>
              <a:t>power parameter</a:t>
            </a:r>
            <a:r>
              <a:rPr lang="en-US" sz="2800" dirty="0">
                <a:latin typeface="Montserrat" panose="020B0604020202020204" charset="0"/>
              </a:rPr>
              <a:t>)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i="1" dirty="0" err="1">
                <a:latin typeface="Montserrat" panose="020B0604020202020204" charset="0"/>
              </a:rPr>
              <a:t>minkowski</a:t>
            </a:r>
            <a:r>
              <a:rPr lang="en-US" sz="2800" i="1" dirty="0">
                <a:latin typeface="Montserrat" panose="020B0604020202020204" charset="0"/>
              </a:rPr>
              <a:t> distance.</a:t>
            </a:r>
            <a:endParaRPr lang="en-US" sz="2800" dirty="0">
              <a:latin typeface="Montserrat" panose="020B0604020202020204" charset="0"/>
            </a:endParaRPr>
          </a:p>
        </p:txBody>
      </p:sp>
      <p:sp>
        <p:nvSpPr>
          <p:cNvPr id="11" name="TextBox 14"/>
          <p:cNvSpPr txBox="1"/>
          <p:nvPr/>
        </p:nvSpPr>
        <p:spPr>
          <a:xfrm>
            <a:off x="751417" y="4837290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5. </a:t>
            </a:r>
            <a:r>
              <a:rPr lang="en-US" sz="3200" b="1" dirty="0" err="1">
                <a:solidFill>
                  <a:srgbClr val="08377C"/>
                </a:solidFill>
                <a:latin typeface="Montserrat" panose="020B0604020202020204" charset="0"/>
              </a:rPr>
              <a:t>Normalisasi</a:t>
            </a:r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2999" y="5284578"/>
            <a:ext cx="1496182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Montserrat" panose="020B0604020202020204" charset="0"/>
              </a:rPr>
              <a:t>Normalisasi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adalah</a:t>
            </a:r>
            <a:r>
              <a:rPr lang="en-US" sz="2800" dirty="0">
                <a:latin typeface="Montserrat" panose="020B0604020202020204" charset="0"/>
              </a:rPr>
              <a:t> proses </a:t>
            </a:r>
            <a:r>
              <a:rPr lang="en-US" sz="2800" dirty="0" err="1">
                <a:latin typeface="Montserrat" panose="020B0604020202020204" charset="0"/>
              </a:rPr>
              <a:t>menyesuaikan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skala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fitur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sehingga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fitur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berada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rentang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serupa</a:t>
            </a:r>
            <a:r>
              <a:rPr lang="en-US" sz="2800" dirty="0">
                <a:latin typeface="Montserrat" panose="020B0604020202020204" charset="0"/>
              </a:rPr>
              <a:t> agar </a:t>
            </a:r>
            <a:r>
              <a:rPr lang="en-US" sz="2800" dirty="0" err="1">
                <a:latin typeface="Montserrat" panose="020B0604020202020204" charset="0"/>
              </a:rPr>
              <a:t>perhitungan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menjadi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adil</a:t>
            </a:r>
            <a:r>
              <a:rPr lang="en-US" sz="2800" dirty="0">
                <a:latin typeface="Montserrat" panose="020B0604020202020204" charset="0"/>
              </a:rPr>
              <a:t>, yang </a:t>
            </a:r>
            <a:r>
              <a:rPr lang="en-US" sz="2800" dirty="0" err="1">
                <a:latin typeface="Montserrat" panose="020B0604020202020204" charset="0"/>
              </a:rPr>
              <a:t>membantu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meningkatkan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akurasi</a:t>
            </a:r>
            <a:r>
              <a:rPr lang="en-US" sz="2800" dirty="0">
                <a:latin typeface="Montserrat" panose="020B0604020202020204" charset="0"/>
              </a:rPr>
              <a:t> model KNN.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20B0604020202020204" charset="0"/>
              </a:rPr>
              <a:t>Ada </a:t>
            </a:r>
            <a:r>
              <a:rPr lang="en-US" sz="2800" dirty="0" err="1">
                <a:latin typeface="Montserrat" panose="020B0604020202020204" charset="0"/>
              </a:rPr>
              <a:t>dua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teknik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umum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normalisasi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pada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algoritma</a:t>
            </a:r>
            <a:r>
              <a:rPr lang="en-US" sz="2800" dirty="0">
                <a:latin typeface="Montserrat" panose="020B0604020202020204" charset="0"/>
              </a:rPr>
              <a:t> KNN </a:t>
            </a:r>
            <a:r>
              <a:rPr lang="en-US" sz="2800" dirty="0" err="1">
                <a:latin typeface="Montserrat" panose="020B0604020202020204" charset="0"/>
              </a:rPr>
              <a:t>sebagai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berikut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Montserrat" panose="020B0604020202020204" charset="0"/>
              </a:rPr>
              <a:t>Standardisasi</a:t>
            </a:r>
            <a:endParaRPr lang="en-US" sz="2800" dirty="0">
              <a:latin typeface="Montserrat" panose="020B060402020202020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Montserrat" panose="020B0604020202020204" charset="0"/>
              </a:rPr>
              <a:t>Normalisasi</a:t>
            </a:r>
            <a:r>
              <a:rPr lang="en-US" sz="2800" b="1" dirty="0">
                <a:latin typeface="Montserrat" panose="020B0604020202020204" charset="0"/>
              </a:rPr>
              <a:t> Min-Max</a:t>
            </a:r>
            <a:endParaRPr lang="en-US" sz="28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893387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5. </a:t>
            </a:r>
            <a:r>
              <a:rPr lang="en-US" sz="3200" b="1" dirty="0" err="1">
                <a:solidFill>
                  <a:srgbClr val="08377C"/>
                </a:solidFill>
                <a:latin typeface="Montserrat" panose="020B0604020202020204" charset="0"/>
              </a:rPr>
              <a:t>Algoritma</a:t>
            </a:r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 </a:t>
            </a:r>
            <a:r>
              <a:rPr lang="en-US" sz="3200" b="1" dirty="0" err="1">
                <a:solidFill>
                  <a:srgbClr val="08377C"/>
                </a:solidFill>
                <a:latin typeface="Montserrat" panose="020B0604020202020204" charset="0"/>
              </a:rPr>
              <a:t>Pencarian</a:t>
            </a:r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 </a:t>
            </a:r>
            <a:r>
              <a:rPr lang="en-US" sz="3200" b="1" dirty="0" err="1">
                <a:solidFill>
                  <a:srgbClr val="08377C"/>
                </a:solidFill>
                <a:latin typeface="Montserrat" panose="020B0604020202020204" charset="0"/>
              </a:rPr>
              <a:t>Tetangga</a:t>
            </a:r>
            <a:r>
              <a:rPr lang="en-US" sz="3200" b="1" dirty="0">
                <a:solidFill>
                  <a:srgbClr val="08377C"/>
                </a:solidFill>
                <a:latin typeface="Montserrat" panose="020B0604020202020204" charset="0"/>
              </a:rPr>
              <a:t> (default = auto)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028601"/>
            <a:ext cx="1496182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Montserrat" panose="020B0604020202020204" charset="0"/>
              </a:rPr>
              <a:t>Memilih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algoritma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pencarian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tepat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memengaruhi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kecepatan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efisiensi</a:t>
            </a:r>
            <a:r>
              <a:rPr lang="en-US" sz="2800" dirty="0">
                <a:latin typeface="Montserrat" panose="020B0604020202020204" charset="0"/>
              </a:rPr>
              <a:t> model KNN, </a:t>
            </a:r>
            <a:r>
              <a:rPr lang="en-US" sz="2800" dirty="0" err="1">
                <a:latin typeface="Montserrat" panose="020B0604020202020204" charset="0"/>
              </a:rPr>
              <a:t>terutama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dataset </a:t>
            </a:r>
            <a:r>
              <a:rPr lang="en-US" sz="2800" dirty="0" err="1">
                <a:latin typeface="Montserrat" panose="020B0604020202020204" charset="0"/>
              </a:rPr>
              <a:t>besar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atau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banyak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fitur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20B0604020202020204" charset="0"/>
              </a:rPr>
              <a:t>Brute Force: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menghitung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jarak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antara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baru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setiap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titik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dataset </a:t>
            </a:r>
            <a:r>
              <a:rPr lang="en-US" sz="2800" dirty="0" err="1">
                <a:latin typeface="Montserrat" panose="020B0604020202020204" charset="0"/>
              </a:rPr>
              <a:t>pelatihan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secara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langsung</a:t>
            </a:r>
            <a:r>
              <a:rPr lang="en-US" sz="2800" dirty="0">
                <a:latin typeface="Montserrat" panose="020B0604020202020204" charset="0"/>
              </a:rPr>
              <a:t>. </a:t>
            </a:r>
            <a:r>
              <a:rPr lang="en-US" sz="2800" dirty="0" err="1">
                <a:latin typeface="Montserrat" panose="020B0604020202020204" charset="0"/>
              </a:rPr>
              <a:t>Ini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bisa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sangat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lambat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dataset </a:t>
            </a:r>
            <a:r>
              <a:rPr lang="en-US" sz="2800" dirty="0" err="1">
                <a:latin typeface="Montserrat" panose="020B0604020202020204" charset="0"/>
              </a:rPr>
              <a:t>besar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karena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kompleksitas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waktu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tinggi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20B0604020202020204" charset="0"/>
              </a:rPr>
              <a:t>KD-Tree: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struktur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mempercepat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pencarian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tetangga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terdekat</a:t>
            </a:r>
            <a:r>
              <a:rPr lang="en-US" sz="28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20B0604020202020204" charset="0"/>
              </a:rPr>
              <a:t>Ball-Tree: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Struktur</a:t>
            </a:r>
            <a:r>
              <a:rPr lang="en-US" sz="2800" dirty="0">
                <a:latin typeface="Montserrat" panose="020B0604020202020204" charset="0"/>
              </a:rPr>
              <a:t> data yang </a:t>
            </a:r>
            <a:r>
              <a:rPr lang="en-US" sz="2800" dirty="0" err="1">
                <a:latin typeface="Montserrat" panose="020B0604020202020204" charset="0"/>
              </a:rPr>
              <a:t>membagi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ruang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fitur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menggunakan</a:t>
            </a:r>
            <a:r>
              <a:rPr lang="en-US" sz="2800" dirty="0">
                <a:latin typeface="Montserrat" panose="020B0604020202020204" charset="0"/>
              </a:rPr>
              <a:t> volume </a:t>
            </a:r>
            <a:r>
              <a:rPr lang="en-US" sz="2800" dirty="0" err="1">
                <a:latin typeface="Montserrat" panose="020B0604020202020204" charset="0"/>
              </a:rPr>
              <a:t>berbasis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partisi</a:t>
            </a:r>
            <a:r>
              <a:rPr lang="en-US" sz="2800" dirty="0">
                <a:latin typeface="Montserrat" panose="020B0604020202020204" charset="0"/>
              </a:rPr>
              <a:t>, </a:t>
            </a:r>
            <a:r>
              <a:rPr lang="en-US" sz="2800" dirty="0" err="1">
                <a:latin typeface="Montserrat" panose="020B0604020202020204" charset="0"/>
              </a:rPr>
              <a:t>cocok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data </a:t>
            </a:r>
            <a:r>
              <a:rPr lang="en-US" sz="2800" dirty="0" err="1">
                <a:latin typeface="Montserrat" panose="020B0604020202020204" charset="0"/>
              </a:rPr>
              <a:t>berdimensi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tinggi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performa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pencarian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lebih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baik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dibandingkan</a:t>
            </a:r>
            <a:r>
              <a:rPr lang="en-US" sz="2800" dirty="0">
                <a:latin typeface="Montserrat" panose="020B0604020202020204" charset="0"/>
              </a:rPr>
              <a:t> KD-Tree.</a:t>
            </a:r>
          </a:p>
        </p:txBody>
      </p:sp>
    </p:spTree>
    <p:extLst>
      <p:ext uri="{BB962C8B-B14F-4D97-AF65-F5344CB8AC3E}">
        <p14:creationId xmlns:p14="http://schemas.microsoft.com/office/powerpoint/2010/main" val="1437081240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Kerja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KNN?</a:t>
            </a:r>
          </a:p>
        </p:txBody>
      </p:sp>
      <p:pic>
        <p:nvPicPr>
          <p:cNvPr id="10242" name="Picture 2" descr="dos-2d4c20e4889463df266e8e32368b1fd320241015141900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9"/>
          <a:stretch/>
        </p:blipFill>
        <p:spPr bwMode="auto">
          <a:xfrm>
            <a:off x="1905000" y="2933700"/>
            <a:ext cx="12945267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31078-C4A2-C5EA-3E61-7397E394627E}"/>
              </a:ext>
            </a:extLst>
          </p:cNvPr>
          <p:cNvSpPr txBox="1"/>
          <p:nvPr/>
        </p:nvSpPr>
        <p:spPr>
          <a:xfrm>
            <a:off x="1905000" y="8828267"/>
            <a:ext cx="137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Montserrat" panose="00000500000000000000" pitchFamily="2" charset="0"/>
              </a:rPr>
              <a:t>*Cara kerja KNN </a:t>
            </a:r>
            <a:r>
              <a:rPr lang="en-US" i="1" dirty="0" err="1">
                <a:latin typeface="Montserrat" panose="00000500000000000000" pitchFamily="2" charset="0"/>
              </a:rPr>
              <a:t>bisa</a:t>
            </a:r>
            <a:r>
              <a:rPr lang="en-US" i="1" dirty="0">
                <a:latin typeface="Montserrat" panose="00000500000000000000" pitchFamily="2" charset="0"/>
              </a:rPr>
              <a:t> </a:t>
            </a:r>
            <a:r>
              <a:rPr lang="en-US" i="1" dirty="0" err="1">
                <a:latin typeface="Montserrat" panose="00000500000000000000" pitchFamily="2" charset="0"/>
              </a:rPr>
              <a:t>dilihat</a:t>
            </a:r>
            <a:r>
              <a:rPr lang="en-US" i="1" dirty="0">
                <a:latin typeface="Montserrat" panose="00000500000000000000" pitchFamily="2" charset="0"/>
              </a:rPr>
              <a:t> di file excel yang sudah </a:t>
            </a:r>
            <a:r>
              <a:rPr lang="en-US" i="1" dirty="0" err="1">
                <a:latin typeface="Montserrat" panose="00000500000000000000" pitchFamily="2" charset="0"/>
              </a:rPr>
              <a:t>dilampirkan</a:t>
            </a:r>
            <a:endParaRPr lang="en-US" i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124657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Kerja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KNN?</a:t>
            </a:r>
          </a:p>
        </p:txBody>
      </p:sp>
      <p:pic>
        <p:nvPicPr>
          <p:cNvPr id="10242" name="Picture 2" descr="dos-2d4c20e4889463df266e8e32368b1fd320241015141900.jpe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9"/>
          <a:stretch/>
        </p:blipFill>
        <p:spPr bwMode="auto">
          <a:xfrm>
            <a:off x="1908879" y="3156488"/>
            <a:ext cx="5867400" cy="269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 descr="dos-08b36051633c21ba24c38e8001b3c73d20241015141900.jpe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9" r="17021"/>
          <a:stretch/>
        </p:blipFill>
        <p:spPr bwMode="auto">
          <a:xfrm>
            <a:off x="8458200" y="3476033"/>
            <a:ext cx="5122593" cy="676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urved Connector 10"/>
          <p:cNvCxnSpPr>
            <a:endCxn id="16386" idx="1"/>
          </p:cNvCxnSpPr>
          <p:nvPr/>
        </p:nvCxnSpPr>
        <p:spPr>
          <a:xfrm>
            <a:off x="5261679" y="5381953"/>
            <a:ext cx="3196521" cy="147489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19982" y="2512436"/>
            <a:ext cx="7799027" cy="963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 err="1">
                <a:latin typeface="Montserrat" panose="020B0604020202020204" charset="0"/>
              </a:rPr>
              <a:t>Contohnya</a:t>
            </a:r>
            <a:r>
              <a:rPr lang="en-US" sz="2000" dirty="0">
                <a:latin typeface="Montserrat" panose="020B0604020202020204" charset="0"/>
              </a:rPr>
              <a:t>,</a:t>
            </a:r>
            <a:r>
              <a:rPr lang="en-US" sz="2000" b="1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jika</a:t>
            </a:r>
            <a:r>
              <a:rPr lang="en-US" sz="2000" dirty="0">
                <a:latin typeface="Montserrat" panose="020B0604020202020204" charset="0"/>
              </a:rPr>
              <a:t> K = 3, KNN </a:t>
            </a:r>
            <a:r>
              <a:rPr lang="en-US" sz="2000" dirty="0" err="1">
                <a:latin typeface="Montserrat" panose="020B0604020202020204" charset="0"/>
              </a:rPr>
              <a:t>akan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memilih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tiga</a:t>
            </a:r>
            <a:r>
              <a:rPr lang="en-US" sz="2000" dirty="0">
                <a:latin typeface="Montserrat" panose="020B0604020202020204" charset="0"/>
              </a:rPr>
              <a:t> data yang paling </a:t>
            </a:r>
            <a:r>
              <a:rPr lang="en-US" sz="2000" dirty="0" err="1">
                <a:latin typeface="Montserrat" panose="020B0604020202020204" charset="0"/>
              </a:rPr>
              <a:t>dekat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dengan</a:t>
            </a:r>
            <a:r>
              <a:rPr lang="en-US" sz="2000" dirty="0">
                <a:latin typeface="Montserrat" panose="020B0604020202020204" charset="0"/>
              </a:rPr>
              <a:t> data </a:t>
            </a:r>
            <a:r>
              <a:rPr lang="en-US" sz="2000" dirty="0" err="1">
                <a:latin typeface="Montserrat" panose="020B0604020202020204" charset="0"/>
              </a:rPr>
              <a:t>baru</a:t>
            </a:r>
            <a:r>
              <a:rPr lang="en-US" sz="2000" dirty="0">
                <a:latin typeface="Montserrat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0669106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F6CF4D-7C7B-604E-BBCB-110DD1EE24C2}"/>
              </a:ext>
            </a:extLst>
          </p:cNvPr>
          <p:cNvSpPr txBox="1"/>
          <p:nvPr/>
        </p:nvSpPr>
        <p:spPr>
          <a:xfrm>
            <a:off x="2819400" y="1333500"/>
            <a:ext cx="11468714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Kelebihan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Kekurangan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KNN?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231902"/>
              </p:ext>
            </p:extLst>
          </p:nvPr>
        </p:nvGraphicFramePr>
        <p:xfrm>
          <a:off x="2362200" y="3390900"/>
          <a:ext cx="12192000" cy="4886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 err="1">
                          <a:latin typeface="Montserrat" panose="020B0604020202020204" charset="0"/>
                        </a:rPr>
                        <a:t>Kelebihan</a:t>
                      </a:r>
                      <a:r>
                        <a:rPr lang="en-US" sz="2000" b="1" dirty="0">
                          <a:latin typeface="Montserrat" panose="020B060402020202020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 err="1">
                          <a:latin typeface="Montserrat" panose="020B0604020202020204" charset="0"/>
                        </a:rPr>
                        <a:t>Kekurangan</a:t>
                      </a:r>
                      <a:r>
                        <a:rPr lang="en-US" sz="2000" b="1" dirty="0">
                          <a:latin typeface="Montserrat" panose="020B060402020202020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>
                          <a:effectLst/>
                          <a:latin typeface="Montserrat" panose="020B0604020202020204" charset="0"/>
                        </a:rPr>
                        <a:t>Simpel dan Intuitif: mudah dipahami dan diimplementasikan tanpa banyak asumsi.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Komputasi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Berat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untuk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Dataset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Besar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: 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perhitungan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jarak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untuk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setiap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prediksi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membuat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KNN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lambat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pada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dataset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besar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nn-NO" b="0">
                          <a:effectLst/>
                          <a:latin typeface="Montserrat" panose="020B0604020202020204" charset="0"/>
                        </a:rPr>
                        <a:t>Non-parametrik: tidak mengasumsikan distribusi data tertentu, cocok untuk berbagai jenis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>
                          <a:effectLst/>
                          <a:latin typeface="Montserrat" panose="020B0604020202020204" charset="0"/>
                        </a:rPr>
                        <a:t>Sensitif terhadap Noise: data yang tidak sesuai atau fitur yang tidak relevan dapat menurunkan akurasi prediksi.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>
                          <a:effectLst/>
                          <a:latin typeface="Montserrat" panose="020B0604020202020204" charset="0"/>
                        </a:rPr>
                        <a:t>Efektif untuk Dataset Kecil: ideal untuk dataset kecil dengan interpretasi langsung dan hasil cepat.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Memori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Intensif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: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membutuhkan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penyimpanan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seluruh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dataset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pelatihan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dalam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memori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,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meningkatkan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kebutuhan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</a:t>
                      </a:r>
                      <a:r>
                        <a:rPr lang="en-US" b="0" dirty="0" err="1">
                          <a:effectLst/>
                          <a:latin typeface="Montserrat" panose="020B0604020202020204" charset="0"/>
                        </a:rPr>
                        <a:t>memori</a:t>
                      </a:r>
                      <a:r>
                        <a:rPr lang="en-US" b="0" dirty="0">
                          <a:effectLst/>
                          <a:latin typeface="Montserrat" panose="020B0604020202020204" charset="0"/>
                        </a:rPr>
                        <a:t> pada dataset besar.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949868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CF64-C88E-D998-9BEE-67DB59C7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F6560179-A155-3AD4-3FF6-ADF3ABAA8390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6E97B05-2470-1E44-9B1F-BBB4F0540D27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45BC295-454E-5D88-CC7D-8891AE805E72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2FD01704-D2A6-AC99-F9C3-9C84462F546F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DC47743-E2C5-ABE7-EC5C-0FED02188D40}"/>
              </a:ext>
            </a:extLst>
          </p:cNvPr>
          <p:cNvSpPr txBox="1"/>
          <p:nvPr/>
        </p:nvSpPr>
        <p:spPr>
          <a:xfrm>
            <a:off x="1311647" y="4214179"/>
            <a:ext cx="88229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Naïve Bayes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E137EE7-3D16-A0B1-9496-D6ACB083C3BE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Classification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A418609E-DE62-9A9A-D1C9-5BB9C2C4802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C4F52F41-0E61-A84F-FDAE-B358C1E5E344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9209573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518C6-F609-8E0A-4F87-BC61BFB97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66CEAF-0FDA-E1A8-21C2-9FC9FCD73F64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3DD3F49-D276-C994-028F-FE603047A773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D3300DA-1C49-EAC6-137B-4F59540C85FC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087804C-21D5-6E67-BC3F-834D783059AB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0ED7008-2E79-42FE-CFE0-B70E5EE61BDC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C0960CE-7008-F3A5-4A8C-FA4C2EB5513A}"/>
              </a:ext>
            </a:extLst>
          </p:cNvPr>
          <p:cNvSpPr txBox="1"/>
          <p:nvPr/>
        </p:nvSpPr>
        <p:spPr>
          <a:xfrm>
            <a:off x="3874277" y="956467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Naïve Bayes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E60F73-2498-5297-6601-E34EEC00D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28" b="13114"/>
          <a:stretch/>
        </p:blipFill>
        <p:spPr bwMode="auto">
          <a:xfrm>
            <a:off x="3657600" y="2491944"/>
            <a:ext cx="9983427" cy="331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1D1E5D-6F45-0465-0B95-3D0E2F8D8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5372100"/>
            <a:ext cx="2796782" cy="2438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0CE26F-5879-0B0E-B21E-C544CC6FDD10}"/>
              </a:ext>
            </a:extLst>
          </p:cNvPr>
          <p:cNvSpPr/>
          <p:nvPr/>
        </p:nvSpPr>
        <p:spPr>
          <a:xfrm>
            <a:off x="1447800" y="6527603"/>
            <a:ext cx="15029563" cy="206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i="0" u="none" strike="noStrike" dirty="0">
                <a:effectLst/>
                <a:latin typeface="Montserrat" panose="000005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Naive Bayes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 adalah algoritma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klasifikasi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berbasis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probabilitas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yang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berdasarkan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pada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Teorema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Bayes, </a:t>
            </a:r>
            <a:r>
              <a:rPr lang="en-US" sz="2200" b="1" i="0" dirty="0">
                <a:effectLst/>
                <a:latin typeface="Montserrat" panose="00000500000000000000" pitchFamily="2" charset="0"/>
              </a:rPr>
              <a:t>dengan </a:t>
            </a:r>
            <a:r>
              <a:rPr lang="en-US" sz="2200" b="1" i="0" dirty="0" err="1">
                <a:effectLst/>
                <a:latin typeface="Montserrat" panose="00000500000000000000" pitchFamily="2" charset="0"/>
              </a:rPr>
              <a:t>asumsi</a:t>
            </a:r>
            <a:r>
              <a:rPr lang="en-US" sz="22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1" i="0" dirty="0" err="1">
                <a:effectLst/>
                <a:latin typeface="Montserrat" panose="00000500000000000000" pitchFamily="2" charset="0"/>
              </a:rPr>
              <a:t>bahwa</a:t>
            </a:r>
            <a:r>
              <a:rPr lang="en-US" sz="22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1" i="0" dirty="0" err="1">
                <a:effectLst/>
                <a:latin typeface="Montserrat" panose="00000500000000000000" pitchFamily="2" charset="0"/>
              </a:rPr>
              <a:t>fitur-fitur</a:t>
            </a:r>
            <a:r>
              <a:rPr lang="en-US" sz="2200" b="1" i="0" dirty="0">
                <a:effectLst/>
                <a:latin typeface="Montserrat" panose="00000500000000000000" pitchFamily="2" charset="0"/>
              </a:rPr>
              <a:t> dalam data bersifat </a:t>
            </a:r>
            <a:r>
              <a:rPr lang="en-US" sz="2200" b="1" i="0" dirty="0" err="1">
                <a:effectLst/>
                <a:latin typeface="Montserrat" panose="00000500000000000000" pitchFamily="2" charset="0"/>
              </a:rPr>
              <a:t>independen</a:t>
            </a:r>
            <a:r>
              <a:rPr lang="en-US" sz="22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1" i="0" dirty="0" err="1">
                <a:effectLst/>
                <a:latin typeface="Montserrat" panose="00000500000000000000" pitchFamily="2" charset="0"/>
              </a:rPr>
              <a:t>satu</a:t>
            </a:r>
            <a:r>
              <a:rPr lang="en-US" sz="22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1" i="0" dirty="0" err="1">
                <a:effectLst/>
                <a:latin typeface="Montserrat" panose="00000500000000000000" pitchFamily="2" charset="0"/>
              </a:rPr>
              <a:t>sama</a:t>
            </a:r>
            <a:r>
              <a:rPr lang="en-US" sz="2200" b="1" i="0" dirty="0">
                <a:effectLst/>
                <a:latin typeface="Montserrat" panose="00000500000000000000" pitchFamily="2" charset="0"/>
              </a:rPr>
              <a:t> lain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. 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Namun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, dalam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praktiknya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dapat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menghasilkan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model yang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efektif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. Naive Bayes menggunakan </a:t>
            </a:r>
            <a:r>
              <a:rPr lang="en-US" sz="2200" b="1" i="0" dirty="0" err="1">
                <a:effectLst/>
                <a:latin typeface="Montserrat" panose="00000500000000000000" pitchFamily="2" charset="0"/>
              </a:rPr>
              <a:t>prinsip</a:t>
            </a:r>
            <a:r>
              <a:rPr lang="en-US" sz="22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1" i="0" dirty="0" err="1">
                <a:effectLst/>
                <a:latin typeface="Montserrat" panose="00000500000000000000" pitchFamily="2" charset="0"/>
              </a:rPr>
              <a:t>probabilitas</a:t>
            </a:r>
            <a:r>
              <a:rPr lang="en-US" sz="2200" b="1" i="0" dirty="0">
                <a:effectLst/>
                <a:latin typeface="Montserrat" panose="00000500000000000000" pitchFamily="2" charset="0"/>
              </a:rPr>
              <a:t> 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untuk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memprediksi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dari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data baru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berdasarkan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pengamatan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fitur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yang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ada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.</a:t>
            </a:r>
            <a:endParaRPr lang="en-US" sz="2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013016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8927-6182-55BF-DA2B-B5897A82B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F4565A6-8875-F12E-60D6-4D736B0EC895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0ADD718-5324-BFA6-BC35-A88136BAB6DA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0F666EF-FB8A-5DB2-14A1-A3B441EA938C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BDA94AE-9E50-DA22-E91B-406695B83F6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9F4751F-E952-1DF3-9CB4-612AD0F58620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A9DC4-BA41-BC81-50E3-DFAC6AA41FBA}"/>
              </a:ext>
            </a:extLst>
          </p:cNvPr>
          <p:cNvSpPr/>
          <p:nvPr/>
        </p:nvSpPr>
        <p:spPr>
          <a:xfrm>
            <a:off x="1257580" y="2171718"/>
            <a:ext cx="15452365" cy="155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0" i="1" dirty="0">
                <a:effectLst/>
                <a:latin typeface="Montserrat" panose="00000500000000000000" pitchFamily="2" charset="0"/>
              </a:rPr>
              <a:t>Naive Bayes </a:t>
            </a:r>
            <a:r>
              <a:rPr lang="en-US" sz="2200" b="0" i="1" dirty="0" err="1">
                <a:effectLst/>
                <a:latin typeface="Montserrat" panose="00000500000000000000" pitchFamily="2" charset="0"/>
              </a:rPr>
              <a:t>bekerja</a:t>
            </a:r>
            <a:r>
              <a:rPr lang="en-US" sz="2200" b="0" i="1" dirty="0">
                <a:effectLst/>
                <a:latin typeface="Montserrat" panose="00000500000000000000" pitchFamily="2" charset="0"/>
              </a:rPr>
              <a:t> dengan menghitung kemungkinan </a:t>
            </a:r>
            <a:r>
              <a:rPr lang="en-US" sz="2200" b="0" i="1" dirty="0" err="1">
                <a:effectLst/>
                <a:latin typeface="Montserrat" panose="00000500000000000000" pitchFamily="2" charset="0"/>
              </a:rPr>
              <a:t>suatu</a:t>
            </a:r>
            <a:r>
              <a:rPr lang="en-US" sz="2200" b="0" i="1" dirty="0">
                <a:effectLst/>
                <a:latin typeface="Montserrat" panose="00000500000000000000" pitchFamily="2" charset="0"/>
              </a:rPr>
              <a:t> data </a:t>
            </a:r>
            <a:r>
              <a:rPr lang="en-US" sz="2200" b="0" i="1" dirty="0" err="1">
                <a:effectLst/>
                <a:latin typeface="Montserrat" panose="00000500000000000000" pitchFamily="2" charset="0"/>
              </a:rPr>
              <a:t>termasuk</a:t>
            </a:r>
            <a:r>
              <a:rPr lang="en-US" sz="2200" b="0" i="1" dirty="0">
                <a:effectLst/>
                <a:latin typeface="Montserrat" panose="00000500000000000000" pitchFamily="2" charset="0"/>
              </a:rPr>
              <a:t> dalam </a:t>
            </a:r>
            <a:r>
              <a:rPr lang="en-US" sz="2200" b="0" i="1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sz="2200" b="0" i="1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0" i="1" dirty="0" err="1">
                <a:effectLst/>
                <a:latin typeface="Montserrat" panose="00000500000000000000" pitchFamily="2" charset="0"/>
              </a:rPr>
              <a:t>tertentu</a:t>
            </a:r>
            <a:r>
              <a:rPr lang="en-US" sz="2200" b="0" i="1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0" i="1" dirty="0" err="1">
                <a:effectLst/>
                <a:latin typeface="Montserrat" panose="00000500000000000000" pitchFamily="2" charset="0"/>
              </a:rPr>
              <a:t>berdasarkan</a:t>
            </a:r>
            <a:r>
              <a:rPr lang="en-US" sz="2200" b="0" i="1" dirty="0">
                <a:effectLst/>
                <a:latin typeface="Montserrat" panose="00000500000000000000" pitchFamily="2" charset="0"/>
              </a:rPr>
              <a:t> dua faktor: 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kemungkinan </a:t>
            </a:r>
            <a:r>
              <a:rPr lang="en-US" sz="2200" b="1" i="1" dirty="0" err="1">
                <a:effectLst/>
                <a:latin typeface="Montserrat" panose="00000500000000000000" pitchFamily="2" charset="0"/>
              </a:rPr>
              <a:t>awal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1" i="1" dirty="0" err="1">
                <a:effectLst/>
                <a:latin typeface="Montserrat" panose="00000500000000000000" pitchFamily="2" charset="0"/>
              </a:rPr>
              <a:t>dari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 setiap </a:t>
            </a:r>
            <a:r>
              <a:rPr lang="en-US" sz="2200" b="1" i="1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 (</a:t>
            </a:r>
            <a:r>
              <a:rPr lang="en-US" sz="2200" b="1" i="1" dirty="0" err="1">
                <a:effectLst/>
                <a:latin typeface="Montserrat" panose="00000500000000000000" pitchFamily="2" charset="0"/>
              </a:rPr>
              <a:t>probabilitas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 prior) </a:t>
            </a:r>
            <a:r>
              <a:rPr lang="en-US" sz="2200" b="0" i="1" dirty="0">
                <a:effectLst/>
                <a:latin typeface="Montserrat" panose="00000500000000000000" pitchFamily="2" charset="0"/>
              </a:rPr>
              <a:t>dan 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kemungkinan </a:t>
            </a:r>
            <a:r>
              <a:rPr lang="en-US" sz="2200" b="1" i="1" dirty="0" err="1">
                <a:effectLst/>
                <a:latin typeface="Montserrat" panose="00000500000000000000" pitchFamily="2" charset="0"/>
              </a:rPr>
              <a:t>fitur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 dalam data </a:t>
            </a:r>
            <a:r>
              <a:rPr lang="en-US" sz="2200" b="1" i="1" dirty="0" err="1">
                <a:effectLst/>
                <a:latin typeface="Montserrat" panose="00000500000000000000" pitchFamily="2" charset="0"/>
              </a:rPr>
              <a:t>jika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1" i="1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1" i="1" dirty="0" err="1">
                <a:effectLst/>
                <a:latin typeface="Montserrat" panose="00000500000000000000" pitchFamily="2" charset="0"/>
              </a:rPr>
              <a:t>tersebut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 benar (</a:t>
            </a:r>
            <a:r>
              <a:rPr lang="en-US" sz="2200" b="1" i="1" dirty="0" err="1">
                <a:effectLst/>
                <a:latin typeface="Montserrat" panose="00000500000000000000" pitchFamily="2" charset="0"/>
              </a:rPr>
              <a:t>probabilitas</a:t>
            </a:r>
            <a:r>
              <a:rPr lang="en-US" sz="2200" b="1" i="1" dirty="0">
                <a:effectLst/>
                <a:latin typeface="Montserrat" panose="00000500000000000000" pitchFamily="2" charset="0"/>
              </a:rPr>
              <a:t> likelihood). </a:t>
            </a:r>
            <a:endParaRPr lang="en-US" sz="2200" b="1" i="1" dirty="0">
              <a:latin typeface="Montserrat" panose="000005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6B341B5-2265-041B-3087-5C4A701665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7" b="7318"/>
          <a:stretch/>
        </p:blipFill>
        <p:spPr bwMode="auto">
          <a:xfrm>
            <a:off x="1305655" y="4642129"/>
            <a:ext cx="8103456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567D57-838F-A468-22C7-1FE7B623A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6210300"/>
            <a:ext cx="2796782" cy="243861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917C7A5F-EF48-9CF0-765B-E34D946B8E8B}"/>
              </a:ext>
            </a:extLst>
          </p:cNvPr>
          <p:cNvSpPr txBox="1"/>
          <p:nvPr/>
        </p:nvSpPr>
        <p:spPr>
          <a:xfrm>
            <a:off x="3874277" y="956467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Naïve Bayes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A10D1F-1EC9-0221-7991-AAFF2B946C83}"/>
              </a:ext>
            </a:extLst>
          </p:cNvPr>
          <p:cNvSpPr/>
          <p:nvPr/>
        </p:nvSpPr>
        <p:spPr>
          <a:xfrm>
            <a:off x="1305655" y="3915300"/>
            <a:ext cx="13781945" cy="541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0" i="0" dirty="0">
                <a:effectLst/>
                <a:latin typeface="Montserrat" panose="00000500000000000000" pitchFamily="2" charset="0"/>
              </a:rPr>
              <a:t>Rumus untuk menghitung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probabilitas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posterior P(A∣B) dalam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konteks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200" b="0" i="0" dirty="0" err="1">
                <a:effectLst/>
                <a:latin typeface="Montserrat" panose="00000500000000000000" pitchFamily="2" charset="0"/>
              </a:rPr>
              <a:t>Teorema</a:t>
            </a:r>
            <a:r>
              <a:rPr lang="en-US" sz="2200" b="0" i="0" dirty="0">
                <a:effectLst/>
                <a:latin typeface="Montserrat" panose="00000500000000000000" pitchFamily="2" charset="0"/>
              </a:rPr>
              <a:t> Bayes:</a:t>
            </a:r>
            <a:endParaRPr lang="en-US" sz="2200" b="1" i="1" dirty="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0202B-5E06-042E-C569-D1B5B033C913}"/>
              </a:ext>
            </a:extLst>
          </p:cNvPr>
          <p:cNvSpPr txBox="1"/>
          <p:nvPr/>
        </p:nvSpPr>
        <p:spPr>
          <a:xfrm>
            <a:off x="10210800" y="4642129"/>
            <a:ext cx="5715000" cy="170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i="0" dirty="0" err="1">
                <a:effectLst/>
                <a:latin typeface="Montserrat" panose="00000500000000000000" pitchFamily="2" charset="0"/>
              </a:rPr>
              <a:t>Setelah</a:t>
            </a:r>
            <a:r>
              <a:rPr lang="en-US" i="0" dirty="0">
                <a:effectLst/>
                <a:latin typeface="Montserrat" panose="00000500000000000000" pitchFamily="2" charset="0"/>
              </a:rPr>
              <a:t> menghitung kemungkinan untuk setiap </a:t>
            </a:r>
            <a:r>
              <a:rPr lang="en-US" i="0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i="0" dirty="0">
                <a:effectLst/>
                <a:latin typeface="Montserrat" panose="00000500000000000000" pitchFamily="2" charset="0"/>
              </a:rPr>
              <a:t>, </a:t>
            </a:r>
            <a:r>
              <a:rPr lang="en-US" b="1" i="0" dirty="0">
                <a:effectLst/>
                <a:latin typeface="Montserrat" panose="00000500000000000000" pitchFamily="2" charset="0"/>
              </a:rPr>
              <a:t>model ini </a:t>
            </a:r>
            <a:r>
              <a:rPr lang="en-US" b="1" i="0" dirty="0" err="1">
                <a:effectLst/>
                <a:latin typeface="Montserrat" panose="00000500000000000000" pitchFamily="2" charset="0"/>
              </a:rPr>
              <a:t>memilih</a:t>
            </a:r>
            <a:r>
              <a:rPr lang="en-US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b="1" i="0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b="1" i="0" dirty="0">
                <a:effectLst/>
                <a:latin typeface="Montserrat" panose="00000500000000000000" pitchFamily="2" charset="0"/>
              </a:rPr>
              <a:t> dengan kemungkinan </a:t>
            </a:r>
            <a:r>
              <a:rPr lang="en-US" b="1" i="0" dirty="0" err="1">
                <a:effectLst/>
                <a:latin typeface="Montserrat" panose="00000500000000000000" pitchFamily="2" charset="0"/>
              </a:rPr>
              <a:t>tertinggi</a:t>
            </a:r>
            <a:r>
              <a:rPr lang="en-US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i="0" dirty="0">
                <a:effectLst/>
                <a:latin typeface="Montserrat" panose="00000500000000000000" pitchFamily="2" charset="0"/>
              </a:rPr>
              <a:t>sebagai </a:t>
            </a:r>
            <a:r>
              <a:rPr lang="en-US" i="0" dirty="0" err="1">
                <a:effectLst/>
                <a:latin typeface="Montserrat" panose="00000500000000000000" pitchFamily="2" charset="0"/>
              </a:rPr>
              <a:t>hasil</a:t>
            </a:r>
            <a:r>
              <a:rPr lang="en-US" i="0" dirty="0">
                <a:effectLst/>
                <a:latin typeface="Montserrat" panose="00000500000000000000" pitchFamily="2" charset="0"/>
              </a:rPr>
              <a:t> </a:t>
            </a:r>
            <a:r>
              <a:rPr lang="en-US" i="0" dirty="0" err="1">
                <a:effectLst/>
                <a:latin typeface="Montserrat" panose="00000500000000000000" pitchFamily="2" charset="0"/>
              </a:rPr>
              <a:t>klasifikasi</a:t>
            </a:r>
            <a:r>
              <a:rPr lang="en-US" i="0" dirty="0">
                <a:effectLst/>
                <a:latin typeface="Montserrat" panose="00000500000000000000" pitchFamily="2" charset="0"/>
              </a:rPr>
              <a:t>.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7F97D7B-281C-AD9D-47B1-60C8D5F2EE0F}"/>
              </a:ext>
            </a:extLst>
          </p:cNvPr>
          <p:cNvSpPr/>
          <p:nvPr/>
        </p:nvSpPr>
        <p:spPr>
          <a:xfrm>
            <a:off x="8820944" y="5159188"/>
            <a:ext cx="646111" cy="533400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6A60A6-69FB-7AB3-2B93-98D22A6C4ADD}"/>
              </a:ext>
            </a:extLst>
          </p:cNvPr>
          <p:cNvCxnSpPr/>
          <p:nvPr/>
        </p:nvCxnSpPr>
        <p:spPr>
          <a:xfrm>
            <a:off x="8820944" y="6819900"/>
            <a:ext cx="588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61DBF0-51FD-E86E-06F2-14AE4E5BAAB7}"/>
              </a:ext>
            </a:extLst>
          </p:cNvPr>
          <p:cNvSpPr txBox="1"/>
          <p:nvPr/>
        </p:nvSpPr>
        <p:spPr>
          <a:xfrm>
            <a:off x="9715658" y="6597023"/>
            <a:ext cx="6172200" cy="379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i="1" dirty="0" err="1">
                <a:latin typeface="Montserrat" panose="00000500000000000000" pitchFamily="2" charset="0"/>
              </a:rPr>
              <a:t>Probabilitas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kelas</a:t>
            </a:r>
            <a:r>
              <a:rPr lang="en-US" sz="1400" i="1" dirty="0">
                <a:latin typeface="Montserrat" panose="00000500000000000000" pitchFamily="2" charset="0"/>
              </a:rPr>
              <a:t> A </a:t>
            </a:r>
            <a:r>
              <a:rPr lang="en-US" sz="1400" i="1" dirty="0" err="1">
                <a:latin typeface="Montserrat" panose="00000500000000000000" pitchFamily="2" charset="0"/>
              </a:rPr>
              <a:t>diberikan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fitur</a:t>
            </a:r>
            <a:r>
              <a:rPr lang="en-US" sz="1400" i="1" dirty="0">
                <a:latin typeface="Montserrat" panose="00000500000000000000" pitchFamily="2" charset="0"/>
              </a:rPr>
              <a:t> B (posterior), </a:t>
            </a:r>
            <a:r>
              <a:rPr lang="en-US" sz="1400" i="1" dirty="0" err="1">
                <a:latin typeface="Montserrat" panose="00000500000000000000" pitchFamily="2" charset="0"/>
              </a:rPr>
              <a:t>hasil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akhir</a:t>
            </a:r>
            <a:endParaRPr lang="en-US" sz="1400" i="1" dirty="0">
              <a:latin typeface="Montserrat" panose="0000050000000000000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71496B-7B38-08FF-43CF-1BAAD3180E1C}"/>
              </a:ext>
            </a:extLst>
          </p:cNvPr>
          <p:cNvCxnSpPr/>
          <p:nvPr/>
        </p:nvCxnSpPr>
        <p:spPr>
          <a:xfrm>
            <a:off x="8820944" y="7480506"/>
            <a:ext cx="588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090708-C78F-ACA4-ACDB-2F8973D20BB3}"/>
              </a:ext>
            </a:extLst>
          </p:cNvPr>
          <p:cNvSpPr txBox="1"/>
          <p:nvPr/>
        </p:nvSpPr>
        <p:spPr>
          <a:xfrm>
            <a:off x="9715658" y="7103961"/>
            <a:ext cx="6619114" cy="70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i="1" dirty="0" err="1">
                <a:latin typeface="Montserrat" panose="00000500000000000000" pitchFamily="2" charset="0"/>
              </a:rPr>
              <a:t>Probabilitas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fitur</a:t>
            </a:r>
            <a:r>
              <a:rPr lang="en-US" sz="1400" i="1" dirty="0">
                <a:latin typeface="Montserrat" panose="00000500000000000000" pitchFamily="2" charset="0"/>
              </a:rPr>
              <a:t> B </a:t>
            </a:r>
            <a:r>
              <a:rPr lang="en-US" sz="1400" i="1" dirty="0" err="1">
                <a:latin typeface="Montserrat" panose="00000500000000000000" pitchFamily="2" charset="0"/>
              </a:rPr>
              <a:t>diberikan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kelas</a:t>
            </a:r>
            <a:r>
              <a:rPr lang="en-US" sz="1400" i="1" dirty="0">
                <a:latin typeface="Montserrat" panose="00000500000000000000" pitchFamily="2" charset="0"/>
              </a:rPr>
              <a:t> A (likelihood) </a:t>
            </a:r>
            <a:r>
              <a:rPr lang="en-US" sz="1400" i="1" dirty="0" err="1">
                <a:latin typeface="Montserrat" panose="00000500000000000000" pitchFamily="2" charset="0"/>
              </a:rPr>
              <a:t>atau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Seberapa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sering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fitur</a:t>
            </a:r>
            <a:r>
              <a:rPr lang="en-US" sz="1400" i="1" dirty="0">
                <a:latin typeface="Montserrat" panose="00000500000000000000" pitchFamily="2" charset="0"/>
              </a:rPr>
              <a:t> muncul dalam </a:t>
            </a:r>
            <a:r>
              <a:rPr lang="en-US" sz="1400" i="1" dirty="0" err="1">
                <a:latin typeface="Montserrat" panose="00000500000000000000" pitchFamily="2" charset="0"/>
              </a:rPr>
              <a:t>kelas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tertentu</a:t>
            </a:r>
            <a:endParaRPr lang="en-US" sz="1400" i="1" dirty="0">
              <a:latin typeface="Montserrat" panose="0000050000000000000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310DBE0-0A9C-C228-099C-2E12B67C0E1C}"/>
              </a:ext>
            </a:extLst>
          </p:cNvPr>
          <p:cNvCxnSpPr/>
          <p:nvPr/>
        </p:nvCxnSpPr>
        <p:spPr>
          <a:xfrm>
            <a:off x="8820944" y="8207335"/>
            <a:ext cx="588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A6FEA5F-AE1A-EC9C-DEDF-BF07B6013678}"/>
              </a:ext>
            </a:extLst>
          </p:cNvPr>
          <p:cNvSpPr txBox="1"/>
          <p:nvPr/>
        </p:nvSpPr>
        <p:spPr>
          <a:xfrm>
            <a:off x="9687686" y="7950388"/>
            <a:ext cx="6619114" cy="379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i="1" dirty="0" err="1">
                <a:latin typeface="Montserrat" panose="00000500000000000000" pitchFamily="2" charset="0"/>
              </a:rPr>
              <a:t>Probabilitas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kelas</a:t>
            </a:r>
            <a:r>
              <a:rPr lang="en-US" sz="1400" i="1" dirty="0">
                <a:latin typeface="Montserrat" panose="00000500000000000000" pitchFamily="2" charset="0"/>
              </a:rPr>
              <a:t> A (prior) </a:t>
            </a:r>
            <a:r>
              <a:rPr lang="en-US" sz="1400" i="1" dirty="0" err="1">
                <a:latin typeface="Montserrat" panose="00000500000000000000" pitchFamily="2" charset="0"/>
              </a:rPr>
              <a:t>atau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seberapa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sering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kelas</a:t>
            </a:r>
            <a:r>
              <a:rPr lang="en-US" sz="1400" i="1" dirty="0">
                <a:latin typeface="Montserrat" panose="00000500000000000000" pitchFamily="2" charset="0"/>
              </a:rPr>
              <a:t> itu muncul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9DCA43-F4BF-6B5A-B782-A02C36527C1A}"/>
              </a:ext>
            </a:extLst>
          </p:cNvPr>
          <p:cNvCxnSpPr/>
          <p:nvPr/>
        </p:nvCxnSpPr>
        <p:spPr>
          <a:xfrm>
            <a:off x="8820944" y="8874780"/>
            <a:ext cx="588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1440F00-8953-7B56-7975-5BE70A81B633}"/>
              </a:ext>
            </a:extLst>
          </p:cNvPr>
          <p:cNvSpPr txBox="1"/>
          <p:nvPr/>
        </p:nvSpPr>
        <p:spPr>
          <a:xfrm>
            <a:off x="9687686" y="8617833"/>
            <a:ext cx="6619114" cy="379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i="1" dirty="0" err="1">
                <a:latin typeface="Montserrat" panose="00000500000000000000" pitchFamily="2" charset="0"/>
              </a:rPr>
              <a:t>Probabilitas</a:t>
            </a:r>
            <a:r>
              <a:rPr lang="en-US" sz="1400" i="1" dirty="0">
                <a:latin typeface="Montserrat" panose="00000500000000000000" pitchFamily="2" charset="0"/>
              </a:rPr>
              <a:t> </a:t>
            </a:r>
            <a:r>
              <a:rPr lang="en-US" sz="1400" i="1" dirty="0" err="1">
                <a:latin typeface="Montserrat" panose="00000500000000000000" pitchFamily="2" charset="0"/>
              </a:rPr>
              <a:t>fitur</a:t>
            </a:r>
            <a:r>
              <a:rPr lang="en-US" sz="1400" i="1" dirty="0">
                <a:latin typeface="Montserrat" panose="00000500000000000000" pitchFamily="2" charset="0"/>
              </a:rPr>
              <a:t> (evidence) </a:t>
            </a:r>
          </a:p>
        </p:txBody>
      </p:sp>
    </p:spTree>
    <p:extLst>
      <p:ext uri="{BB962C8B-B14F-4D97-AF65-F5344CB8AC3E}">
        <p14:creationId xmlns:p14="http://schemas.microsoft.com/office/powerpoint/2010/main" val="1854050953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D20A8-C1EA-2574-7397-14377E5B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E6ADE2-EF4E-015B-9D2C-790E985D7209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DB5F788-5A8E-5084-BE1A-42C86379872D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F05930-FAAD-04A9-C7EC-C3DA40DA6B3E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02C67EF-4245-01AB-79C8-046D47A5D91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765DBB8-3535-636C-ECAE-04B6C035944A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6F35242D-CA6B-5554-D763-2E5BB915DD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9087963"/>
              </p:ext>
            </p:extLst>
          </p:nvPr>
        </p:nvGraphicFramePr>
        <p:xfrm>
          <a:off x="4724400" y="1301688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4">
            <a:extLst>
              <a:ext uri="{FF2B5EF4-FFF2-40B4-BE49-F238E27FC236}">
                <a16:creationId xmlns:a16="http://schemas.microsoft.com/office/drawing/2014/main" id="{4C703D9A-2763-2DF8-6123-DAC5B922FF9A}"/>
              </a:ext>
            </a:extLst>
          </p:cNvPr>
          <p:cNvSpPr txBox="1"/>
          <p:nvPr/>
        </p:nvSpPr>
        <p:spPr>
          <a:xfrm>
            <a:off x="609600" y="2933700"/>
            <a:ext cx="4495800" cy="5343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60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Parameter Utama Naïve Bayes</a:t>
            </a:r>
          </a:p>
        </p:txBody>
      </p:sp>
    </p:spTree>
    <p:extLst>
      <p:ext uri="{BB962C8B-B14F-4D97-AF65-F5344CB8AC3E}">
        <p14:creationId xmlns:p14="http://schemas.microsoft.com/office/powerpoint/2010/main" val="910951287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32274-8B6D-7C5C-56D2-49FA183D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3EDEDD5-1225-5572-5E43-12B93824782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3DA8AEA-8A2F-6D90-AD56-086FD591C1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F275E4-FA1E-9D89-3325-AE875EA59FA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3D2AAC7-5E3E-B4CB-4BFA-4F311000793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0BC10F5-5BF9-6EC0-AC19-736CA54CA87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DF4FCDE-CFAE-7EA8-EEF9-BA8CCF1AA1C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E290331-4DA7-91FE-392B-C9D6F6C889AE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1417C7-20AB-82FD-F015-C3A7AAB28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329" y="1424722"/>
            <a:ext cx="11918754" cy="398527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8EAFF6A-E5B5-4FFD-A3DD-518A8B692B1E}"/>
              </a:ext>
            </a:extLst>
          </p:cNvPr>
          <p:cNvSpPr/>
          <p:nvPr/>
        </p:nvSpPr>
        <p:spPr>
          <a:xfrm>
            <a:off x="1322329" y="758899"/>
            <a:ext cx="15925800" cy="66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Contoh Data:</a:t>
            </a:r>
            <a:endParaRPr lang="en-US" sz="2800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15726DB-DC09-8F55-642B-28111F03D876}"/>
              </a:ext>
            </a:extLst>
          </p:cNvPr>
          <p:cNvSpPr txBox="1"/>
          <p:nvPr/>
        </p:nvSpPr>
        <p:spPr>
          <a:xfrm>
            <a:off x="951218" y="5630771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1. </a:t>
            </a:r>
            <a:r>
              <a:rPr lang="en-US" sz="3200" b="1" dirty="0" err="1">
                <a:solidFill>
                  <a:srgbClr val="08377C"/>
                </a:solidFill>
              </a:rPr>
              <a:t>Probabilitas</a:t>
            </a:r>
            <a:r>
              <a:rPr lang="en-US" sz="3200" b="1" dirty="0">
                <a:solidFill>
                  <a:srgbClr val="08377C"/>
                </a:solidFill>
              </a:rPr>
              <a:t> Prior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A7AF59-ECF2-BC90-0E54-57F409832D52}"/>
              </a:ext>
            </a:extLst>
          </p:cNvPr>
          <p:cNvSpPr/>
          <p:nvPr/>
        </p:nvSpPr>
        <p:spPr>
          <a:xfrm>
            <a:off x="1322329" y="6206856"/>
            <a:ext cx="15925800" cy="1137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0" dirty="0" err="1">
                <a:effectLst/>
                <a:latin typeface="Montserrat" panose="00000500000000000000" pitchFamily="2" charset="0"/>
              </a:rPr>
              <a:t>Probabilitas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 prior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adalah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probabilitas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awal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dari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setiap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sebelum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mempertimbangkan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fitur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yang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ada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. Ini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menggambarkan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seberapa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umum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atau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sering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suatu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muncul dalam data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pelatihan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. </a:t>
            </a:r>
            <a:endParaRPr lang="en-US" sz="2400" dirty="0">
              <a:latin typeface="Montserrat" panose="00000500000000000000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6902DE9-84C5-A00C-F636-9E61CB3D6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839" y="7507801"/>
            <a:ext cx="6698611" cy="15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17057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E878-CD15-E8C8-5C3A-ED94D58A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12EBD6-FD84-28FE-EAED-5C97CE4E00F2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EA5352A-EB3C-2838-D997-647F0F54CDD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66C085-7C23-3D26-1DE3-983B54BA6AC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1407423-BA64-C6BF-1C1D-183A362E6AEC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25619EB-96B7-A8D3-EF30-5820F6E5DA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0B2B7EA-9E1C-4BB0-3E24-DCE60A8F623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07D711E-F470-C5BB-ABB5-867A4B23E6D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23CCAB76-0459-91F9-9769-14B9CD2D0292}"/>
              </a:ext>
            </a:extLst>
          </p:cNvPr>
          <p:cNvSpPr txBox="1"/>
          <p:nvPr/>
        </p:nvSpPr>
        <p:spPr>
          <a:xfrm>
            <a:off x="1277237" y="1132145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2. </a:t>
            </a:r>
            <a:r>
              <a:rPr lang="en-US" sz="3200" b="1" dirty="0" err="1">
                <a:solidFill>
                  <a:srgbClr val="08377C"/>
                </a:solidFill>
              </a:rPr>
              <a:t>Probabilitas</a:t>
            </a:r>
            <a:r>
              <a:rPr lang="en-US" sz="3200" b="1" dirty="0">
                <a:solidFill>
                  <a:srgbClr val="08377C"/>
                </a:solidFill>
              </a:rPr>
              <a:t> Likelihood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258EDC-C7AD-C3E5-2B1A-D360BF4D6547}"/>
              </a:ext>
            </a:extLst>
          </p:cNvPr>
          <p:cNvSpPr/>
          <p:nvPr/>
        </p:nvSpPr>
        <p:spPr>
          <a:xfrm>
            <a:off x="1648348" y="1708230"/>
            <a:ext cx="15925800" cy="169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0" dirty="0" err="1">
                <a:effectLst/>
                <a:latin typeface="Montserrat" panose="00000500000000000000" pitchFamily="2" charset="0"/>
              </a:rPr>
              <a:t>Probabilitas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 likelihood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adalah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probabilitas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kemunculan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fitur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tertentu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dalam data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pelatihan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untuk setiap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. Ini menunjukkan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seberapa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sering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fitur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muncul dalam data yang sudah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diberi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label dengan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kelas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tertentu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.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A0F00B3F-AB41-CB3C-47AE-097951746CF3}"/>
              </a:ext>
            </a:extLst>
          </p:cNvPr>
          <p:cNvSpPr txBox="1"/>
          <p:nvPr/>
        </p:nvSpPr>
        <p:spPr>
          <a:xfrm>
            <a:off x="1271982" y="356344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3. Laplace Smoothing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3AABA7-50B7-82FE-4D67-0F3F770132C6}"/>
              </a:ext>
            </a:extLst>
          </p:cNvPr>
          <p:cNvSpPr/>
          <p:nvPr/>
        </p:nvSpPr>
        <p:spPr>
          <a:xfrm>
            <a:off x="1663565" y="3996254"/>
            <a:ext cx="15925800" cy="1137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Montserrat" panose="020B0604020202020204" charset="0"/>
              </a:rPr>
              <a:t>Laplace smoothing </a:t>
            </a:r>
            <a:r>
              <a:rPr lang="en-US" sz="2400" dirty="0">
                <a:latin typeface="Montserrat" panose="020B0604020202020204" charset="0"/>
              </a:rPr>
              <a:t>adalah </a:t>
            </a:r>
            <a:r>
              <a:rPr lang="en-US" sz="2400" dirty="0" err="1">
                <a:latin typeface="Montserrat" panose="020B0604020202020204" charset="0"/>
              </a:rPr>
              <a:t>teknik</a:t>
            </a:r>
            <a:r>
              <a:rPr lang="en-US" sz="2400" dirty="0">
                <a:latin typeface="Montserrat" panose="020B0604020202020204" charset="0"/>
              </a:rPr>
              <a:t> untuk </a:t>
            </a:r>
            <a:r>
              <a:rPr lang="en-US" sz="2400" dirty="0" err="1">
                <a:latin typeface="Montserrat" panose="020B0604020202020204" charset="0"/>
              </a:rPr>
              <a:t>mencegah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probabilitas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nol</a:t>
            </a:r>
            <a:r>
              <a:rPr lang="en-US" sz="2400" dirty="0">
                <a:latin typeface="Montserrat" panose="020B0604020202020204" charset="0"/>
              </a:rPr>
              <a:t> dengan </a:t>
            </a:r>
            <a:r>
              <a:rPr lang="en-US" sz="2400" dirty="0" err="1">
                <a:latin typeface="Montserrat" panose="020B0604020202020204" charset="0"/>
              </a:rPr>
              <a:t>menambahkan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nilai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kecil</a:t>
            </a:r>
            <a:r>
              <a:rPr lang="en-US" sz="2400" dirty="0">
                <a:latin typeface="Montserrat" panose="020B0604020202020204" charset="0"/>
              </a:rPr>
              <a:t> (biasanya 1) </a:t>
            </a:r>
            <a:r>
              <a:rPr lang="en-US" sz="2400" dirty="0" err="1">
                <a:latin typeface="Montserrat" panose="020B0604020202020204" charset="0"/>
              </a:rPr>
              <a:t>saat</a:t>
            </a:r>
            <a:r>
              <a:rPr lang="en-US" sz="2400" dirty="0">
                <a:latin typeface="Montserrat" panose="020B0604020202020204" charset="0"/>
              </a:rPr>
              <a:t> </a:t>
            </a:r>
            <a:r>
              <a:rPr lang="en-US" sz="2400" dirty="0" err="1">
                <a:latin typeface="Montserrat" panose="020B0604020202020204" charset="0"/>
              </a:rPr>
              <a:t>fitur</a:t>
            </a:r>
            <a:r>
              <a:rPr lang="en-US" sz="2400" dirty="0">
                <a:latin typeface="Montserrat" panose="020B0604020202020204" charset="0"/>
              </a:rPr>
              <a:t> tidak muncul dalam data </a:t>
            </a:r>
            <a:r>
              <a:rPr lang="en-US" sz="2400" dirty="0" err="1">
                <a:latin typeface="Montserrat" panose="020B0604020202020204" charset="0"/>
              </a:rPr>
              <a:t>pelatihan</a:t>
            </a:r>
            <a:r>
              <a:rPr lang="en-US" sz="2400" dirty="0">
                <a:latin typeface="Montserrat" panose="020B060402020202020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00F1A4-108C-F9E5-0C0D-E0305B4E6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565" y="5382654"/>
            <a:ext cx="12428878" cy="433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39326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9AF1-8C27-6F55-0716-FF264690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2B9B62-3D08-B483-CD3A-F321FF694F6D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7B01F10-5E00-09CA-E96B-C88DCB5C6912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69F8024-2E17-2098-9701-3410FD93A538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9C7766D-CFD7-7A0D-32E5-7A2EB28DF15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1B0BD0B-7A33-F7A5-ACFD-9C7B41E21672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9A45FAA-504E-06C4-9BBF-A1B1B42F4F01}"/>
              </a:ext>
            </a:extLst>
          </p:cNvPr>
          <p:cNvSpPr txBox="1"/>
          <p:nvPr/>
        </p:nvSpPr>
        <p:spPr>
          <a:xfrm>
            <a:off x="3385919" y="1257300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Naïve Bayes?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13C0DE0-DBC5-46A6-F09C-9D257894AC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60" b="7940"/>
          <a:stretch/>
        </p:blipFill>
        <p:spPr bwMode="auto">
          <a:xfrm>
            <a:off x="1524000" y="2628900"/>
            <a:ext cx="15240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6F2A2F-19B3-5F07-3073-D268B958389D}"/>
              </a:ext>
            </a:extLst>
          </p:cNvPr>
          <p:cNvSpPr txBox="1"/>
          <p:nvPr/>
        </p:nvSpPr>
        <p:spPr>
          <a:xfrm>
            <a:off x="1905000" y="8828267"/>
            <a:ext cx="137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Montserrat" panose="00000500000000000000" pitchFamily="2" charset="0"/>
              </a:rPr>
              <a:t>*Cara kerja Naïve Bayes </a:t>
            </a:r>
            <a:r>
              <a:rPr lang="en-US" i="1" dirty="0" err="1">
                <a:latin typeface="Montserrat" panose="00000500000000000000" pitchFamily="2" charset="0"/>
              </a:rPr>
              <a:t>bisa</a:t>
            </a:r>
            <a:r>
              <a:rPr lang="en-US" i="1" dirty="0">
                <a:latin typeface="Montserrat" panose="00000500000000000000" pitchFamily="2" charset="0"/>
              </a:rPr>
              <a:t> </a:t>
            </a:r>
            <a:r>
              <a:rPr lang="en-US" i="1" dirty="0" err="1">
                <a:latin typeface="Montserrat" panose="00000500000000000000" pitchFamily="2" charset="0"/>
              </a:rPr>
              <a:t>dilihat</a:t>
            </a:r>
            <a:r>
              <a:rPr lang="en-US" i="1" dirty="0">
                <a:latin typeface="Montserrat" panose="00000500000000000000" pitchFamily="2" charset="0"/>
              </a:rPr>
              <a:t> di file excel yang sudah </a:t>
            </a:r>
            <a:r>
              <a:rPr lang="en-US" i="1" dirty="0" err="1">
                <a:latin typeface="Montserrat" panose="00000500000000000000" pitchFamily="2" charset="0"/>
              </a:rPr>
              <a:t>dilampirkan</a:t>
            </a:r>
            <a:endParaRPr lang="en-US" i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781870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F7AF-0D97-CDFA-41F0-B0311D971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8D3F0292-040D-026E-A213-E725DB83507D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FEB20AE-8FFE-3459-7FA9-43C2941008C3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3E290C6-5038-FB8E-2A74-E3E59458C759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D52E2A90-3956-8A90-0FA4-DDDB6BC55F00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BE1BF31-95BD-EED6-EB8F-1316315AC645}"/>
              </a:ext>
            </a:extLst>
          </p:cNvPr>
          <p:cNvSpPr txBox="1"/>
          <p:nvPr/>
        </p:nvSpPr>
        <p:spPr>
          <a:xfrm>
            <a:off x="1311647" y="4214179"/>
            <a:ext cx="88229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Decision Tree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3BE4BE3-8E09-BC50-2595-2DE73D457685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Classification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4B2E7CA-FEC8-492A-5FD4-C6C7E87CB61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1BB221A6-8038-B017-81D8-33A90EDE06D6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3036454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3699-7AFC-625D-289B-666CC241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6334AD0-0F0C-7E52-4120-4F5566A7C6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55"/>
          <a:stretch/>
        </p:blipFill>
        <p:spPr>
          <a:xfrm>
            <a:off x="406165" y="2987040"/>
            <a:ext cx="8814035" cy="5948401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1979574C-D80D-4CB5-E5D4-989CD82E508A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5FD826-EA4A-6ED5-DB2D-AA0FD61BE302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CF22399-98AE-7C0A-3D95-887B9DF61ACD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F2C2521-36C7-90C9-8D5F-6FF4DA24917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A5B2F45-0E0B-B22F-79CA-D7E5BCDF776E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F937163-1BD5-DC30-0020-C4CD98315776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Decision Tree?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12A740-1D18-3211-7E16-1C3E15C306F5}"/>
              </a:ext>
            </a:extLst>
          </p:cNvPr>
          <p:cNvSpPr/>
          <p:nvPr/>
        </p:nvSpPr>
        <p:spPr>
          <a:xfrm>
            <a:off x="9138037" y="2971800"/>
            <a:ext cx="7168763" cy="6677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Decision Tree adalah model </a:t>
            </a:r>
            <a:r>
              <a:rPr lang="en-US" sz="2400" dirty="0" err="1">
                <a:latin typeface="Montserrat" panose="00000500000000000000" pitchFamily="2" charset="0"/>
              </a:rPr>
              <a:t>prediksi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berbentuk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struktur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pohon</a:t>
            </a:r>
            <a:r>
              <a:rPr lang="en-US" sz="2400" dirty="0">
                <a:latin typeface="Montserrat" panose="00000500000000000000" pitchFamily="2" charset="0"/>
              </a:rPr>
              <a:t> yang </a:t>
            </a:r>
            <a:r>
              <a:rPr lang="en-US" sz="2400" dirty="0" err="1">
                <a:latin typeface="Montserrat" panose="00000500000000000000" pitchFamily="2" charset="0"/>
              </a:rPr>
              <a:t>digunakan</a:t>
            </a:r>
            <a:r>
              <a:rPr lang="en-US" sz="2400" dirty="0">
                <a:latin typeface="Montserrat" panose="00000500000000000000" pitchFamily="2" charset="0"/>
              </a:rPr>
              <a:t> dalam machine learning dan data mining untuk tugas </a:t>
            </a:r>
            <a:r>
              <a:rPr lang="en-US" sz="2400" dirty="0" err="1">
                <a:latin typeface="Montserrat" panose="00000500000000000000" pitchFamily="2" charset="0"/>
              </a:rPr>
              <a:t>klasifikasi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maupun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regresi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 	</a:t>
            </a:r>
            <a:r>
              <a:rPr lang="en-US" sz="2400" dirty="0" err="1">
                <a:latin typeface="Montserrat" panose="00000500000000000000" pitchFamily="2" charset="0"/>
              </a:rPr>
              <a:t>Struktur</a:t>
            </a:r>
            <a:r>
              <a:rPr lang="en-US" sz="2400" dirty="0">
                <a:latin typeface="Montserrat" panose="00000500000000000000" pitchFamily="2" charset="0"/>
              </a:rPr>
              <a:t> Umum: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Root Node</a:t>
            </a:r>
            <a:r>
              <a:rPr lang="en-US" sz="2400" dirty="0">
                <a:latin typeface="Montserrat" panose="00000500000000000000" pitchFamily="2" charset="0"/>
              </a:rPr>
              <a:t>: </a:t>
            </a:r>
            <a:r>
              <a:rPr lang="en-US" sz="2400" dirty="0" err="1">
                <a:latin typeface="Montserrat" panose="00000500000000000000" pitchFamily="2" charset="0"/>
              </a:rPr>
              <a:t>Atribut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awal</a:t>
            </a:r>
            <a:r>
              <a:rPr lang="en-US" sz="2400" dirty="0">
                <a:latin typeface="Montserrat" panose="00000500000000000000" pitchFamily="2" charset="0"/>
              </a:rPr>
              <a:t> yang paling </a:t>
            </a:r>
            <a:r>
              <a:rPr lang="en-US" sz="2400" dirty="0" err="1">
                <a:latin typeface="Montserrat" panose="00000500000000000000" pitchFamily="2" charset="0"/>
              </a:rPr>
              <a:t>informatif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Internal Node</a:t>
            </a:r>
            <a:r>
              <a:rPr lang="en-US" sz="2400" dirty="0">
                <a:latin typeface="Montserrat" panose="00000500000000000000" pitchFamily="2" charset="0"/>
              </a:rPr>
              <a:t>: </a:t>
            </a:r>
            <a:r>
              <a:rPr lang="en-US" sz="2400" dirty="0" err="1">
                <a:latin typeface="Montserrat" panose="00000500000000000000" pitchFamily="2" charset="0"/>
              </a:rPr>
              <a:t>Atribut-atribut</a:t>
            </a:r>
            <a:r>
              <a:rPr lang="en-US" sz="2400" dirty="0">
                <a:latin typeface="Montserrat" panose="00000500000000000000" pitchFamily="2" charset="0"/>
              </a:rPr>
              <a:t> yang </a:t>
            </a:r>
            <a:r>
              <a:rPr lang="en-US" sz="2400" dirty="0" err="1">
                <a:latin typeface="Montserrat" panose="00000500000000000000" pitchFamily="2" charset="0"/>
              </a:rPr>
              <a:t>memecah</a:t>
            </a:r>
            <a:r>
              <a:rPr lang="en-US" sz="2400" dirty="0">
                <a:latin typeface="Montserrat" panose="00000500000000000000" pitchFamily="2" charset="0"/>
              </a:rPr>
              <a:t> data </a:t>
            </a:r>
            <a:r>
              <a:rPr lang="en-US" sz="2400" dirty="0" err="1">
                <a:latin typeface="Montserrat" panose="00000500000000000000" pitchFamily="2" charset="0"/>
              </a:rPr>
              <a:t>lebih</a:t>
            </a:r>
            <a:r>
              <a:rPr lang="en-US" sz="2400" dirty="0">
                <a:latin typeface="Montserrat" panose="00000500000000000000" pitchFamily="2" charset="0"/>
              </a:rPr>
              <a:t> lanjut.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Leaf Node</a:t>
            </a:r>
            <a:r>
              <a:rPr lang="en-US" sz="2400" dirty="0">
                <a:latin typeface="Montserrat" panose="00000500000000000000" pitchFamily="2" charset="0"/>
              </a:rPr>
              <a:t>: Hasil/</a:t>
            </a:r>
            <a:r>
              <a:rPr lang="en-US" sz="2400" dirty="0" err="1">
                <a:latin typeface="Montserrat" panose="00000500000000000000" pitchFamily="2" charset="0"/>
              </a:rPr>
              <a:t>keputusan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akhir</a:t>
            </a:r>
            <a:r>
              <a:rPr lang="en-US" sz="2400" dirty="0">
                <a:latin typeface="Montserrat" panose="00000500000000000000" pitchFamily="2" charset="0"/>
              </a:rPr>
              <a:t> (</a:t>
            </a:r>
            <a:r>
              <a:rPr lang="en-US" sz="2400" dirty="0" err="1">
                <a:latin typeface="Montserrat" panose="00000500000000000000" pitchFamily="2" charset="0"/>
              </a:rPr>
              <a:t>kelas</a:t>
            </a:r>
            <a:r>
              <a:rPr lang="en-US" sz="2400" dirty="0">
                <a:latin typeface="Montserrat" panose="00000500000000000000" pitchFamily="2" charset="0"/>
              </a:rPr>
              <a:t>).</a:t>
            </a:r>
          </a:p>
          <a:p>
            <a:pPr algn="just">
              <a:lnSpc>
                <a:spcPct val="150000"/>
              </a:lnSpc>
              <a:buNone/>
            </a:pPr>
            <a:endParaRPr lang="en-US" sz="2400" dirty="0">
              <a:latin typeface="Montserrat" panose="000005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FAA51B-2FB6-5A3C-21E1-A2E177CD29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8691580"/>
            <a:ext cx="2796782" cy="243861"/>
          </a:xfrm>
          <a:prstGeom prst="rect">
            <a:avLst/>
          </a:prstGeom>
        </p:spPr>
      </p:pic>
      <p:pic>
        <p:nvPicPr>
          <p:cNvPr id="14" name="Graphic 13" descr="Deciduous tree outline">
            <a:extLst>
              <a:ext uri="{FF2B5EF4-FFF2-40B4-BE49-F238E27FC236}">
                <a16:creationId xmlns:a16="http://schemas.microsoft.com/office/drawing/2014/main" id="{72903B2D-401A-332A-1125-D02D5A72DF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8037" y="52762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13218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4E53-554A-0218-62D0-386EB301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54B333-F952-282F-500E-CE7C80F2C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55"/>
          <a:stretch/>
        </p:blipFill>
        <p:spPr>
          <a:xfrm>
            <a:off x="543325" y="2987040"/>
            <a:ext cx="8814035" cy="5948401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A0F3194A-416E-2DF4-2864-D6650C6B24A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EBE8EE-E464-2C5F-10A8-65B883BEE1E7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B9C9523-CE1A-6DB9-83B7-B3E20C417A30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C4A2176-26FA-E03A-1E21-4D092A6F8FE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B368DE2-EE27-6C3F-DDCD-E814858E2F30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30CACCA-4720-7524-EBDB-F82A3ABB8D79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Decision Tree?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632F57-B45D-0959-8946-66987986E100}"/>
              </a:ext>
            </a:extLst>
          </p:cNvPr>
          <p:cNvSpPr/>
          <p:nvPr/>
        </p:nvSpPr>
        <p:spPr>
          <a:xfrm>
            <a:off x="9144000" y="3086100"/>
            <a:ext cx="7168763" cy="5015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Model ini </a:t>
            </a:r>
            <a:r>
              <a:rPr lang="en-US" sz="2400" dirty="0" err="1">
                <a:latin typeface="Montserrat" panose="00000500000000000000" pitchFamily="2" charset="0"/>
              </a:rPr>
              <a:t>bekerja</a:t>
            </a:r>
            <a:r>
              <a:rPr lang="en-US" sz="2400" dirty="0">
                <a:latin typeface="Montserrat" panose="00000500000000000000" pitchFamily="2" charset="0"/>
              </a:rPr>
              <a:t> dengan </a:t>
            </a:r>
            <a:r>
              <a:rPr lang="en-US" sz="2400" dirty="0" err="1">
                <a:latin typeface="Montserrat" panose="00000500000000000000" pitchFamily="2" charset="0"/>
              </a:rPr>
              <a:t>cara</a:t>
            </a:r>
            <a:r>
              <a:rPr lang="en-US" sz="2400" dirty="0">
                <a:latin typeface="Montserrat" panose="00000500000000000000" pitchFamily="2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>
                <a:latin typeface="Montserrat" panose="00000500000000000000" pitchFamily="2" charset="0"/>
              </a:rPr>
              <a:t>Memecah</a:t>
            </a:r>
            <a:r>
              <a:rPr lang="en-US" sz="2400" dirty="0">
                <a:latin typeface="Montserrat" panose="00000500000000000000" pitchFamily="2" charset="0"/>
              </a:rPr>
              <a:t> dataset </a:t>
            </a:r>
            <a:r>
              <a:rPr lang="en-US" sz="2400" dirty="0" err="1">
                <a:latin typeface="Montserrat" panose="00000500000000000000" pitchFamily="2" charset="0"/>
              </a:rPr>
              <a:t>menjadi</a:t>
            </a:r>
            <a:r>
              <a:rPr lang="en-US" sz="2400" dirty="0">
                <a:latin typeface="Montserrat" panose="00000500000000000000" pitchFamily="2" charset="0"/>
              </a:rPr>
              <a:t> subset </a:t>
            </a:r>
            <a:r>
              <a:rPr lang="en-US" sz="2400" dirty="0" err="1">
                <a:latin typeface="Montserrat" panose="00000500000000000000" pitchFamily="2" charset="0"/>
              </a:rPr>
              <a:t>berdasarkan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atribut</a:t>
            </a:r>
            <a:r>
              <a:rPr lang="en-US" sz="2400" dirty="0">
                <a:latin typeface="Montserrat" panose="00000500000000000000" pitchFamily="2" charset="0"/>
              </a:rPr>
              <a:t> (</a:t>
            </a:r>
            <a:r>
              <a:rPr lang="en-US" sz="2400" dirty="0" err="1">
                <a:latin typeface="Montserrat" panose="00000500000000000000" pitchFamily="2" charset="0"/>
              </a:rPr>
              <a:t>fitur</a:t>
            </a:r>
            <a:r>
              <a:rPr lang="en-US" sz="2400" dirty="0">
                <a:latin typeface="Montserrat" panose="00000500000000000000" pitchFamily="2" charset="0"/>
              </a:rPr>
              <a:t>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Montserrat" panose="00000500000000000000" pitchFamily="2" charset="0"/>
              </a:rPr>
              <a:t>Setiap node dalam </a:t>
            </a:r>
            <a:r>
              <a:rPr lang="en-US" sz="2400" dirty="0" err="1">
                <a:latin typeface="Montserrat" panose="00000500000000000000" pitchFamily="2" charset="0"/>
              </a:rPr>
              <a:t>pohon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mewakili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atribut</a:t>
            </a:r>
            <a:r>
              <a:rPr lang="en-US" sz="2400" dirty="0">
                <a:latin typeface="Montserrat" panose="00000500000000000000" pitchFamily="2" charset="0"/>
              </a:rPr>
              <a:t>, dan </a:t>
            </a:r>
            <a:r>
              <a:rPr lang="en-US" sz="2400" dirty="0" err="1">
                <a:latin typeface="Montserrat" panose="00000500000000000000" pitchFamily="2" charset="0"/>
              </a:rPr>
              <a:t>cabang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mewakili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kondisi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terhadap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atribut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tersebut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Montserrat" panose="00000500000000000000" pitchFamily="2" charset="0"/>
              </a:rPr>
              <a:t>Proses </a:t>
            </a:r>
            <a:r>
              <a:rPr lang="en-US" sz="2400" dirty="0" err="1">
                <a:latin typeface="Montserrat" panose="00000500000000000000" pitchFamily="2" charset="0"/>
              </a:rPr>
              <a:t>pemisahan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terus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berlanjut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sampai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mencapai</a:t>
            </a:r>
            <a:r>
              <a:rPr lang="en-US" sz="2400" dirty="0">
                <a:latin typeface="Montserrat" panose="00000500000000000000" pitchFamily="2" charset="0"/>
              </a:rPr>
              <a:t> leaf node, </a:t>
            </a:r>
            <a:r>
              <a:rPr lang="en-US" sz="2400" dirty="0" err="1">
                <a:latin typeface="Montserrat" panose="00000500000000000000" pitchFamily="2" charset="0"/>
              </a:rPr>
              <a:t>yaitu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keputusan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akhir</a:t>
            </a:r>
            <a:r>
              <a:rPr lang="en-US" sz="2400" dirty="0">
                <a:latin typeface="Montserrat" panose="00000500000000000000" pitchFamily="2" charset="0"/>
              </a:rPr>
              <a:t> (</a:t>
            </a:r>
            <a:r>
              <a:rPr lang="en-US" sz="2400" dirty="0" err="1">
                <a:latin typeface="Montserrat" panose="00000500000000000000" pitchFamily="2" charset="0"/>
              </a:rPr>
              <a:t>misalnya</a:t>
            </a:r>
            <a:r>
              <a:rPr lang="en-US" sz="2400" dirty="0">
                <a:latin typeface="Montserrat" panose="00000500000000000000" pitchFamily="2" charset="0"/>
              </a:rPr>
              <a:t>: "Yes" </a:t>
            </a:r>
            <a:r>
              <a:rPr lang="en-US" sz="2400" dirty="0" err="1">
                <a:latin typeface="Montserrat" panose="00000500000000000000" pitchFamily="2" charset="0"/>
              </a:rPr>
              <a:t>atau</a:t>
            </a:r>
            <a:r>
              <a:rPr lang="en-US" sz="2400" dirty="0">
                <a:latin typeface="Montserrat" panose="00000500000000000000" pitchFamily="2" charset="0"/>
              </a:rPr>
              <a:t> "No").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D5B59F-D6B1-828D-0113-6955EA45BF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8691580"/>
            <a:ext cx="2796782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01032"/>
      </p:ext>
    </p:extLst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73903-DB91-5518-0601-FE38E93B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FF0070-12B9-B596-932C-6188D4372A5C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EB453AC-B931-200F-DFE1-09759ABF2AF2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7348F55-8659-2789-9043-A3DE83014102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4E1DB49-9BC3-1A29-A55A-A14123142A4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7B05178-EC0F-7B51-DB33-9900492177F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F7D000D-9B33-7887-0027-0656BC4FCAC3}"/>
              </a:ext>
            </a:extLst>
          </p:cNvPr>
          <p:cNvGraphicFramePr/>
          <p:nvPr/>
        </p:nvGraphicFramePr>
        <p:xfrm>
          <a:off x="4724400" y="1301688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4">
            <a:extLst>
              <a:ext uri="{FF2B5EF4-FFF2-40B4-BE49-F238E27FC236}">
                <a16:creationId xmlns:a16="http://schemas.microsoft.com/office/drawing/2014/main" id="{A9FC25E7-CC19-30DF-C52F-BA16EA6A79AD}"/>
              </a:ext>
            </a:extLst>
          </p:cNvPr>
          <p:cNvSpPr txBox="1"/>
          <p:nvPr/>
        </p:nvSpPr>
        <p:spPr>
          <a:xfrm>
            <a:off x="914400" y="2961343"/>
            <a:ext cx="3962400" cy="4808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5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Parameter Utama Decision Tree</a:t>
            </a:r>
          </a:p>
        </p:txBody>
      </p:sp>
    </p:spTree>
    <p:extLst>
      <p:ext uri="{BB962C8B-B14F-4D97-AF65-F5344CB8AC3E}">
        <p14:creationId xmlns:p14="http://schemas.microsoft.com/office/powerpoint/2010/main" val="931830938"/>
      </p:ext>
    </p:extLst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2842C-75FD-5C85-0F37-93427A6DF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BA514D-1BE9-3351-1B72-7D0233BB77B3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7B6D979-5F37-BB8C-1903-FE0D075B52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43B36C5-FCA6-40A5-0ED8-4A9E15D73CD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D0088A6-59B3-6A81-B89C-6AA797E9FE20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47D8BF5-EF64-684E-279C-1C12773FD2C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9673E13-6450-8649-C516-54C68C6CA1A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C32C17E-36B8-4F45-C2F5-91E4D7959DD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1CB45A2-F22B-351A-73CF-131EC879E29C}"/>
              </a:ext>
            </a:extLst>
          </p:cNvPr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 err="1">
                <a:solidFill>
                  <a:srgbClr val="08377C"/>
                </a:solidFill>
              </a:rPr>
              <a:t>Kriteria</a:t>
            </a:r>
            <a:r>
              <a:rPr lang="en-US" sz="3200" b="1" dirty="0">
                <a:solidFill>
                  <a:srgbClr val="08377C"/>
                </a:solidFill>
              </a:rPr>
              <a:t> (criterion), default = </a:t>
            </a:r>
            <a:r>
              <a:rPr lang="en-US" sz="3200" b="1" dirty="0" err="1">
                <a:solidFill>
                  <a:srgbClr val="08377C"/>
                </a:solidFill>
              </a:rPr>
              <a:t>gini</a:t>
            </a:r>
            <a:r>
              <a:rPr lang="en-US" sz="3200" b="1" dirty="0">
                <a:solidFill>
                  <a:srgbClr val="08377C"/>
                </a:solidFill>
              </a:rPr>
              <a:t> </a:t>
            </a:r>
            <a:r>
              <a:rPr lang="en-US" sz="3200" dirty="0"/>
              <a:t>🌳</a:t>
            </a:r>
            <a:endParaRPr lang="en-US" sz="3200" b="1" dirty="0">
              <a:solidFill>
                <a:srgbClr val="08377C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15205-4816-8452-DB31-5FD4AE4D037B}"/>
              </a:ext>
            </a:extLst>
          </p:cNvPr>
          <p:cNvSpPr/>
          <p:nvPr/>
        </p:nvSpPr>
        <p:spPr>
          <a:xfrm>
            <a:off x="1143001" y="2045156"/>
            <a:ext cx="11582400" cy="9068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20B0604020202020204" charset="0"/>
              </a:rPr>
              <a:t>Metode untuk </a:t>
            </a:r>
            <a:r>
              <a:rPr lang="en-US" sz="2800" dirty="0" err="1">
                <a:latin typeface="Montserrat" panose="020B0604020202020204" charset="0"/>
              </a:rPr>
              <a:t>mengukur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kualitas</a:t>
            </a:r>
            <a:r>
              <a:rPr lang="en-US" sz="2800" dirty="0">
                <a:latin typeface="Montserrat" panose="020B0604020202020204" charset="0"/>
              </a:rPr>
              <a:t> split di setiap node.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20B0604020202020204" charset="0"/>
              </a:rPr>
              <a:t>Ada dua jenis “</a:t>
            </a:r>
            <a:r>
              <a:rPr lang="en-US" sz="2800" dirty="0" err="1">
                <a:latin typeface="Montserrat" panose="020B0604020202020204" charset="0"/>
              </a:rPr>
              <a:t>kriteria</a:t>
            </a:r>
            <a:r>
              <a:rPr lang="en-US" sz="2800" dirty="0">
                <a:latin typeface="Montserrat" panose="020B0604020202020204" charset="0"/>
              </a:rPr>
              <a:t>” yang </a:t>
            </a:r>
            <a:r>
              <a:rPr lang="en-US" sz="2800" dirty="0" err="1">
                <a:latin typeface="Montserrat" panose="020B0604020202020204" charset="0"/>
              </a:rPr>
              <a:t>umum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digunakan</a:t>
            </a:r>
            <a:r>
              <a:rPr lang="en-US" sz="2800" dirty="0">
                <a:latin typeface="Montserrat" panose="020B0604020202020204" charset="0"/>
              </a:rPr>
              <a:t> 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20B0604020202020204" charset="0"/>
              </a:rPr>
              <a:t>Gini</a:t>
            </a:r>
            <a:r>
              <a:rPr lang="en-US" sz="2800" dirty="0"/>
              <a:t> </a:t>
            </a:r>
          </a:p>
          <a:p>
            <a:pPr marL="517525" algn="just">
              <a:lnSpc>
                <a:spcPct val="150000"/>
              </a:lnSpc>
            </a:pPr>
            <a:r>
              <a:rPr lang="en-US" sz="2800" dirty="0" err="1">
                <a:latin typeface="Montserrat" panose="00000500000000000000" pitchFamily="2" charset="0"/>
              </a:rPr>
              <a:t>meminimalkan</a:t>
            </a:r>
            <a:r>
              <a:rPr lang="en-US" sz="2800" dirty="0">
                <a:latin typeface="Montserrat" panose="00000500000000000000" pitchFamily="2" charset="0"/>
              </a:rPr>
              <a:t> kemungkinan </a:t>
            </a:r>
            <a:r>
              <a:rPr lang="en-US" sz="2800" dirty="0" err="1">
                <a:latin typeface="Montserrat" panose="00000500000000000000" pitchFamily="2" charset="0"/>
              </a:rPr>
              <a:t>kesalahan</a:t>
            </a:r>
            <a:r>
              <a:rPr lang="en-US" sz="2800" dirty="0">
                <a:latin typeface="Montserrat" panose="00000500000000000000" pitchFamily="2" charset="0"/>
              </a:rPr>
              <a:t> dalam </a:t>
            </a:r>
            <a:r>
              <a:rPr lang="en-US" sz="2800" dirty="0" err="1">
                <a:latin typeface="Montserrat" panose="00000500000000000000" pitchFamily="2" charset="0"/>
              </a:rPr>
              <a:t>klasifikasi</a:t>
            </a:r>
            <a:r>
              <a:rPr lang="en-US" sz="2800" dirty="0">
                <a:latin typeface="Montserrat" panose="00000500000000000000" pitchFamily="2" charset="0"/>
              </a:rPr>
              <a:t> pada setiap node </a:t>
            </a:r>
            <a:r>
              <a:rPr lang="en-US" sz="2800" dirty="0" err="1">
                <a:latin typeface="Montserrat" panose="00000500000000000000" pitchFamily="2" charset="0"/>
              </a:rPr>
              <a:t>setelah</a:t>
            </a:r>
            <a:r>
              <a:rPr lang="en-US" sz="2800" dirty="0">
                <a:latin typeface="Montserrat" panose="00000500000000000000" pitchFamily="2" charset="0"/>
              </a:rPr>
              <a:t> data </a:t>
            </a:r>
            <a:r>
              <a:rPr lang="en-US" sz="2800" dirty="0" err="1">
                <a:latin typeface="Montserrat" panose="00000500000000000000" pitchFamily="2" charset="0"/>
              </a:rPr>
              <a:t>dibagi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 marL="517525"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Entropy</a:t>
            </a:r>
          </a:p>
          <a:p>
            <a:pPr marL="519113"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Dalam algoritma ID3 dan C4.5, Entropy </a:t>
            </a:r>
            <a:r>
              <a:rPr lang="en-US" sz="2800" dirty="0" err="1">
                <a:latin typeface="Montserrat" panose="00000500000000000000" pitchFamily="2" charset="0"/>
              </a:rPr>
              <a:t>digunakan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menentukan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cara</a:t>
            </a:r>
            <a:r>
              <a:rPr lang="en-US" sz="2800" dirty="0">
                <a:latin typeface="Montserrat" panose="00000500000000000000" pitchFamily="2" charset="0"/>
              </a:rPr>
              <a:t> terbaik </a:t>
            </a:r>
            <a:r>
              <a:rPr lang="en-US" sz="2800" dirty="0" err="1">
                <a:latin typeface="Montserrat" panose="00000500000000000000" pitchFamily="2" charset="0"/>
              </a:rPr>
              <a:t>membagi</a:t>
            </a:r>
            <a:r>
              <a:rPr lang="en-US" sz="2800" dirty="0">
                <a:latin typeface="Montserrat" panose="00000500000000000000" pitchFamily="2" charset="0"/>
              </a:rPr>
              <a:t> data dengan </a:t>
            </a:r>
            <a:r>
              <a:rPr lang="en-US" sz="2800" b="1" dirty="0" err="1">
                <a:latin typeface="Montserrat" panose="00000500000000000000" pitchFamily="2" charset="0"/>
              </a:rPr>
              <a:t>mengurangi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ketidakpastian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sebanyak</a:t>
            </a:r>
            <a:r>
              <a:rPr lang="en-US" sz="2800" b="1" dirty="0">
                <a:latin typeface="Montserrat" panose="00000500000000000000" pitchFamily="2" charset="0"/>
              </a:rPr>
              <a:t> mungkin</a:t>
            </a:r>
            <a:r>
              <a:rPr lang="en-US" sz="2800" dirty="0">
                <a:latin typeface="Montserrat" panose="00000500000000000000" pitchFamily="2" charset="0"/>
              </a:rPr>
              <a:t>. Jadi, algoritma </a:t>
            </a:r>
            <a:r>
              <a:rPr lang="en-US" sz="2800" dirty="0" err="1">
                <a:latin typeface="Montserrat" panose="00000500000000000000" pitchFamily="2" charset="0"/>
              </a:rPr>
              <a:t>akan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memilih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pembagian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membuat</a:t>
            </a:r>
            <a:r>
              <a:rPr lang="en-US" sz="2800" dirty="0">
                <a:latin typeface="Montserrat" panose="00000500000000000000" pitchFamily="2" charset="0"/>
              </a:rPr>
              <a:t> data pada node </a:t>
            </a:r>
            <a:r>
              <a:rPr lang="en-US" sz="2800" dirty="0" err="1">
                <a:latin typeface="Montserrat" panose="00000500000000000000" pitchFamily="2" charset="0"/>
              </a:rPr>
              <a:t>lebih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teratur</a:t>
            </a:r>
            <a:r>
              <a:rPr lang="en-US" sz="2800" dirty="0">
                <a:latin typeface="Montserrat" panose="00000500000000000000" pitchFamily="2" charset="0"/>
              </a:rPr>
              <a:t> dan mudah </a:t>
            </a:r>
            <a:r>
              <a:rPr lang="en-US" sz="2800" dirty="0" err="1">
                <a:latin typeface="Montserrat" panose="00000500000000000000" pitchFamily="2" charset="0"/>
              </a:rPr>
              <a:t>diprediksi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 marL="519113"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 marL="517525" algn="just">
              <a:lnSpc>
                <a:spcPct val="150000"/>
              </a:lnSpc>
            </a:pPr>
            <a:endParaRPr lang="en-US" sz="2800" dirty="0">
              <a:latin typeface="Montserrat" panose="020B060402020202020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533781-62CC-000E-70CB-EF17941D1F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73" r="14546"/>
          <a:stretch/>
        </p:blipFill>
        <p:spPr>
          <a:xfrm>
            <a:off x="13411200" y="2584837"/>
            <a:ext cx="4423462" cy="28181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4D83FE-FC0E-1A13-FC68-597EBEC97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200" y="7011382"/>
            <a:ext cx="4343776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1221"/>
      </p:ext>
    </p:extLst>
  </p:cSld>
  <p:clrMapOvr>
    <a:masterClrMapping/>
  </p:clrMapOvr>
  <p:transition spd="slow">
    <p:cover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29BF4-6BAE-22E9-9962-C7DFF5963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0EBF55-92B3-CD34-3BA4-9D96DF2FAA6E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5F475B-9CAE-09D8-27B2-B005851674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8192220-721D-704F-79A6-F316A357028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3B201DE-76A8-922E-7DFF-52C03CB9818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885FD99-204E-7D14-4EEF-4B9B09B5404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AF47C0A-855C-DD14-2E69-A5B61FED4AC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606ABCA-409F-251F-21DE-68CD9B09C88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56A64E0-74D7-B4A3-1BAD-EF98E5EA2E09}"/>
              </a:ext>
            </a:extLst>
          </p:cNvPr>
          <p:cNvSpPr txBox="1"/>
          <p:nvPr/>
        </p:nvSpPr>
        <p:spPr>
          <a:xfrm>
            <a:off x="751417" y="1326523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2. </a:t>
            </a:r>
            <a:r>
              <a:rPr lang="en-US" sz="3200" b="1" dirty="0" err="1">
                <a:solidFill>
                  <a:srgbClr val="08377C"/>
                </a:solidFill>
              </a:rPr>
              <a:t>Maksimal</a:t>
            </a:r>
            <a:r>
              <a:rPr lang="en-US" sz="3200" b="1" dirty="0">
                <a:solidFill>
                  <a:srgbClr val="08377C"/>
                </a:solidFill>
              </a:rPr>
              <a:t> </a:t>
            </a:r>
            <a:r>
              <a:rPr lang="en-US" sz="3200" b="1" dirty="0" err="1">
                <a:solidFill>
                  <a:srgbClr val="08377C"/>
                </a:solidFill>
              </a:rPr>
              <a:t>Kedalaman</a:t>
            </a:r>
            <a:r>
              <a:rPr lang="en-US" sz="3200" b="1" dirty="0">
                <a:solidFill>
                  <a:srgbClr val="08377C"/>
                </a:solidFill>
              </a:rPr>
              <a:t> (</a:t>
            </a:r>
            <a:r>
              <a:rPr lang="en-US" sz="3200" b="1" dirty="0" err="1">
                <a:solidFill>
                  <a:srgbClr val="08377C"/>
                </a:solidFill>
              </a:rPr>
              <a:t>max_depth</a:t>
            </a:r>
            <a:r>
              <a:rPr lang="en-US" sz="3200" b="1" dirty="0">
                <a:solidFill>
                  <a:srgbClr val="08377C"/>
                </a:solidFill>
              </a:rPr>
              <a:t>), default = None </a:t>
            </a:r>
            <a:r>
              <a:rPr lang="en-US" sz="3200" dirty="0"/>
              <a:t>🌲</a:t>
            </a:r>
            <a:endParaRPr lang="en-US" sz="3200" b="1" dirty="0">
              <a:solidFill>
                <a:srgbClr val="08377C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FFBD0F-8429-D7F6-E4CC-11C67F81D5E9}"/>
              </a:ext>
            </a:extLst>
          </p:cNvPr>
          <p:cNvSpPr/>
          <p:nvPr/>
        </p:nvSpPr>
        <p:spPr>
          <a:xfrm>
            <a:off x="1143000" y="2045156"/>
            <a:ext cx="15849599" cy="5190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Batas </a:t>
            </a:r>
            <a:r>
              <a:rPr lang="en-US" sz="2800" dirty="0" err="1">
                <a:latin typeface="Montserrat" panose="00000500000000000000" pitchFamily="2" charset="0"/>
              </a:rPr>
              <a:t>kedalaman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maksimum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pohon</a:t>
            </a:r>
            <a:r>
              <a:rPr lang="en-US" sz="2800" dirty="0">
                <a:latin typeface="Montserrat" panose="00000500000000000000" pitchFamily="2" charset="0"/>
              </a:rPr>
              <a:t>. </a:t>
            </a:r>
            <a:r>
              <a:rPr lang="en-US" sz="2800" dirty="0" err="1">
                <a:latin typeface="Montserrat" panose="00000500000000000000" pitchFamily="2" charset="0"/>
              </a:rPr>
              <a:t>Digunakan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menghindari</a:t>
            </a:r>
            <a:r>
              <a:rPr lang="en-US" sz="2800" dirty="0">
                <a:latin typeface="Montserrat" panose="00000500000000000000" pitchFamily="2" charset="0"/>
              </a:rPr>
              <a:t> overfitting. 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Jika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nilai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ini ditetapkan,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pohon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akan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berhenti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membelah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data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lebih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lanjut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setelah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mencapai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kedalaman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yang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ditentukan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Default: None</a:t>
            </a:r>
          </a:p>
          <a:p>
            <a:pPr algn="just">
              <a:lnSpc>
                <a:spcPct val="150000"/>
              </a:lnSpc>
            </a:pPr>
            <a:r>
              <a:rPr lang="en-US" sz="2800" dirty="0" err="1">
                <a:latin typeface="Montserrat" panose="00000500000000000000" pitchFamily="2" charset="0"/>
              </a:rPr>
              <a:t>Artinya</a:t>
            </a:r>
            <a:r>
              <a:rPr lang="en-US" sz="2800" dirty="0">
                <a:latin typeface="Montserrat" panose="00000500000000000000" pitchFamily="2" charset="0"/>
              </a:rPr>
              <a:t> : </a:t>
            </a:r>
            <a:r>
              <a:rPr lang="en-US" sz="2800" dirty="0" err="1">
                <a:latin typeface="Montserrat" panose="00000500000000000000" pitchFamily="2" charset="0"/>
              </a:rPr>
              <a:t>pohon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tumbuh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sampai</a:t>
            </a:r>
            <a:r>
              <a:rPr lang="en-US" sz="2800" dirty="0">
                <a:latin typeface="Montserrat" panose="00000500000000000000" pitchFamily="2" charset="0"/>
              </a:rPr>
              <a:t> semua </a:t>
            </a:r>
            <a:r>
              <a:rPr lang="en-US" sz="2800" dirty="0" err="1">
                <a:latin typeface="Montserrat" panose="00000500000000000000" pitchFamily="2" charset="0"/>
              </a:rPr>
              <a:t>daun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murni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atau</a:t>
            </a:r>
            <a:r>
              <a:rPr lang="en-US" sz="2800" dirty="0">
                <a:latin typeface="Montserrat" panose="00000500000000000000" pitchFamily="2" charset="0"/>
              </a:rPr>
              <a:t> jumlah </a:t>
            </a:r>
            <a:r>
              <a:rPr lang="en-US" sz="2800" dirty="0" err="1">
                <a:latin typeface="Montserrat" panose="00000500000000000000" pitchFamily="2" charset="0"/>
              </a:rPr>
              <a:t>sampel</a:t>
            </a:r>
            <a:r>
              <a:rPr lang="en-US" sz="2800" dirty="0">
                <a:latin typeface="Montserrat" panose="00000500000000000000" pitchFamily="2" charset="0"/>
              </a:rPr>
              <a:t> terlalu </a:t>
            </a:r>
            <a:r>
              <a:rPr lang="en-US" sz="2800" dirty="0" err="1">
                <a:latin typeface="Montserrat" panose="00000500000000000000" pitchFamily="2" charset="0"/>
              </a:rPr>
              <a:t>kecil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dibagi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lebih</a:t>
            </a:r>
            <a:r>
              <a:rPr lang="en-US" sz="2800" dirty="0">
                <a:latin typeface="Montserrat" panose="00000500000000000000" pitchFamily="2" charset="0"/>
              </a:rPr>
              <a:t> lanjut.</a:t>
            </a:r>
          </a:p>
          <a:p>
            <a:pPr marL="517525" algn="just">
              <a:lnSpc>
                <a:spcPct val="150000"/>
              </a:lnSpc>
            </a:pPr>
            <a:endParaRPr lang="en-US" sz="2800" dirty="0">
              <a:latin typeface="Montserrat" panose="020B0604020202020204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3FE9CA01-2FBB-4FE8-BD40-A12CCEA01E5B}"/>
              </a:ext>
            </a:extLst>
          </p:cNvPr>
          <p:cNvSpPr txBox="1"/>
          <p:nvPr/>
        </p:nvSpPr>
        <p:spPr>
          <a:xfrm>
            <a:off x="751417" y="7048500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3. </a:t>
            </a:r>
            <a:r>
              <a:rPr lang="en-US" sz="3200" b="1" dirty="0" err="1">
                <a:solidFill>
                  <a:srgbClr val="08377C"/>
                </a:solidFill>
              </a:rPr>
              <a:t>min_samples_split</a:t>
            </a:r>
            <a:r>
              <a:rPr lang="en-US" sz="3200" b="1" dirty="0">
                <a:solidFill>
                  <a:srgbClr val="08377C"/>
                </a:solidFill>
              </a:rPr>
              <a:t>, default = 2 </a:t>
            </a:r>
            <a:r>
              <a:rPr lang="en-US" sz="3200" dirty="0"/>
              <a:t>🌱</a:t>
            </a:r>
            <a:endParaRPr lang="en-US" sz="3200" b="1" dirty="0">
              <a:solidFill>
                <a:srgbClr val="08377C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4A8559-96EB-A330-1193-6CAB659294C6}"/>
              </a:ext>
            </a:extLst>
          </p:cNvPr>
          <p:cNvSpPr/>
          <p:nvPr/>
        </p:nvSpPr>
        <p:spPr>
          <a:xfrm>
            <a:off x="1143000" y="7767133"/>
            <a:ext cx="15849599" cy="1958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Jumlah minimum </a:t>
            </a:r>
            <a:r>
              <a:rPr lang="en-US" sz="2800" dirty="0" err="1">
                <a:latin typeface="Montserrat" panose="00000500000000000000" pitchFamily="2" charset="0"/>
              </a:rPr>
              <a:t>sampel</a:t>
            </a:r>
            <a:r>
              <a:rPr lang="en-US" sz="2800" dirty="0">
                <a:latin typeface="Montserrat" panose="00000500000000000000" pitchFamily="2" charset="0"/>
              </a:rPr>
              <a:t> dalam sebuah node agar node </a:t>
            </a:r>
            <a:r>
              <a:rPr lang="en-US" sz="2800" dirty="0" err="1">
                <a:latin typeface="Montserrat" panose="00000500000000000000" pitchFamily="2" charset="0"/>
              </a:rPr>
              <a:t>tersebut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bisa</a:t>
            </a:r>
            <a:r>
              <a:rPr lang="en-US" sz="2800" dirty="0">
                <a:latin typeface="Montserrat" panose="00000500000000000000" pitchFamily="2" charset="0"/>
              </a:rPr>
              <a:t> di-split.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Default: 2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(Node dengan &lt;2 </a:t>
            </a:r>
            <a:r>
              <a:rPr lang="en-US" sz="2800" dirty="0" err="1">
                <a:latin typeface="Montserrat" panose="00000500000000000000" pitchFamily="2" charset="0"/>
              </a:rPr>
              <a:t>sampel</a:t>
            </a:r>
            <a:r>
              <a:rPr lang="en-US" sz="2800" dirty="0">
                <a:latin typeface="Montserrat" panose="00000500000000000000" pitchFamily="2" charset="0"/>
              </a:rPr>
              <a:t> tidak </a:t>
            </a:r>
            <a:r>
              <a:rPr lang="en-US" sz="2800" dirty="0" err="1">
                <a:latin typeface="Montserrat" panose="00000500000000000000" pitchFamily="2" charset="0"/>
              </a:rPr>
              <a:t>akan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dibagi</a:t>
            </a:r>
            <a:r>
              <a:rPr lang="en-US" sz="2800" dirty="0">
                <a:latin typeface="Montserrat" panose="00000500000000000000" pitchFamily="2" charset="0"/>
              </a:rPr>
              <a:t> lagi.</a:t>
            </a:r>
          </a:p>
        </p:txBody>
      </p:sp>
    </p:spTree>
    <p:extLst>
      <p:ext uri="{BB962C8B-B14F-4D97-AF65-F5344CB8AC3E}">
        <p14:creationId xmlns:p14="http://schemas.microsoft.com/office/powerpoint/2010/main" val="3274198982"/>
      </p:ext>
    </p:extLst>
  </p:cSld>
  <p:clrMapOvr>
    <a:masterClrMapping/>
  </p:clrMapOvr>
  <p:transition spd="slow">
    <p:cover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389A8-8B76-F3E7-D4A5-1C11315BB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B47CFB0-EB3F-F068-98AC-BBB576034555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B5A487-2C1C-EEAC-7C8E-FEF353F908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3985E5-64E4-D0BE-D5F7-35E696B40AC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562C829-0C82-9350-A180-0385BA2DA3F8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6072276-6392-D4AA-080C-B217F2E89B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B99374C-3080-96E7-BBCB-C403B516D8D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333ED1F-8DD7-7C17-D6E1-B4D4F972EA9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C15AEDB7-1F92-7B10-3B6C-9C370FE1F162}"/>
              </a:ext>
            </a:extLst>
          </p:cNvPr>
          <p:cNvSpPr txBox="1"/>
          <p:nvPr/>
        </p:nvSpPr>
        <p:spPr>
          <a:xfrm>
            <a:off x="1066800" y="1769479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4. </a:t>
            </a:r>
            <a:r>
              <a:rPr lang="en-US" sz="3200" b="1" dirty="0" err="1">
                <a:solidFill>
                  <a:srgbClr val="08377C"/>
                </a:solidFill>
              </a:rPr>
              <a:t>min_samples_leaf</a:t>
            </a:r>
            <a:r>
              <a:rPr lang="en-US" sz="3200" b="1" dirty="0">
                <a:solidFill>
                  <a:srgbClr val="08377C"/>
                </a:solidFill>
              </a:rPr>
              <a:t>, default = 1 </a:t>
            </a:r>
            <a:r>
              <a:rPr lang="en-US" sz="3200" dirty="0"/>
              <a:t>🍃</a:t>
            </a:r>
            <a:endParaRPr lang="en-US" sz="3200" b="1" dirty="0">
              <a:solidFill>
                <a:srgbClr val="08377C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A58BCB-1173-1C27-AD02-E97105439636}"/>
              </a:ext>
            </a:extLst>
          </p:cNvPr>
          <p:cNvSpPr/>
          <p:nvPr/>
        </p:nvSpPr>
        <p:spPr>
          <a:xfrm>
            <a:off x="1458383" y="2488112"/>
            <a:ext cx="15849599" cy="670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Jumlah minimum </a:t>
            </a:r>
            <a:r>
              <a:rPr lang="en-US" sz="2800" dirty="0" err="1">
                <a:latin typeface="Montserrat" panose="00000500000000000000" pitchFamily="2" charset="0"/>
              </a:rPr>
              <a:t>sampel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harus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dimiliki</a:t>
            </a:r>
            <a:r>
              <a:rPr lang="en-US" sz="2800" dirty="0">
                <a:latin typeface="Montserrat" panose="00000500000000000000" pitchFamily="2" charset="0"/>
              </a:rPr>
              <a:t> oleh sebuah </a:t>
            </a:r>
            <a:r>
              <a:rPr lang="en-US" sz="2800" dirty="0" err="1">
                <a:latin typeface="Montserrat" panose="00000500000000000000" pitchFamily="2" charset="0"/>
              </a:rPr>
              <a:t>daun</a:t>
            </a:r>
            <a:r>
              <a:rPr lang="en-US" sz="2800" dirty="0">
                <a:latin typeface="Montserrat" panose="00000500000000000000" pitchFamily="2" charset="0"/>
              </a:rPr>
              <a:t> (leaf node).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1E1AF72-C3EB-6EB9-4F9E-E215D565D594}"/>
              </a:ext>
            </a:extLst>
          </p:cNvPr>
          <p:cNvSpPr txBox="1"/>
          <p:nvPr/>
        </p:nvSpPr>
        <p:spPr>
          <a:xfrm>
            <a:off x="1046205" y="3442365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5. </a:t>
            </a:r>
            <a:r>
              <a:rPr lang="en-US" sz="3200" b="1" dirty="0" err="1">
                <a:solidFill>
                  <a:srgbClr val="08377C"/>
                </a:solidFill>
              </a:rPr>
              <a:t>max_features</a:t>
            </a:r>
            <a:r>
              <a:rPr lang="en-US" sz="3200" b="1" dirty="0">
                <a:solidFill>
                  <a:srgbClr val="08377C"/>
                </a:solidFill>
              </a:rPr>
              <a:t>, default = None </a:t>
            </a:r>
            <a:r>
              <a:rPr lang="en-US" sz="3200" dirty="0"/>
              <a:t>🌱</a:t>
            </a:r>
            <a:endParaRPr lang="en-US" sz="3200" b="1" dirty="0">
              <a:solidFill>
                <a:srgbClr val="08377C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BF25D2-822A-0338-E070-5F10407A6C10}"/>
              </a:ext>
            </a:extLst>
          </p:cNvPr>
          <p:cNvSpPr/>
          <p:nvPr/>
        </p:nvSpPr>
        <p:spPr>
          <a:xfrm>
            <a:off x="1437788" y="4160998"/>
            <a:ext cx="15849599" cy="3897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Jumlah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dipertimbangkan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ketika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mencari</a:t>
            </a:r>
            <a:r>
              <a:rPr lang="en-US" sz="2800" dirty="0">
                <a:latin typeface="Montserrat" panose="00000500000000000000" pitchFamily="2" charset="0"/>
              </a:rPr>
              <a:t> split terbaik.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Default: None </a:t>
            </a:r>
            <a:r>
              <a:rPr lang="en-US" sz="2800" dirty="0" err="1">
                <a:latin typeface="Montserrat" panose="00000500000000000000" pitchFamily="2" charset="0"/>
              </a:rPr>
              <a:t>artinya</a:t>
            </a:r>
            <a:r>
              <a:rPr lang="en-US" sz="2800" dirty="0">
                <a:latin typeface="Montserrat" panose="00000500000000000000" pitchFamily="2" charset="0"/>
              </a:rPr>
              <a:t> semua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dipertimbangkan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err="1">
                <a:latin typeface="Montserrat" panose="00000500000000000000" pitchFamily="2" charset="0"/>
              </a:rPr>
              <a:t>Pilihan</a:t>
            </a:r>
            <a:r>
              <a:rPr lang="en-US" sz="2800" dirty="0">
                <a:latin typeface="Montserrat" panose="00000500000000000000" pitchFamily="2" charset="0"/>
              </a:rPr>
              <a:t> lainnya: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"sqrt“ : </a:t>
            </a:r>
            <a:r>
              <a:rPr lang="en-US" sz="2800" dirty="0" err="1">
                <a:latin typeface="Montserrat" panose="00000500000000000000" pitchFamily="2" charset="0"/>
              </a:rPr>
              <a:t>akar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kuadrat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dari</a:t>
            </a:r>
            <a:r>
              <a:rPr lang="en-US" sz="2800" dirty="0">
                <a:latin typeface="Montserrat" panose="00000500000000000000" pitchFamily="2" charset="0"/>
              </a:rPr>
              <a:t> jumlah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(default di </a:t>
            </a:r>
            <a:r>
              <a:rPr lang="en-US" sz="2800" dirty="0" err="1">
                <a:latin typeface="Montserrat" panose="00000500000000000000" pitchFamily="2" charset="0"/>
              </a:rPr>
              <a:t>RandomForest</a:t>
            </a:r>
            <a:r>
              <a:rPr lang="en-US" sz="2800" dirty="0">
                <a:latin typeface="Montserrat" panose="00000500000000000000" pitchFamily="2" charset="0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"log2“ : </a:t>
            </a:r>
            <a:r>
              <a:rPr lang="en-US" sz="2800" dirty="0" err="1">
                <a:latin typeface="Montserrat" panose="00000500000000000000" pitchFamily="2" charset="0"/>
              </a:rPr>
              <a:t>logaritma</a:t>
            </a:r>
            <a:r>
              <a:rPr lang="en-US" sz="2800" dirty="0">
                <a:latin typeface="Montserrat" panose="00000500000000000000" pitchFamily="2" charset="0"/>
              </a:rPr>
              <a:t> basis 2 </a:t>
            </a:r>
            <a:r>
              <a:rPr lang="en-US" sz="2800" dirty="0" err="1">
                <a:latin typeface="Montserrat" panose="00000500000000000000" pitchFamily="2" charset="0"/>
              </a:rPr>
              <a:t>dari</a:t>
            </a:r>
            <a:r>
              <a:rPr lang="en-US" sz="2800" dirty="0">
                <a:latin typeface="Montserrat" panose="00000500000000000000" pitchFamily="2" charset="0"/>
              </a:rPr>
              <a:t> jumlah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endParaRPr lang="en-US" sz="2800" dirty="0">
              <a:latin typeface="Montserrat" panose="00000500000000000000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int </a:t>
            </a:r>
            <a:r>
              <a:rPr lang="en-US" sz="2800" dirty="0" err="1">
                <a:latin typeface="Montserrat" panose="00000500000000000000" pitchFamily="2" charset="0"/>
              </a:rPr>
              <a:t>atau</a:t>
            </a:r>
            <a:r>
              <a:rPr lang="en-US" sz="2800" dirty="0">
                <a:latin typeface="Montserrat" panose="00000500000000000000" pitchFamily="2" charset="0"/>
              </a:rPr>
              <a:t> float : jumlah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tetap </a:t>
            </a:r>
            <a:r>
              <a:rPr lang="en-US" sz="2800" dirty="0" err="1">
                <a:latin typeface="Montserrat" panose="00000500000000000000" pitchFamily="2" charset="0"/>
              </a:rPr>
              <a:t>atau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proporsi</a:t>
            </a:r>
            <a:endParaRPr lang="en-US" sz="2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84136"/>
      </p:ext>
    </p:extLst>
  </p:cSld>
  <p:clrMapOvr>
    <a:masterClrMapping/>
  </p:clrMapOvr>
  <p:transition spd="slow">
    <p:cover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55E3-FA80-90D3-3D58-65BC8579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BB0326-EBA1-A1A9-E78D-79AD7E5E9553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C81C92-C861-0BCC-F38C-8FA688AFB6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2B69EBE-CDC7-E5FC-7D97-71B6BE2DE31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FAA6773-0EE8-C1BC-3CEF-2E43AFCFCD18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0EC7F36-F51E-A050-E15B-4334612DD11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808212D-ACA0-3E05-67BE-E00AD3360C4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8230E43-6D75-347E-E204-9C13FD03883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E8BB732A-5565-0467-4DB6-FCE0CD99C107}"/>
              </a:ext>
            </a:extLst>
          </p:cNvPr>
          <p:cNvSpPr txBox="1"/>
          <p:nvPr/>
        </p:nvSpPr>
        <p:spPr>
          <a:xfrm>
            <a:off x="1129720" y="1416802"/>
            <a:ext cx="17526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8377C"/>
                </a:solidFill>
              </a:rPr>
              <a:t>6. Splitter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4054DD-307A-8DBA-16F5-753E9890D403}"/>
              </a:ext>
            </a:extLst>
          </p:cNvPr>
          <p:cNvSpPr/>
          <p:nvPr/>
        </p:nvSpPr>
        <p:spPr>
          <a:xfrm>
            <a:off x="1521303" y="2135435"/>
            <a:ext cx="15849599" cy="3897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Strategi untuk </a:t>
            </a:r>
            <a:r>
              <a:rPr lang="en-US" sz="2800" dirty="0" err="1">
                <a:latin typeface="Montserrat" panose="00000500000000000000" pitchFamily="2" charset="0"/>
              </a:rPr>
              <a:t>memilih</a:t>
            </a:r>
            <a:r>
              <a:rPr lang="en-US" sz="2800" dirty="0">
                <a:latin typeface="Montserrat" panose="00000500000000000000" pitchFamily="2" charset="0"/>
              </a:rPr>
              <a:t> split di node: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"best" → </a:t>
            </a:r>
            <a:r>
              <a:rPr lang="en-US" sz="2800" dirty="0" err="1">
                <a:latin typeface="Montserrat" panose="00000500000000000000" pitchFamily="2" charset="0"/>
              </a:rPr>
              <a:t>ambil</a:t>
            </a:r>
            <a:r>
              <a:rPr lang="en-US" sz="2800" dirty="0">
                <a:latin typeface="Montserrat" panose="00000500000000000000" pitchFamily="2" charset="0"/>
              </a:rPr>
              <a:t> split terbaik (paling optimal)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"random" → </a:t>
            </a:r>
            <a:r>
              <a:rPr lang="en-US" sz="2800" dirty="0" err="1">
                <a:latin typeface="Montserrat" panose="00000500000000000000" pitchFamily="2" charset="0"/>
              </a:rPr>
              <a:t>pilih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secara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acak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dari</a:t>
            </a:r>
            <a:r>
              <a:rPr lang="en-US" sz="2800" dirty="0">
                <a:latin typeface="Montserrat" panose="00000500000000000000" pitchFamily="2" charset="0"/>
              </a:rPr>
              <a:t> subset terbaik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Default: “best”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242316"/>
      </p:ext>
    </p:extLst>
  </p:cSld>
  <p:clrMapOvr>
    <a:masterClrMapping/>
  </p:clrMapOvr>
  <p:transition spd="slow">
    <p:cover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E8D9-F3B7-82FB-46C8-47EEB4C8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D10AEE-128B-4804-225A-65B965B362E8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863A49-1260-7427-0E5E-21287C579409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AA3F52-5441-5AEA-6D5F-B42C2CECCCB9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59C40AF-A91A-419F-6A55-6428252F404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2B0D37-A618-8D7E-A3DD-5DED0B479A86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F91454D-51C7-DA0B-0C93-FF444CA233ED}"/>
              </a:ext>
            </a:extLst>
          </p:cNvPr>
          <p:cNvSpPr txBox="1"/>
          <p:nvPr/>
        </p:nvSpPr>
        <p:spPr>
          <a:xfrm>
            <a:off x="3048000" y="1333500"/>
            <a:ext cx="11277600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Decision Tree?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4CFD33-84E0-CF77-8E36-9B1B7C90747E}"/>
              </a:ext>
            </a:extLst>
          </p:cNvPr>
          <p:cNvSpPr txBox="1"/>
          <p:nvPr/>
        </p:nvSpPr>
        <p:spPr>
          <a:xfrm>
            <a:off x="4114800" y="2254630"/>
            <a:ext cx="111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Montserrat" panose="00000500000000000000" pitchFamily="2" charset="0"/>
              </a:rPr>
              <a:t>*Cara kerja Decision Tree </a:t>
            </a:r>
            <a:r>
              <a:rPr lang="en-US" i="1" dirty="0" err="1">
                <a:latin typeface="Montserrat" panose="00000500000000000000" pitchFamily="2" charset="0"/>
              </a:rPr>
              <a:t>bisa</a:t>
            </a:r>
            <a:r>
              <a:rPr lang="en-US" i="1" dirty="0">
                <a:latin typeface="Montserrat" panose="00000500000000000000" pitchFamily="2" charset="0"/>
              </a:rPr>
              <a:t> </a:t>
            </a:r>
            <a:r>
              <a:rPr lang="en-US" i="1" dirty="0" err="1">
                <a:latin typeface="Montserrat" panose="00000500000000000000" pitchFamily="2" charset="0"/>
              </a:rPr>
              <a:t>dilihat</a:t>
            </a:r>
            <a:r>
              <a:rPr lang="en-US" i="1" dirty="0">
                <a:latin typeface="Montserrat" panose="00000500000000000000" pitchFamily="2" charset="0"/>
              </a:rPr>
              <a:t> di file excel yang sudah </a:t>
            </a:r>
            <a:r>
              <a:rPr lang="en-US" i="1" dirty="0" err="1">
                <a:latin typeface="Montserrat" panose="00000500000000000000" pitchFamily="2" charset="0"/>
              </a:rPr>
              <a:t>dilampirkan</a:t>
            </a:r>
            <a:endParaRPr lang="en-US" i="1" dirty="0">
              <a:latin typeface="Montserrat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5546D8-255B-E94D-E4B7-1E8B0907E260}"/>
              </a:ext>
            </a:extLst>
          </p:cNvPr>
          <p:cNvSpPr/>
          <p:nvPr/>
        </p:nvSpPr>
        <p:spPr>
          <a:xfrm>
            <a:off x="952500" y="2857500"/>
            <a:ext cx="15468600" cy="6676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nl-NL" sz="2400" dirty="0">
                <a:latin typeface="Montserrat" panose="00000500000000000000" pitchFamily="2" charset="0"/>
              </a:rPr>
              <a:t>1️⃣ </a:t>
            </a:r>
            <a:r>
              <a:rPr lang="nl-NL" sz="2400" b="1" dirty="0">
                <a:latin typeface="Montserrat" panose="00000500000000000000" pitchFamily="2" charset="0"/>
              </a:rPr>
              <a:t>Mengumpulkan dan Menyiapkan Data</a:t>
            </a:r>
            <a:endParaRPr lang="en-US" sz="2400" b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2️⃣ </a:t>
            </a:r>
            <a:r>
              <a:rPr lang="en-US" sz="2400" b="1" dirty="0" err="1">
                <a:latin typeface="Montserrat" panose="00000500000000000000" pitchFamily="2" charset="0"/>
              </a:rPr>
              <a:t>Memilih</a:t>
            </a:r>
            <a:r>
              <a:rPr lang="en-US" sz="2400" b="1" dirty="0">
                <a:latin typeface="Montserrat" panose="00000500000000000000" pitchFamily="2" charset="0"/>
              </a:rPr>
              <a:t> Fitur dan </a:t>
            </a:r>
            <a:r>
              <a:rPr lang="en-US" sz="2400" b="1" dirty="0" err="1">
                <a:latin typeface="Montserrat" panose="00000500000000000000" pitchFamily="2" charset="0"/>
              </a:rPr>
              <a:t>Membagi</a:t>
            </a:r>
            <a:r>
              <a:rPr lang="en-US" sz="2400" b="1" dirty="0">
                <a:latin typeface="Montserrat" panose="00000500000000000000" pitchFamily="2" charset="0"/>
              </a:rPr>
              <a:t> Data</a:t>
            </a:r>
          </a:p>
          <a:p>
            <a:pPr>
              <a:lnSpc>
                <a:spcPct val="150000"/>
              </a:lnSpc>
              <a:buNone/>
            </a:pPr>
            <a:r>
              <a:rPr lang="en-US" sz="2400" i="1" dirty="0" err="1">
                <a:latin typeface="Montserrat" panose="00000500000000000000" pitchFamily="2" charset="0"/>
              </a:rPr>
              <a:t>Menentukan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fitur</a:t>
            </a:r>
            <a:r>
              <a:rPr lang="en-US" sz="2400" i="1" dirty="0">
                <a:latin typeface="Montserrat" panose="00000500000000000000" pitchFamily="2" charset="0"/>
              </a:rPr>
              <a:t> mana yang </a:t>
            </a:r>
            <a:r>
              <a:rPr lang="en-US" sz="2400" i="1" dirty="0" err="1">
                <a:latin typeface="Montserrat" panose="00000500000000000000" pitchFamily="2" charset="0"/>
              </a:rPr>
              <a:t>digunakan</a:t>
            </a:r>
            <a:r>
              <a:rPr lang="en-US" sz="2400" i="1" dirty="0">
                <a:latin typeface="Montserrat" panose="00000500000000000000" pitchFamily="2" charset="0"/>
              </a:rPr>
              <a:t> dan </a:t>
            </a:r>
            <a:r>
              <a:rPr lang="en-US" sz="2400" i="1" dirty="0" err="1">
                <a:latin typeface="Montserrat" panose="00000500000000000000" pitchFamily="2" charset="0"/>
              </a:rPr>
              <a:t>memisahkan</a:t>
            </a:r>
            <a:r>
              <a:rPr lang="en-US" sz="2400" i="1" dirty="0">
                <a:latin typeface="Montserrat" panose="00000500000000000000" pitchFamily="2" charset="0"/>
              </a:rPr>
              <a:t> data</a:t>
            </a:r>
            <a:endParaRPr lang="en-US" sz="2400" b="1" i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nl-NL" sz="2400" dirty="0">
                <a:latin typeface="Montserrat" panose="00000500000000000000" pitchFamily="2" charset="0"/>
              </a:rPr>
              <a:t>3️⃣ </a:t>
            </a:r>
            <a:r>
              <a:rPr lang="nl-NL" sz="2400" b="1" dirty="0">
                <a:latin typeface="Montserrat" panose="00000500000000000000" pitchFamily="2" charset="0"/>
              </a:rPr>
              <a:t>Membentuk Cabang dan Nod</a:t>
            </a:r>
            <a:r>
              <a:rPr lang="en-US" sz="2400" b="1" dirty="0">
                <a:latin typeface="Montserrat" panose="00000500000000000000" pitchFamily="2" charset="0"/>
              </a:rPr>
              <a:t>e</a:t>
            </a:r>
          </a:p>
          <a:p>
            <a:pPr>
              <a:lnSpc>
                <a:spcPct val="150000"/>
              </a:lnSpc>
              <a:buNone/>
            </a:pPr>
            <a:r>
              <a:rPr lang="en-US" sz="2400" i="1" dirty="0" err="1">
                <a:latin typeface="Montserrat" panose="00000500000000000000" pitchFamily="2" charset="0"/>
              </a:rPr>
              <a:t>Memilih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atribut</a:t>
            </a:r>
            <a:r>
              <a:rPr lang="en-US" sz="2400" i="1" dirty="0">
                <a:latin typeface="Montserrat" panose="00000500000000000000" pitchFamily="2" charset="0"/>
              </a:rPr>
              <a:t> terbaik (</a:t>
            </a:r>
            <a:r>
              <a:rPr lang="en-US" sz="2400" i="1" dirty="0" err="1">
                <a:latin typeface="Montserrat" panose="00000500000000000000" pitchFamily="2" charset="0"/>
              </a:rPr>
              <a:t>misalnya</a:t>
            </a:r>
            <a:r>
              <a:rPr lang="en-US" sz="2400" i="1" dirty="0">
                <a:latin typeface="Montserrat" panose="00000500000000000000" pitchFamily="2" charset="0"/>
              </a:rPr>
              <a:t> dengan Gini/Entropy) dan </a:t>
            </a:r>
            <a:r>
              <a:rPr lang="en-US" sz="2400" i="1" dirty="0" err="1">
                <a:latin typeface="Montserrat" panose="00000500000000000000" pitchFamily="2" charset="0"/>
              </a:rPr>
              <a:t>membuat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percabangan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berdasarkan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nilai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fitur</a:t>
            </a:r>
            <a:r>
              <a:rPr lang="en-US" sz="2400" i="1" dirty="0">
                <a:latin typeface="Montserrat" panose="00000500000000000000" pitchFamily="2" charset="0"/>
              </a:rPr>
              <a:t>.</a:t>
            </a:r>
            <a:endParaRPr lang="en-US" sz="2400" b="1" i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4️⃣ </a:t>
            </a:r>
            <a:r>
              <a:rPr lang="en-US" sz="2400" b="1" dirty="0" err="1">
                <a:latin typeface="Montserrat" panose="00000500000000000000" pitchFamily="2" charset="0"/>
              </a:rPr>
              <a:t>Membuat</a:t>
            </a:r>
            <a:r>
              <a:rPr lang="en-US" sz="2400" b="1" dirty="0">
                <a:latin typeface="Montserrat" panose="00000500000000000000" pitchFamily="2" charset="0"/>
              </a:rPr>
              <a:t> Leaf Node</a:t>
            </a:r>
          </a:p>
          <a:p>
            <a:pPr>
              <a:lnSpc>
                <a:spcPct val="150000"/>
              </a:lnSpc>
              <a:buNone/>
            </a:pPr>
            <a:r>
              <a:rPr lang="en-US" sz="2400" i="1" dirty="0" err="1">
                <a:latin typeface="Montserrat" panose="00000500000000000000" pitchFamily="2" charset="0"/>
              </a:rPr>
              <a:t>Menghentikan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pembentukan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cabang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saat</a:t>
            </a:r>
            <a:r>
              <a:rPr lang="en-US" sz="2400" i="1" dirty="0">
                <a:latin typeface="Montserrat" panose="00000500000000000000" pitchFamily="2" charset="0"/>
              </a:rPr>
              <a:t> semua data </a:t>
            </a:r>
            <a:r>
              <a:rPr lang="en-US" sz="2400" i="1" dirty="0" err="1">
                <a:latin typeface="Montserrat" panose="00000500000000000000" pitchFamily="2" charset="0"/>
              </a:rPr>
              <a:t>homogen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atau</a:t>
            </a:r>
            <a:r>
              <a:rPr lang="en-US" sz="2400" i="1" dirty="0">
                <a:latin typeface="Montserrat" panose="00000500000000000000" pitchFamily="2" charset="0"/>
              </a:rPr>
              <a:t> tidak </a:t>
            </a:r>
            <a:r>
              <a:rPr lang="en-US" sz="2400" i="1" dirty="0" err="1">
                <a:latin typeface="Montserrat" panose="00000500000000000000" pitchFamily="2" charset="0"/>
              </a:rPr>
              <a:t>bisa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dibagi</a:t>
            </a:r>
            <a:r>
              <a:rPr lang="en-US" sz="2400" i="1" dirty="0">
                <a:latin typeface="Montserrat" panose="00000500000000000000" pitchFamily="2" charset="0"/>
              </a:rPr>
              <a:t> lagi.</a:t>
            </a:r>
            <a:endParaRPr lang="en-US" sz="2400" b="1" i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nb-NO" sz="2400" dirty="0">
                <a:latin typeface="Montserrat" panose="00000500000000000000" pitchFamily="2" charset="0"/>
              </a:rPr>
              <a:t>5️⃣ </a:t>
            </a:r>
            <a:r>
              <a:rPr lang="nb-NO" sz="2400" b="1" dirty="0">
                <a:latin typeface="Montserrat" panose="00000500000000000000" pitchFamily="2" charset="0"/>
              </a:rPr>
              <a:t>Menggunakan Model untuk Prediksi</a:t>
            </a:r>
          </a:p>
          <a:p>
            <a:pPr>
              <a:lnSpc>
                <a:spcPct val="150000"/>
              </a:lnSpc>
              <a:buNone/>
            </a:pPr>
            <a:r>
              <a:rPr lang="en-US" sz="2400" i="1" dirty="0" err="1">
                <a:latin typeface="Montserrat" panose="00000500000000000000" pitchFamily="2" charset="0"/>
              </a:rPr>
              <a:t>Menguji</a:t>
            </a:r>
            <a:r>
              <a:rPr lang="en-US" sz="2400" i="1" dirty="0">
                <a:latin typeface="Montserrat" panose="00000500000000000000" pitchFamily="2" charset="0"/>
              </a:rPr>
              <a:t> model dengan data baru dan </a:t>
            </a:r>
            <a:r>
              <a:rPr lang="en-US" sz="2400" i="1" dirty="0" err="1">
                <a:latin typeface="Montserrat" panose="00000500000000000000" pitchFamily="2" charset="0"/>
              </a:rPr>
              <a:t>melihat</a:t>
            </a:r>
            <a:r>
              <a:rPr lang="en-US" sz="2400" i="1" dirty="0">
                <a:latin typeface="Montserrat" panose="00000500000000000000" pitchFamily="2" charset="0"/>
              </a:rPr>
              <a:t> ke node mana </a:t>
            </a:r>
            <a:r>
              <a:rPr lang="en-US" sz="2400" i="1" dirty="0" err="1">
                <a:latin typeface="Montserrat" panose="00000500000000000000" pitchFamily="2" charset="0"/>
              </a:rPr>
              <a:t>prediksi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diarahkan</a:t>
            </a:r>
            <a:r>
              <a:rPr lang="en-US" sz="2400" i="1" dirty="0">
                <a:latin typeface="Montserrat" panose="00000500000000000000" pitchFamily="2" charset="0"/>
              </a:rPr>
              <a:t>.</a:t>
            </a:r>
            <a:endParaRPr lang="en-US" sz="2400" b="1" i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nl-NL" sz="2400" dirty="0">
                <a:latin typeface="Montserrat" panose="00000500000000000000" pitchFamily="2" charset="0"/>
              </a:rPr>
              <a:t>6️⃣ </a:t>
            </a:r>
            <a:r>
              <a:rPr lang="nl-NL" sz="2400" b="1" dirty="0">
                <a:latin typeface="Montserrat" panose="00000500000000000000" pitchFamily="2" charset="0"/>
              </a:rPr>
              <a:t>Evaluasi </a:t>
            </a:r>
          </a:p>
          <a:p>
            <a:pPr>
              <a:lnSpc>
                <a:spcPct val="150000"/>
              </a:lnSpc>
              <a:buNone/>
            </a:pPr>
            <a:r>
              <a:rPr lang="es-ES" sz="2400" dirty="0">
                <a:latin typeface="Montserrat" panose="00000500000000000000" pitchFamily="2" charset="0"/>
              </a:rPr>
              <a:t>7️⃣ </a:t>
            </a:r>
            <a:r>
              <a:rPr lang="es-ES" sz="2400" b="1" dirty="0" err="1">
                <a:latin typeface="Montserrat" panose="00000500000000000000" pitchFamily="2" charset="0"/>
              </a:rPr>
              <a:t>Implementasi</a:t>
            </a:r>
            <a:r>
              <a:rPr lang="es-ES" sz="2400" b="1" dirty="0">
                <a:latin typeface="Montserrat" panose="00000500000000000000" pitchFamily="2" charset="0"/>
              </a:rPr>
              <a:t> dan </a:t>
            </a:r>
            <a:r>
              <a:rPr lang="es-ES" sz="2400" b="1" dirty="0" err="1">
                <a:latin typeface="Montserrat" panose="00000500000000000000" pitchFamily="2" charset="0"/>
              </a:rPr>
              <a:t>Penggunaan</a:t>
            </a:r>
            <a:r>
              <a:rPr lang="es-ES" sz="2400" b="1" dirty="0">
                <a:latin typeface="Montserrat" panose="00000500000000000000" pitchFamily="2" charset="0"/>
              </a:rPr>
              <a:t> </a:t>
            </a:r>
            <a:r>
              <a:rPr lang="es-ES" sz="2400" b="1" dirty="0" err="1">
                <a:latin typeface="Montserrat" panose="00000500000000000000" pitchFamily="2" charset="0"/>
              </a:rPr>
              <a:t>Model</a:t>
            </a:r>
            <a:endParaRPr lang="en-US" sz="2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980810"/>
      </p:ext>
    </p:extLst>
  </p:cSld>
  <p:clrMapOvr>
    <a:masterClrMapping/>
  </p:clrMapOvr>
  <p:transition spd="slow">
    <p:cover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6F3D-3E31-FC65-1DE5-5058DAC0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9C8E227-92FA-5F98-0115-1A3BB5687708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0025A0-436E-5989-49B9-D05BC7210A03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B8F3BA5-BDCD-FDED-35B3-2654AF0851C8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7188AFD-58BE-30AC-B7C0-1DB3F6897D1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85891D8-0C26-D55D-E811-279E1CF23B3B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98DEF7-6B12-F329-4A74-2C3DFA5C3958}"/>
              </a:ext>
            </a:extLst>
          </p:cNvPr>
          <p:cNvSpPr txBox="1"/>
          <p:nvPr/>
        </p:nvSpPr>
        <p:spPr>
          <a:xfrm>
            <a:off x="4152286" y="8763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Decision Tree?</a:t>
            </a:r>
          </a:p>
        </p:txBody>
      </p:sp>
      <p:pic>
        <p:nvPicPr>
          <p:cNvPr id="1026" name="Picture 2" descr="Gambar yang dibuat">
            <a:extLst>
              <a:ext uri="{FF2B5EF4-FFF2-40B4-BE49-F238E27FC236}">
                <a16:creationId xmlns:a16="http://schemas.microsoft.com/office/drawing/2014/main" id="{B588D04C-C57F-3E3C-B9A0-C7B27B019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33500"/>
            <a:ext cx="2743200" cy="411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070EFF-A858-101F-3E22-AB7E775A2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32151"/>
              </p:ext>
            </p:extLst>
          </p:nvPr>
        </p:nvGraphicFramePr>
        <p:xfrm>
          <a:off x="3499230" y="2933700"/>
          <a:ext cx="11087714" cy="722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68656752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139383471"/>
                    </a:ext>
                  </a:extLst>
                </a:gridCol>
                <a:gridCol w="1829604">
                  <a:extLst>
                    <a:ext uri="{9D8B030D-6E8A-4147-A177-3AD203B41FA5}">
                      <a16:colId xmlns:a16="http://schemas.microsoft.com/office/drawing/2014/main" val="2432766001"/>
                    </a:ext>
                  </a:extLst>
                </a:gridCol>
                <a:gridCol w="2513796">
                  <a:extLst>
                    <a:ext uri="{9D8B030D-6E8A-4147-A177-3AD203B41FA5}">
                      <a16:colId xmlns:a16="http://schemas.microsoft.com/office/drawing/2014/main" val="379931432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6667913"/>
                    </a:ext>
                  </a:extLst>
                </a:gridCol>
                <a:gridCol w="1791314">
                  <a:extLst>
                    <a:ext uri="{9D8B030D-6E8A-4147-A177-3AD203B41FA5}">
                      <a16:colId xmlns:a16="http://schemas.microsoft.com/office/drawing/2014/main" val="650687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Outlook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Play Ball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4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966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8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962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09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151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51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2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7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365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24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3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35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991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07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815955"/>
      </p:ext>
    </p:extLst>
  </p:cSld>
  <p:clrMapOvr>
    <a:masterClrMapping/>
  </p:clrMapOvr>
  <p:transition spd="slow">
    <p:cover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B434-845E-4AAA-ACA6-88A8BF027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B49A7D5-2E22-AB2B-EBAB-170C11B7E9D7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579D9F-0FA1-7C50-8846-F3451E813173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2F40A1B-3971-57F8-D54C-5A507DDF46E9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F60E593-BEBB-E4DB-C35B-8929A743E28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59694FB-87FD-4AF0-7F67-94889614386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734196-78FE-174B-C274-4BC89D39B72E}"/>
              </a:ext>
            </a:extLst>
          </p:cNvPr>
          <p:cNvSpPr txBox="1"/>
          <p:nvPr/>
        </p:nvSpPr>
        <p:spPr>
          <a:xfrm>
            <a:off x="4152286" y="8763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Decision Tree?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B1AD61-4149-595E-D684-61F4D106DDBB}"/>
              </a:ext>
            </a:extLst>
          </p:cNvPr>
          <p:cNvSpPr/>
          <p:nvPr/>
        </p:nvSpPr>
        <p:spPr>
          <a:xfrm>
            <a:off x="1326543" y="3162300"/>
            <a:ext cx="13075258" cy="5836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Step 1: Hitung Entropy Total</a:t>
            </a:r>
          </a:p>
          <a:p>
            <a:pPr algn="just">
              <a:lnSpc>
                <a:spcPct val="150000"/>
              </a:lnSpc>
            </a:pPr>
            <a:endParaRPr lang="en-US" sz="2800" b="1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</a:rPr>
              <a:t>Pada Dataset, </a:t>
            </a:r>
            <a:r>
              <a:rPr lang="en-US" sz="2800" b="1" dirty="0" err="1">
                <a:latin typeface="Montserrat" panose="00000500000000000000" pitchFamily="2" charset="0"/>
              </a:rPr>
              <a:t>kolom</a:t>
            </a:r>
            <a:r>
              <a:rPr lang="en-US" sz="2800" b="1" dirty="0">
                <a:latin typeface="Montserrat" panose="00000500000000000000" pitchFamily="2" charset="0"/>
              </a:rPr>
              <a:t> target (Play) </a:t>
            </a:r>
            <a:r>
              <a:rPr lang="en-US" sz="2800" b="1" dirty="0" err="1">
                <a:latin typeface="Montserrat" panose="00000500000000000000" pitchFamily="2" charset="0"/>
              </a:rPr>
              <a:t>ada</a:t>
            </a:r>
            <a:r>
              <a:rPr lang="en-US" sz="2800" b="1" dirty="0">
                <a:latin typeface="Montserrat" panose="00000500000000000000" pitchFamily="2" charset="0"/>
              </a:rPr>
              <a:t> 2 kemungkinan: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Yes : 9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No : 5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Total : 14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2800" b="1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D10BC8-FA07-0204-760C-EC5C200F6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166" y="3853654"/>
            <a:ext cx="5802459" cy="7950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5BEC7F-559A-EA93-2A5D-EBFBF237AC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125" y="5661559"/>
            <a:ext cx="6934200" cy="2329802"/>
          </a:xfrm>
          <a:prstGeom prst="rect">
            <a:avLst/>
          </a:prstGeom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3BD2E9BE-B1C5-C032-862C-FCC2952C78C1}"/>
              </a:ext>
            </a:extLst>
          </p:cNvPr>
          <p:cNvSpPr txBox="1"/>
          <p:nvPr/>
        </p:nvSpPr>
        <p:spPr>
          <a:xfrm>
            <a:off x="7318825" y="5060078"/>
            <a:ext cx="1066800" cy="554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Yes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A87DEC12-3326-D073-BBD1-5504D17C5309}"/>
              </a:ext>
            </a:extLst>
          </p:cNvPr>
          <p:cNvSpPr txBox="1"/>
          <p:nvPr/>
        </p:nvSpPr>
        <p:spPr>
          <a:xfrm>
            <a:off x="9033325" y="5049384"/>
            <a:ext cx="1066800" cy="554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731066870"/>
      </p:ext>
    </p:extLst>
  </p:cSld>
  <p:clrMapOvr>
    <a:masterClrMapping/>
  </p:clrMapOvr>
  <p:transition spd="slow">
    <p:cover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FFB6B-629D-ABC1-322B-109575ED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4672BAD-E0C3-6168-A5A0-3DE6C98C7131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74A116-37CA-58D9-20CE-0F4B8D8F7279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FB914F7-890F-D3A6-DCDA-D64608911543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09DC041-3910-9AC6-0184-CC65D5D9977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E0F9199-0F46-0C71-4D93-7E19DBFC36D6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84DA0EA-D096-B3C8-30AF-B14DA67D7028}"/>
              </a:ext>
            </a:extLst>
          </p:cNvPr>
          <p:cNvSpPr txBox="1"/>
          <p:nvPr/>
        </p:nvSpPr>
        <p:spPr>
          <a:xfrm>
            <a:off x="234562" y="280854"/>
            <a:ext cx="13163036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4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Decision Tree?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6A2596-AD3D-1F45-2FF3-32EB7BCE07B0}"/>
              </a:ext>
            </a:extLst>
          </p:cNvPr>
          <p:cNvSpPr/>
          <p:nvPr/>
        </p:nvSpPr>
        <p:spPr>
          <a:xfrm>
            <a:off x="762000" y="1409700"/>
            <a:ext cx="13075258" cy="7775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Step 2: Hitung Information Gain Untuk Fitur Outlook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Sunny = 5 data (Yes=2, No=3)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Cloudy = 4 data (Yes=4, No=0)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Rainy = 5 data (Yes=4, No=1)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Hitung Entropy </a:t>
            </a:r>
            <a:r>
              <a:rPr lang="en-US" sz="2800" b="1" dirty="0" err="1">
                <a:latin typeface="Montserrat" panose="00000500000000000000" pitchFamily="2" charset="0"/>
              </a:rPr>
              <a:t>Gabungan</a:t>
            </a: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Hitung Information Gain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B519C65E-6909-435D-3089-4DDAB65FCD64}"/>
              </a:ext>
            </a:extLst>
          </p:cNvPr>
          <p:cNvSpPr txBox="1"/>
          <p:nvPr/>
        </p:nvSpPr>
        <p:spPr>
          <a:xfrm>
            <a:off x="3778857" y="3342244"/>
            <a:ext cx="1066800" cy="554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Yes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38B28975-4288-A8CE-2468-710CF67C300B}"/>
              </a:ext>
            </a:extLst>
          </p:cNvPr>
          <p:cNvSpPr txBox="1"/>
          <p:nvPr/>
        </p:nvSpPr>
        <p:spPr>
          <a:xfrm>
            <a:off x="5247490" y="3350337"/>
            <a:ext cx="1066800" cy="554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3C1E1D-1214-8F66-F432-493AB939E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800" y="2880316"/>
            <a:ext cx="5185323" cy="7391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691F60-E028-1BD8-F149-1ED905BF6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3969883"/>
            <a:ext cx="8247793" cy="6219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F91F22-F85D-C89A-D18A-D574CC128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8121" y="5971851"/>
            <a:ext cx="5538002" cy="7391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A972186-8F94-514E-52F3-CA9AB2B239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6751" y="6666942"/>
            <a:ext cx="7498743" cy="7111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117329-F110-B467-64D4-2940772D43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324" y="7211800"/>
            <a:ext cx="5638800" cy="13574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C434145-4CB2-9A78-10C7-D7F2ACB8F5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9153998"/>
            <a:ext cx="10111616" cy="80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576"/>
      </p:ext>
    </p:extLst>
  </p:cSld>
  <p:clrMapOvr>
    <a:masterClrMapping/>
  </p:clrMapOvr>
  <p:transition spd="slow">
    <p:cover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749D5-95F2-8679-58C3-F432DA1A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6506E9-69B2-4147-EA5D-0DE0F97B39F7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EAD321-78EC-409A-F2BD-F220103E5FD5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617A2C0-5525-E76E-4CD7-0EAF37373865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8B0ECE1-A88F-5119-4824-A6B4495DC4E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96EB9B9-61E4-07D7-3A50-56312EB26294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61D6FB3-89B0-A0E6-4E29-374FC0097AA8}"/>
              </a:ext>
            </a:extLst>
          </p:cNvPr>
          <p:cNvSpPr txBox="1"/>
          <p:nvPr/>
        </p:nvSpPr>
        <p:spPr>
          <a:xfrm>
            <a:off x="234562" y="280854"/>
            <a:ext cx="13163036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4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Decision Tree?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4592C2-B889-663F-8843-991DAD473564}"/>
              </a:ext>
            </a:extLst>
          </p:cNvPr>
          <p:cNvSpPr/>
          <p:nvPr/>
        </p:nvSpPr>
        <p:spPr>
          <a:xfrm>
            <a:off x="762000" y="1409700"/>
            <a:ext cx="13075258" cy="8421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Step 3: Hitung Information Gain Untuk Fitur Temperature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Hot = 4 data (Yes=2, No=2)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</a:rPr>
              <a:t>	Entropy = 1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Mild = 6 data (Yes=5, No=1)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</a:rPr>
              <a:t>	Entropy = 0.650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Cool = 4 data (Yes=3, No=1)</a:t>
            </a:r>
          </a:p>
          <a:p>
            <a:pPr lvl="1" algn="just"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</a:rPr>
              <a:t>	Entropy = 0.811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Hitung Entropy </a:t>
            </a:r>
            <a:r>
              <a:rPr lang="en-US" sz="2800" b="1" dirty="0" err="1">
                <a:latin typeface="Montserrat" panose="00000500000000000000" pitchFamily="2" charset="0"/>
              </a:rPr>
              <a:t>Gabungan</a:t>
            </a: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Hitung Information Gain</a:t>
            </a:r>
          </a:p>
          <a:p>
            <a:pPr algn="just">
              <a:lnSpc>
                <a:spcPct val="150000"/>
              </a:lnSpc>
            </a:pPr>
            <a:endParaRPr lang="en-US" sz="2800" b="1" dirty="0">
              <a:latin typeface="Montserrat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9ABF55-D701-9EF7-F2E1-E55417C18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395" y="7429500"/>
            <a:ext cx="8384145" cy="91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A6B054-D27D-E5AE-8DAB-4D514661A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742" y="9064169"/>
            <a:ext cx="7772400" cy="93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53783"/>
      </p:ext>
    </p:extLst>
  </p:cSld>
  <p:clrMapOvr>
    <a:masterClrMapping/>
  </p:clrMapOvr>
  <p:transition spd="slow">
    <p:cover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C8CE4-5003-D430-0DC8-BF7DCC622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E9B48CE-CB2F-B02D-DB2B-4264BECC3BB9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2F6B68B-FD5F-7BA2-A7C2-CBD2E65495B9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9732DC6-936C-864E-F81B-0100486B66BC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8011F6C-428A-5229-9795-9EF07976FCB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B033F72-44E4-BBB3-3233-A1D6B3FA4E41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62389DB-E95E-E479-9C00-C020C149CA62}"/>
              </a:ext>
            </a:extLst>
          </p:cNvPr>
          <p:cNvSpPr txBox="1"/>
          <p:nvPr/>
        </p:nvSpPr>
        <p:spPr>
          <a:xfrm>
            <a:off x="234562" y="280854"/>
            <a:ext cx="13163036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4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Decision Tree?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A5D8FE-F04E-8C4A-D9AE-63FB5F667BD7}"/>
              </a:ext>
            </a:extLst>
          </p:cNvPr>
          <p:cNvSpPr/>
          <p:nvPr/>
        </p:nvSpPr>
        <p:spPr>
          <a:xfrm>
            <a:off x="762000" y="1409700"/>
            <a:ext cx="13075258" cy="7775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Step 4: Hitung Information Gain Untuk Fitur Humidity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High = 7 data (Yes=3, No=4)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Normal = 7 data (Yes=6, No=1)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Hitung Entropy </a:t>
            </a:r>
            <a:r>
              <a:rPr lang="en-US" sz="2800" b="1" dirty="0" err="1">
                <a:latin typeface="Montserrat" panose="00000500000000000000" pitchFamily="2" charset="0"/>
              </a:rPr>
              <a:t>Gabungan</a:t>
            </a: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Hitung Information Gain</a:t>
            </a:r>
          </a:p>
          <a:p>
            <a:pPr algn="just">
              <a:lnSpc>
                <a:spcPct val="150000"/>
              </a:lnSpc>
            </a:pPr>
            <a:endParaRPr lang="en-US" sz="2800" b="1" dirty="0">
              <a:latin typeface="Montserrat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03CE93-276D-5922-6EDD-BBA55AF5E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36" y="2781300"/>
            <a:ext cx="9543163" cy="8371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8F09D3-350C-1AB4-7695-72D7F110B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510" y="4717694"/>
            <a:ext cx="9532889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DE83E3-A0A3-A3B9-A944-CBCD88D80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6668581"/>
            <a:ext cx="5600393" cy="11455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8161B8-17A5-8203-AD66-75E7F80017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4608" y="8594093"/>
            <a:ext cx="3673364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25530"/>
      </p:ext>
    </p:extLst>
  </p:cSld>
  <p:clrMapOvr>
    <a:masterClrMapping/>
  </p:clrMapOvr>
  <p:transition spd="slow">
    <p:cover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853E-5D93-26D5-8A38-B9579AF8A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140C6A-F119-1C95-3BDD-6C053B66F4A5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D17AF17-4B61-44A0-239B-E2885E59AE34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1B6ADF5-9871-4AE7-29C9-C2D265C4D10D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8A76E6D-60A6-06FE-D6A5-183CFA477EF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33D75BE-E7C7-F559-AAF8-0956C26538B7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649067-07BE-CCBD-9E5A-544C273EDF6C}"/>
              </a:ext>
            </a:extLst>
          </p:cNvPr>
          <p:cNvSpPr txBox="1"/>
          <p:nvPr/>
        </p:nvSpPr>
        <p:spPr>
          <a:xfrm>
            <a:off x="234562" y="280854"/>
            <a:ext cx="13163036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4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Decision Tree?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EA290A-88E6-0D04-3A21-99EED072E9ED}"/>
              </a:ext>
            </a:extLst>
          </p:cNvPr>
          <p:cNvSpPr/>
          <p:nvPr/>
        </p:nvSpPr>
        <p:spPr>
          <a:xfrm>
            <a:off x="762000" y="1409700"/>
            <a:ext cx="13075258" cy="7775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Step 5: Hitung Information Gain Untuk Fitur Windy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True = 6 data (Yes=5, No=1)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False = 8 data (Yes=4, No=4)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Hitung Entropy </a:t>
            </a:r>
            <a:r>
              <a:rPr lang="en-US" sz="2800" b="1" dirty="0" err="1">
                <a:latin typeface="Montserrat" panose="00000500000000000000" pitchFamily="2" charset="0"/>
              </a:rPr>
              <a:t>Gabungan</a:t>
            </a: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Montserrat" panose="00000500000000000000" pitchFamily="2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Hitung Information Gain</a:t>
            </a:r>
          </a:p>
          <a:p>
            <a:pPr algn="just">
              <a:lnSpc>
                <a:spcPct val="150000"/>
              </a:lnSpc>
            </a:pPr>
            <a:endParaRPr lang="en-US" sz="2800" b="1" dirty="0">
              <a:latin typeface="Montserrat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7EE368-7B9A-7EEE-30F9-0D5EBCBB7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218" y="2648579"/>
            <a:ext cx="5491152" cy="13691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08ABBC-6607-47A5-EB01-5E1B8CFF7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0454" y="4815528"/>
            <a:ext cx="6860054" cy="11455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27B82C-D0F1-F149-415E-43E486ADE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6748116"/>
            <a:ext cx="6520594" cy="9861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FAFB04-B8F1-C2C6-128B-AEA585A83C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0338" y="8486082"/>
            <a:ext cx="4650462" cy="127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11137"/>
      </p:ext>
    </p:extLst>
  </p:cSld>
  <p:clrMapOvr>
    <a:masterClrMapping/>
  </p:clrMapOvr>
  <p:transition spd="slow">
    <p:cover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4806-77EC-FC41-A40F-483E1240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9E0521-1A5B-DA5E-2EA0-3B688A733CCF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63094B-7E86-5279-67B5-DC706D2506FA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47F8A50-C29F-9D45-E1D9-A772B2C23CF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8D5E0CE-763C-8FD9-49B8-FD81E3AEF20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44EA28C-6C3F-E7D2-B2F0-8D110F6E200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6EE108-2E39-9EAB-1609-F80D79BB0A9C}"/>
              </a:ext>
            </a:extLst>
          </p:cNvPr>
          <p:cNvSpPr txBox="1"/>
          <p:nvPr/>
        </p:nvSpPr>
        <p:spPr>
          <a:xfrm>
            <a:off x="234562" y="280854"/>
            <a:ext cx="13163036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4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Decision Tree?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F3BDCA-4E1D-1FA0-7B88-26CCB2B1385E}"/>
              </a:ext>
            </a:extLst>
          </p:cNvPr>
          <p:cNvSpPr/>
          <p:nvPr/>
        </p:nvSpPr>
        <p:spPr>
          <a:xfrm>
            <a:off x="780320" y="1562100"/>
            <a:ext cx="13944600" cy="1958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Step 6: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Tentukan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root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nya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berdasarkan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nilai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information gain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terbesar</a:t>
            </a:r>
            <a:endParaRPr lang="en-US" sz="2800" b="1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Step 7 :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Lakukan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perhitungan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ulang seperti step 2-5</a:t>
            </a:r>
          </a:p>
          <a:p>
            <a:pPr algn="just">
              <a:lnSpc>
                <a:spcPct val="150000"/>
              </a:lnSpc>
            </a:pPr>
            <a:endParaRPr lang="en-US" sz="2800" b="1" dirty="0">
              <a:latin typeface="Montserrat" panose="000005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19822E-E8AD-B114-87F1-C07B534921AC}"/>
              </a:ext>
            </a:extLst>
          </p:cNvPr>
          <p:cNvSpPr/>
          <p:nvPr/>
        </p:nvSpPr>
        <p:spPr>
          <a:xfrm>
            <a:off x="6021980" y="3314700"/>
            <a:ext cx="3657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Outlook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72AFD9-9D0F-7282-C55C-3AA0002F1F8D}"/>
              </a:ext>
            </a:extLst>
          </p:cNvPr>
          <p:cNvSpPr/>
          <p:nvPr/>
        </p:nvSpPr>
        <p:spPr>
          <a:xfrm>
            <a:off x="1990165" y="5372100"/>
            <a:ext cx="3657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Humidity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C6C1C-DBBE-811D-7DCE-789E19FD3DF1}"/>
              </a:ext>
            </a:extLst>
          </p:cNvPr>
          <p:cNvSpPr/>
          <p:nvPr/>
        </p:nvSpPr>
        <p:spPr>
          <a:xfrm>
            <a:off x="6110537" y="5419165"/>
            <a:ext cx="3657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Outlook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155633-42CC-4EE1-51C0-4A6C6D347EBA}"/>
              </a:ext>
            </a:extLst>
          </p:cNvPr>
          <p:cNvSpPr/>
          <p:nvPr/>
        </p:nvSpPr>
        <p:spPr>
          <a:xfrm>
            <a:off x="6110537" y="5372100"/>
            <a:ext cx="3657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Yes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EDBD99-28B6-173A-EFAE-854AD5D111E6}"/>
              </a:ext>
            </a:extLst>
          </p:cNvPr>
          <p:cNvSpPr/>
          <p:nvPr/>
        </p:nvSpPr>
        <p:spPr>
          <a:xfrm>
            <a:off x="10230909" y="5419165"/>
            <a:ext cx="3657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Wind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BD9F31-DB25-D645-C7D2-C0BBA7DF67F0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3818965" y="4305300"/>
            <a:ext cx="4031815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7FBE8B-129C-B36A-60D6-D761DE48A27F}"/>
              </a:ext>
            </a:extLst>
          </p:cNvPr>
          <p:cNvCxnSpPr>
            <a:stCxn id="6" idx="2"/>
            <a:endCxn id="14" idx="0"/>
          </p:cNvCxnSpPr>
          <p:nvPr/>
        </p:nvCxnSpPr>
        <p:spPr>
          <a:xfrm>
            <a:off x="7850780" y="4305300"/>
            <a:ext cx="88557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23936E-A496-994E-3689-370B2F477B61}"/>
              </a:ext>
            </a:extLst>
          </p:cNvPr>
          <p:cNvCxnSpPr>
            <a:stCxn id="6" idx="2"/>
            <a:endCxn id="15" idx="0"/>
          </p:cNvCxnSpPr>
          <p:nvPr/>
        </p:nvCxnSpPr>
        <p:spPr>
          <a:xfrm>
            <a:off x="7850780" y="4305300"/>
            <a:ext cx="4208929" cy="1113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C78F289-C371-8722-1E71-8C615EDFDCB9}"/>
              </a:ext>
            </a:extLst>
          </p:cNvPr>
          <p:cNvSpPr txBox="1"/>
          <p:nvPr/>
        </p:nvSpPr>
        <p:spPr>
          <a:xfrm>
            <a:off x="3818965" y="46101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Sunny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196079-475C-4E12-6619-ADE31F737345}"/>
              </a:ext>
            </a:extLst>
          </p:cNvPr>
          <p:cNvSpPr txBox="1"/>
          <p:nvPr/>
        </p:nvSpPr>
        <p:spPr>
          <a:xfrm>
            <a:off x="7123487" y="463205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Cloudy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BDBDF7-A6D6-EDCA-6456-C22606E2972C}"/>
              </a:ext>
            </a:extLst>
          </p:cNvPr>
          <p:cNvSpPr txBox="1"/>
          <p:nvPr/>
        </p:nvSpPr>
        <p:spPr>
          <a:xfrm>
            <a:off x="10428009" y="46540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Rainy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526C1C-132B-5AA5-CB6A-F5195DE7C524}"/>
              </a:ext>
            </a:extLst>
          </p:cNvPr>
          <p:cNvSpPr/>
          <p:nvPr/>
        </p:nvSpPr>
        <p:spPr>
          <a:xfrm>
            <a:off x="3845859" y="7734300"/>
            <a:ext cx="3657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Yes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BE7AD0-BAA4-2A5F-CA03-01447A13017A}"/>
              </a:ext>
            </a:extLst>
          </p:cNvPr>
          <p:cNvSpPr/>
          <p:nvPr/>
        </p:nvSpPr>
        <p:spPr>
          <a:xfrm>
            <a:off x="22412" y="7718915"/>
            <a:ext cx="3657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No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072978-A5B7-53A6-A341-D3B17D8BD358}"/>
              </a:ext>
            </a:extLst>
          </p:cNvPr>
          <p:cNvSpPr/>
          <p:nvPr/>
        </p:nvSpPr>
        <p:spPr>
          <a:xfrm>
            <a:off x="13011571" y="7791239"/>
            <a:ext cx="3657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Yes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21EE62-A2FC-9B19-1275-74EFF1857FD3}"/>
              </a:ext>
            </a:extLst>
          </p:cNvPr>
          <p:cNvSpPr/>
          <p:nvPr/>
        </p:nvSpPr>
        <p:spPr>
          <a:xfrm>
            <a:off x="9188124" y="7775854"/>
            <a:ext cx="3657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No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E605844-E18F-4674-7CFE-E92D3F9D00F3}"/>
              </a:ext>
            </a:extLst>
          </p:cNvPr>
          <p:cNvCxnSpPr>
            <a:stCxn id="9" idx="2"/>
            <a:endCxn id="28" idx="0"/>
          </p:cNvCxnSpPr>
          <p:nvPr/>
        </p:nvCxnSpPr>
        <p:spPr>
          <a:xfrm flipH="1">
            <a:off x="1851212" y="6362700"/>
            <a:ext cx="1967753" cy="1356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38C50A4-1078-89B0-B1CF-7D7618F8BE0C}"/>
              </a:ext>
            </a:extLst>
          </p:cNvPr>
          <p:cNvCxnSpPr>
            <a:stCxn id="9" idx="2"/>
          </p:cNvCxnSpPr>
          <p:nvPr/>
        </p:nvCxnSpPr>
        <p:spPr>
          <a:xfrm>
            <a:off x="3818965" y="6362700"/>
            <a:ext cx="1759612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58F608D-6402-F47D-0F70-06373F9FE205}"/>
              </a:ext>
            </a:extLst>
          </p:cNvPr>
          <p:cNvCxnSpPr>
            <a:stCxn id="15" idx="2"/>
            <a:endCxn id="30" idx="0"/>
          </p:cNvCxnSpPr>
          <p:nvPr/>
        </p:nvCxnSpPr>
        <p:spPr>
          <a:xfrm flipH="1">
            <a:off x="11016924" y="6409765"/>
            <a:ext cx="1042785" cy="136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1EADA7-EC54-5001-6338-207BC847008A}"/>
              </a:ext>
            </a:extLst>
          </p:cNvPr>
          <p:cNvCxnSpPr>
            <a:stCxn id="15" idx="2"/>
            <a:endCxn id="29" idx="0"/>
          </p:cNvCxnSpPr>
          <p:nvPr/>
        </p:nvCxnSpPr>
        <p:spPr>
          <a:xfrm>
            <a:off x="12059709" y="6409765"/>
            <a:ext cx="2780662" cy="1381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37B4C56-D77D-F91A-0878-3D6F685FCB5B}"/>
              </a:ext>
            </a:extLst>
          </p:cNvPr>
          <p:cNvSpPr txBox="1"/>
          <p:nvPr/>
        </p:nvSpPr>
        <p:spPr>
          <a:xfrm>
            <a:off x="1847307" y="675536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3EAC8F-2EF2-EF9C-C08F-3D59F8DF1BE4}"/>
              </a:ext>
            </a:extLst>
          </p:cNvPr>
          <p:cNvSpPr txBox="1"/>
          <p:nvPr/>
        </p:nvSpPr>
        <p:spPr>
          <a:xfrm>
            <a:off x="5025809" y="672347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E48F34-8179-21FE-7C44-F4FCEB7AD55E}"/>
              </a:ext>
            </a:extLst>
          </p:cNvPr>
          <p:cNvSpPr txBox="1"/>
          <p:nvPr/>
        </p:nvSpPr>
        <p:spPr>
          <a:xfrm>
            <a:off x="10428009" y="678525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86B700-318F-8F0E-977D-A7A21FB88E42}"/>
              </a:ext>
            </a:extLst>
          </p:cNvPr>
          <p:cNvSpPr txBox="1"/>
          <p:nvPr/>
        </p:nvSpPr>
        <p:spPr>
          <a:xfrm>
            <a:off x="13767463" y="678988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Weak</a:t>
            </a:r>
          </a:p>
        </p:txBody>
      </p:sp>
    </p:spTree>
    <p:extLst>
      <p:ext uri="{BB962C8B-B14F-4D97-AF65-F5344CB8AC3E}">
        <p14:creationId xmlns:p14="http://schemas.microsoft.com/office/powerpoint/2010/main" val="3152471413"/>
      </p:ext>
    </p:extLst>
  </p:cSld>
  <p:clrMapOvr>
    <a:masterClrMapping/>
  </p:clrMapOvr>
  <p:transition spd="slow">
    <p:cover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88229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Evaluation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Classification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4200240"/>
      </p:ext>
    </p:extLst>
  </p:cSld>
  <p:clrMapOvr>
    <a:masterClrMapping/>
  </p:clrMapOvr>
  <p:transition spd="slow">
    <p:cover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D0640-848B-11D7-939C-2C48B4B0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AD83CA35-CA94-BC52-42CC-FADD18C25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427" y="1709779"/>
            <a:ext cx="15240000" cy="821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A762A2BA-59B1-03C5-9470-2DED2D97BC66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67E9E9-A588-7DAC-1E96-358313BD2F4A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C9B78A8-F688-7E32-F073-5F502AA7F5F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22EA420-4B47-FF25-8D3F-21C252E8CC5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D1C99D7-5D78-D0B1-22A7-2C2B2687146A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769B32-9E9C-7E53-6CEF-22F00ABCB157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Serupa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tapi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tak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sama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  <p:extLst>
      <p:ext uri="{BB962C8B-B14F-4D97-AF65-F5344CB8AC3E}">
        <p14:creationId xmlns:p14="http://schemas.microsoft.com/office/powerpoint/2010/main" val="2032243480"/>
      </p:ext>
    </p:extLst>
  </p:cSld>
  <p:clrMapOvr>
    <a:masterClrMapping/>
  </p:clrMapOvr>
  <p:transition spd="slow">
    <p:cover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Confusion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93228" y="3314700"/>
            <a:ext cx="75438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1" dirty="0">
                <a:latin typeface="Montserrat" panose="020B0604020202020204" charset="0"/>
              </a:rPr>
              <a:t>Confusion matrix</a:t>
            </a:r>
            <a:r>
              <a:rPr lang="en-US" sz="2800" dirty="0">
                <a:latin typeface="Montserrat" panose="020B0604020202020204" charset="0"/>
              </a:rPr>
              <a:t> </a:t>
            </a:r>
            <a:r>
              <a:rPr lang="en-US" sz="2800" dirty="0" err="1">
                <a:latin typeface="Montserrat" panose="020B0604020202020204" charset="0"/>
              </a:rPr>
              <a:t>adalah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alat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untuk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mengevaluasi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kinerja</a:t>
            </a:r>
            <a:r>
              <a:rPr lang="en-US" sz="2800" dirty="0">
                <a:latin typeface="Montserrat" panose="020B0604020202020204" charset="0"/>
              </a:rPr>
              <a:t> model </a:t>
            </a:r>
            <a:r>
              <a:rPr lang="en-US" sz="2800" dirty="0" err="1">
                <a:latin typeface="Montserrat" panose="020B0604020202020204" charset="0"/>
              </a:rPr>
              <a:t>klasifikasi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dengan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menunjukkan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jumlah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prediksi</a:t>
            </a:r>
            <a:r>
              <a:rPr lang="en-US" sz="2800" dirty="0">
                <a:latin typeface="Montserrat" panose="020B0604020202020204" charset="0"/>
              </a:rPr>
              <a:t> yang </a:t>
            </a:r>
            <a:r>
              <a:rPr lang="en-US" sz="2800" dirty="0" err="1">
                <a:latin typeface="Montserrat" panose="020B0604020202020204" charset="0"/>
              </a:rPr>
              <a:t>benar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dan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salah</a:t>
            </a:r>
            <a:r>
              <a:rPr lang="en-US" sz="2800" dirty="0">
                <a:latin typeface="Montserrat" panose="020B0604020202020204" charset="0"/>
              </a:rPr>
              <a:t> </a:t>
            </a:r>
            <a:r>
              <a:rPr lang="en-US" sz="2800" dirty="0" err="1">
                <a:latin typeface="Montserrat" panose="020B0604020202020204" charset="0"/>
              </a:rPr>
              <a:t>dalam</a:t>
            </a:r>
            <a:r>
              <a:rPr lang="en-US" sz="2800" dirty="0">
                <a:latin typeface="Montserrat" panose="020B0604020202020204" charset="0"/>
              </a:rPr>
              <a:t> format </a:t>
            </a:r>
            <a:r>
              <a:rPr lang="en-US" sz="2800" dirty="0" err="1">
                <a:latin typeface="Montserrat" panose="020B0604020202020204" charset="0"/>
              </a:rPr>
              <a:t>tabel</a:t>
            </a:r>
            <a:r>
              <a:rPr lang="en-US" sz="2800" dirty="0">
                <a:latin typeface="Montserrat" panose="020B0604020202020204" charset="0"/>
              </a:rPr>
              <a:t>. </a:t>
            </a:r>
          </a:p>
        </p:txBody>
      </p:sp>
      <p:pic>
        <p:nvPicPr>
          <p:cNvPr id="17410" name="Picture 2" descr="dos-ad83c262ee2432f5fedfa32b2a19c69b20241015153232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0" t="21149" r="14785"/>
          <a:stretch/>
        </p:blipFill>
        <p:spPr bwMode="auto">
          <a:xfrm>
            <a:off x="714606" y="2857500"/>
            <a:ext cx="6875359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143000" y="7193537"/>
            <a:ext cx="15163800" cy="188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" panose="020B0604020202020204" charset="0"/>
              </a:rPr>
              <a:t>True Positives (TP):</a:t>
            </a:r>
            <a:r>
              <a:rPr lang="en-US" sz="2000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jumlah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kasus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positif</a:t>
            </a:r>
            <a:r>
              <a:rPr lang="en-US" sz="2000" dirty="0">
                <a:latin typeface="Montserrat" panose="020B0604020202020204" charset="0"/>
              </a:rPr>
              <a:t> yang </a:t>
            </a:r>
            <a:r>
              <a:rPr lang="en-US" sz="2000" dirty="0" err="1">
                <a:latin typeface="Montserrat" panose="020B0604020202020204" charset="0"/>
              </a:rPr>
              <a:t>benar-benar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diprediksi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positif</a:t>
            </a:r>
            <a:r>
              <a:rPr lang="en-US" sz="20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" panose="020B0604020202020204" charset="0"/>
              </a:rPr>
              <a:t>True Negatives (TN):</a:t>
            </a:r>
            <a:r>
              <a:rPr lang="en-US" sz="2000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jumlah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kasus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negatif</a:t>
            </a:r>
            <a:r>
              <a:rPr lang="en-US" sz="2000" dirty="0">
                <a:latin typeface="Montserrat" panose="020B0604020202020204" charset="0"/>
              </a:rPr>
              <a:t> yang </a:t>
            </a:r>
            <a:r>
              <a:rPr lang="en-US" sz="2000" dirty="0" err="1">
                <a:latin typeface="Montserrat" panose="020B0604020202020204" charset="0"/>
              </a:rPr>
              <a:t>benar-benar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diprediksi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negatif</a:t>
            </a:r>
            <a:r>
              <a:rPr lang="en-US" sz="2000" dirty="0">
                <a:latin typeface="Montserrat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" panose="020B0604020202020204" charset="0"/>
              </a:rPr>
              <a:t>False Positives (FP):</a:t>
            </a:r>
            <a:r>
              <a:rPr lang="en-US" sz="2000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jumlah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kasus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negatif</a:t>
            </a:r>
            <a:r>
              <a:rPr lang="en-US" sz="2000" dirty="0">
                <a:latin typeface="Montserrat" panose="020B0604020202020204" charset="0"/>
              </a:rPr>
              <a:t> yang </a:t>
            </a:r>
            <a:r>
              <a:rPr lang="en-US" sz="2000" dirty="0" err="1">
                <a:latin typeface="Montserrat" panose="020B0604020202020204" charset="0"/>
              </a:rPr>
              <a:t>diprediksi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positif</a:t>
            </a:r>
            <a:r>
              <a:rPr lang="en-US" sz="2000" dirty="0">
                <a:latin typeface="Montserrat" panose="020B0604020202020204" charset="0"/>
              </a:rPr>
              <a:t> (</a:t>
            </a:r>
            <a:r>
              <a:rPr lang="en-US" sz="2000" dirty="0" err="1">
                <a:latin typeface="Montserrat" panose="020B0604020202020204" charset="0"/>
              </a:rPr>
              <a:t>juga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dikenal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kesalahan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tipe</a:t>
            </a:r>
            <a:r>
              <a:rPr lang="en-US" sz="2000" dirty="0">
                <a:latin typeface="Montserrat" panose="020B0604020202020204" charset="0"/>
              </a:rPr>
              <a:t> I).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" panose="020B0604020202020204" charset="0"/>
              </a:rPr>
              <a:t>False Negatives (FN):</a:t>
            </a:r>
            <a:r>
              <a:rPr lang="en-US" sz="2000" dirty="0">
                <a:latin typeface="Montserrat" panose="020B0604020202020204" charset="0"/>
              </a:rPr>
              <a:t> </a:t>
            </a:r>
            <a:r>
              <a:rPr lang="en-US" sz="2000" dirty="0" err="1">
                <a:latin typeface="Montserrat" panose="020B0604020202020204" charset="0"/>
              </a:rPr>
              <a:t>jumlah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kasus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positif</a:t>
            </a:r>
            <a:r>
              <a:rPr lang="en-US" sz="2000" dirty="0">
                <a:latin typeface="Montserrat" panose="020B0604020202020204" charset="0"/>
              </a:rPr>
              <a:t> yang </a:t>
            </a:r>
            <a:r>
              <a:rPr lang="en-US" sz="2000" dirty="0" err="1">
                <a:latin typeface="Montserrat" panose="020B0604020202020204" charset="0"/>
              </a:rPr>
              <a:t>diprediksi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negatif</a:t>
            </a:r>
            <a:r>
              <a:rPr lang="en-US" sz="2000" dirty="0">
                <a:latin typeface="Montserrat" panose="020B0604020202020204" charset="0"/>
              </a:rPr>
              <a:t> (</a:t>
            </a:r>
            <a:r>
              <a:rPr lang="en-US" sz="2000" dirty="0" err="1">
                <a:latin typeface="Montserrat" panose="020B0604020202020204" charset="0"/>
              </a:rPr>
              <a:t>juga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dikenal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sebagai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kesalahan</a:t>
            </a:r>
            <a:r>
              <a:rPr lang="en-US" sz="2000" dirty="0">
                <a:latin typeface="Montserrat" panose="020B0604020202020204" charset="0"/>
              </a:rPr>
              <a:t> </a:t>
            </a:r>
            <a:r>
              <a:rPr lang="en-US" sz="2000" dirty="0" err="1">
                <a:latin typeface="Montserrat" panose="020B0604020202020204" charset="0"/>
              </a:rPr>
              <a:t>tipe</a:t>
            </a:r>
            <a:r>
              <a:rPr lang="en-US" sz="2000" dirty="0">
                <a:latin typeface="Montserrat" panose="020B0604020202020204" charset="0"/>
              </a:rPr>
              <a:t> II).</a:t>
            </a:r>
          </a:p>
        </p:txBody>
      </p:sp>
    </p:spTree>
    <p:extLst>
      <p:ext uri="{BB962C8B-B14F-4D97-AF65-F5344CB8AC3E}">
        <p14:creationId xmlns:p14="http://schemas.microsoft.com/office/powerpoint/2010/main" val="1347835349"/>
      </p:ext>
    </p:extLst>
  </p:cSld>
  <p:clrMapOvr>
    <a:masterClrMapping/>
  </p:clrMapOvr>
  <p:transition spd="slow">
    <p:cover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Confusion Matrix</a:t>
            </a:r>
          </a:p>
        </p:txBody>
      </p:sp>
      <p:pic>
        <p:nvPicPr>
          <p:cNvPr id="19458" name="Picture 2" descr="dos-80cbb62ff55204a33c9e4d575569a6a520241015153232.jpe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7" t="6537" r="4839" b="7180"/>
          <a:stretch/>
        </p:blipFill>
        <p:spPr bwMode="auto">
          <a:xfrm>
            <a:off x="225597" y="3213100"/>
            <a:ext cx="80772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966853"/>
              </p:ext>
            </p:extLst>
          </p:nvPr>
        </p:nvGraphicFramePr>
        <p:xfrm>
          <a:off x="8458200" y="2837180"/>
          <a:ext cx="8001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Montserrat" panose="020B0604020202020204" charset="0"/>
                        </a:rPr>
                        <a:t>Prediksi</a:t>
                      </a:r>
                      <a:r>
                        <a:rPr lang="en-US" dirty="0">
                          <a:latin typeface="Montserrat" panose="020B0604020202020204" charset="0"/>
                        </a:rPr>
                        <a:t> 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Montserrat" panose="020B0604020202020204" charset="0"/>
                        </a:rPr>
                        <a:t>Prediksi</a:t>
                      </a:r>
                      <a:r>
                        <a:rPr lang="en-US" dirty="0">
                          <a:latin typeface="Montserrat" panose="020B0604020202020204" charset="0"/>
                        </a:rPr>
                        <a:t> </a:t>
                      </a:r>
                      <a:r>
                        <a:rPr lang="en-US" dirty="0" err="1">
                          <a:latin typeface="Montserrat" panose="020B0604020202020204" charset="0"/>
                        </a:rPr>
                        <a:t>Bukan</a:t>
                      </a:r>
                      <a:r>
                        <a:rPr lang="en-US" dirty="0">
                          <a:latin typeface="Montserrat" panose="020B0604020202020204" charset="0"/>
                        </a:rPr>
                        <a:t>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anose="020B0604020202020204" charset="0"/>
                        </a:rPr>
                        <a:t>Spam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anose="020B060402020202020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anose="020B060402020202020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Montserrat" panose="020B0604020202020204" charset="0"/>
                        </a:rPr>
                        <a:t>Bukan</a:t>
                      </a:r>
                      <a:r>
                        <a:rPr lang="en-US" dirty="0">
                          <a:latin typeface="Montserrat" panose="020B0604020202020204" charset="0"/>
                        </a:rPr>
                        <a:t> Spam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anose="020B060402020202020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anose="020B060402020202020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4598432"/>
            <a:ext cx="4996328" cy="1219200"/>
          </a:xfrm>
          <a:prstGeom prst="rect">
            <a:avLst/>
          </a:prstGeom>
        </p:spPr>
      </p:pic>
      <p:cxnSp>
        <p:nvCxnSpPr>
          <p:cNvPr id="22" name="Curved Connector 21"/>
          <p:cNvCxnSpPr>
            <a:endCxn id="13" idx="1"/>
          </p:cNvCxnSpPr>
          <p:nvPr/>
        </p:nvCxnSpPr>
        <p:spPr>
          <a:xfrm flipV="1">
            <a:off x="8229600" y="5208032"/>
            <a:ext cx="1828800" cy="9144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058400" y="42291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Montserrat" panose="020B0604020202020204" charset="0"/>
              </a:rPr>
              <a:t>Example : </a:t>
            </a:r>
          </a:p>
        </p:txBody>
      </p:sp>
    </p:spTree>
    <p:extLst>
      <p:ext uri="{BB962C8B-B14F-4D97-AF65-F5344CB8AC3E}">
        <p14:creationId xmlns:p14="http://schemas.microsoft.com/office/powerpoint/2010/main" val="4257999931"/>
      </p:ext>
    </p:extLst>
  </p:cSld>
  <p:clrMapOvr>
    <a:masterClrMapping/>
  </p:clrMapOvr>
  <p:transition spd="slow">
    <p:cover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7AF9-6D6A-2B5C-1D99-59799665F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2CB8D0F7-1EB5-4754-230F-46E3A08DB144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51D8365-2C12-194D-D267-0FECA32C1656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7E4D4E0-8010-5E18-FAD5-A4F0AA6C734F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644609A-746D-44C9-9B96-7655801A6C09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028104A-7311-0791-2C0A-A4F1BEC45679}"/>
              </a:ext>
            </a:extLst>
          </p:cNvPr>
          <p:cNvSpPr txBox="1"/>
          <p:nvPr/>
        </p:nvSpPr>
        <p:spPr>
          <a:xfrm>
            <a:off x="1311647" y="4214179"/>
            <a:ext cx="88229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 Kerja Model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839AC07-0E1F-BBBB-1E18-89C58C5F3A0A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u="none" strike="noStrike" spc="224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Klasifikasi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03DFF50C-843A-374E-3289-B01D67C0078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BFE36B7E-AE35-3564-BBA8-7BCD411739D4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92307252"/>
      </p:ext>
    </p:extLst>
  </p:cSld>
  <p:clrMapOvr>
    <a:masterClrMapping/>
  </p:clrMapOvr>
  <p:transition spd="slow">
    <p:cover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74ABC-45E4-37B4-4628-52ABD92DB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1B5690A-F51B-896E-B61C-F4DD119C4AFA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1C3C23-D10B-DDFE-BAB7-6FAF6EF292D8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C746FC1-E69C-0C2B-E0E6-0E2E53C61C7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34C4B29-17D7-4DC6-BA2F-A8FE731185FE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A030F6D-00BC-D338-FB21-BABC8D767CFA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52E4CD-FCC6-23F9-5F30-F4761B872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876300"/>
            <a:ext cx="8686800" cy="28544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 descr="Analisis Menggunakan NaiveBayes dengan Python pada Data Perawatan Kutil  dengan Cryotherapy | by DIANAWATI KHAERUNNISA | Medium">
            <a:extLst>
              <a:ext uri="{FF2B5EF4-FFF2-40B4-BE49-F238E27FC236}">
                <a16:creationId xmlns:a16="http://schemas.microsoft.com/office/drawing/2014/main" id="{2F12CCF7-0B70-5B7F-7BE9-8F21B7B8E1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8"/>
          <a:stretch/>
        </p:blipFill>
        <p:spPr bwMode="auto">
          <a:xfrm>
            <a:off x="2411968" y="4686300"/>
            <a:ext cx="8183632" cy="2971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6A3968-E6FC-7545-7616-BA50ED57CB89}"/>
              </a:ext>
            </a:extLst>
          </p:cNvPr>
          <p:cNvSpPr txBox="1"/>
          <p:nvPr/>
        </p:nvSpPr>
        <p:spPr>
          <a:xfrm>
            <a:off x="3429000" y="140552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Bisa Menggunakan: ---&gt;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2BDD9A-CF73-D1EF-F460-E7E31F179E6B}"/>
              </a:ext>
            </a:extLst>
          </p:cNvPr>
          <p:cNvCxnSpPr>
            <a:cxnSpLocks/>
          </p:cNvCxnSpPr>
          <p:nvPr/>
        </p:nvCxnSpPr>
        <p:spPr>
          <a:xfrm flipH="1">
            <a:off x="3124201" y="2914618"/>
            <a:ext cx="1409699" cy="2457482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B4AE909-B656-256A-88A6-9E7E72C534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6362700"/>
            <a:ext cx="5284884" cy="35440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B4E68B40-5B25-936D-F69A-70E243EA5502}"/>
              </a:ext>
            </a:extLst>
          </p:cNvPr>
          <p:cNvSpPr/>
          <p:nvPr/>
        </p:nvSpPr>
        <p:spPr>
          <a:xfrm>
            <a:off x="538573" y="1426009"/>
            <a:ext cx="738664" cy="73866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31A9E3-8CDB-2254-4DB0-4881B6F1C764}"/>
              </a:ext>
            </a:extLst>
          </p:cNvPr>
          <p:cNvSpPr/>
          <p:nvPr/>
        </p:nvSpPr>
        <p:spPr>
          <a:xfrm>
            <a:off x="1673304" y="4533900"/>
            <a:ext cx="738664" cy="73866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2.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1B3AB68-2C71-BB7D-0794-534FDC08E19F}"/>
              </a:ext>
            </a:extLst>
          </p:cNvPr>
          <p:cNvCxnSpPr>
            <a:cxnSpLocks/>
          </p:cNvCxnSpPr>
          <p:nvPr/>
        </p:nvCxnSpPr>
        <p:spPr>
          <a:xfrm>
            <a:off x="4953000" y="4457700"/>
            <a:ext cx="8686800" cy="2743200"/>
          </a:xfrm>
          <a:prstGeom prst="bentConnector3">
            <a:avLst>
              <a:gd name="adj1" fmla="val 99845"/>
            </a:avLst>
          </a:prstGeom>
          <a:ln w="5715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3611D2-326E-EAE9-BEDD-36866E7289EB}"/>
              </a:ext>
            </a:extLst>
          </p:cNvPr>
          <p:cNvCxnSpPr>
            <a:cxnSpLocks/>
          </p:cNvCxnSpPr>
          <p:nvPr/>
        </p:nvCxnSpPr>
        <p:spPr>
          <a:xfrm flipV="1">
            <a:off x="4953000" y="4381500"/>
            <a:ext cx="0" cy="38100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EC411E22-6991-B55C-1D5F-C8CA5B0752A5}"/>
              </a:ext>
            </a:extLst>
          </p:cNvPr>
          <p:cNvSpPr/>
          <p:nvPr/>
        </p:nvSpPr>
        <p:spPr>
          <a:xfrm>
            <a:off x="11298405" y="5459968"/>
            <a:ext cx="738664" cy="73866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11624135"/>
      </p:ext>
    </p:extLst>
  </p:cSld>
  <p:clrMapOvr>
    <a:masterClrMapping/>
  </p:clrMapOvr>
  <p:transition spd="slow">
    <p:cover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62FA9-8888-4538-46AE-0F25711B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A0780D-3DF2-3CCC-770B-82DD16A690B2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CF4EDDD-A888-A1BA-C4F5-31E022564EA0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8D32B61-8694-CC22-8EED-EF1D9D07E19C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2312475-BC33-9C33-3EF4-05F7DAFE1ED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C3CDB48-7CA4-B646-A643-71E6EB8CD757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585BC69-8A94-779E-2DE8-EE342CA8D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1102677"/>
            <a:ext cx="5284884" cy="35440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3C7C33D3-75EE-6769-3474-00883C711072}"/>
              </a:ext>
            </a:extLst>
          </p:cNvPr>
          <p:cNvSpPr/>
          <p:nvPr/>
        </p:nvSpPr>
        <p:spPr>
          <a:xfrm>
            <a:off x="1136505" y="1142556"/>
            <a:ext cx="738664" cy="73866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3.</a:t>
            </a:r>
          </a:p>
        </p:txBody>
      </p:sp>
      <p:pic>
        <p:nvPicPr>
          <p:cNvPr id="2050" name="Picture 2" descr="Understanding Cross-Validation | Aptech">
            <a:extLst>
              <a:ext uri="{FF2B5EF4-FFF2-40B4-BE49-F238E27FC236}">
                <a16:creationId xmlns:a16="http://schemas.microsoft.com/office/drawing/2014/main" id="{BC7384B6-1839-D49C-60D7-DC9032EC9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844" y="2628900"/>
            <a:ext cx="7736640" cy="6591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0EEC468-5DAE-2259-4600-7E7D55D0E91B}"/>
              </a:ext>
            </a:extLst>
          </p:cNvPr>
          <p:cNvCxnSpPr/>
          <p:nvPr/>
        </p:nvCxnSpPr>
        <p:spPr>
          <a:xfrm>
            <a:off x="2362200" y="2400300"/>
            <a:ext cx="6369847" cy="4572000"/>
          </a:xfrm>
          <a:prstGeom prst="bentConnector3">
            <a:avLst>
              <a:gd name="adj1" fmla="val -14176"/>
            </a:avLst>
          </a:prstGeom>
          <a:ln w="57150"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6764F85-E7B2-7758-0AAA-6019D59437E5}"/>
              </a:ext>
            </a:extLst>
          </p:cNvPr>
          <p:cNvSpPr/>
          <p:nvPr/>
        </p:nvSpPr>
        <p:spPr>
          <a:xfrm>
            <a:off x="8432092" y="1661636"/>
            <a:ext cx="738664" cy="73866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308846500"/>
      </p:ext>
    </p:extLst>
  </p:cSld>
  <p:clrMapOvr>
    <a:masterClrMapping/>
  </p:clrMapOvr>
  <p:transition spd="slow">
    <p:cover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D9CB6-F362-4BE6-70E8-9376BF2D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EFF1E9-5E3B-21ED-E895-D82661911A28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9DE36D-1CA3-032A-0F40-FB01839AC4F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4571C7-A5F5-6477-2667-903A3A80D6E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ACB24A5-DD46-7222-03CA-34FFF1BAB37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7E01675-4D66-4F94-805A-F00AC34F87CF}"/>
              </a:ext>
            </a:extLst>
          </p:cNvPr>
          <p:cNvSpPr txBox="1"/>
          <p:nvPr/>
        </p:nvSpPr>
        <p:spPr>
          <a:xfrm>
            <a:off x="6083684" y="1257300"/>
            <a:ext cx="5211826" cy="93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Reference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46B2E8D7-FBE4-16BA-BBCF-92EE3826DAC6}"/>
              </a:ext>
            </a:extLst>
          </p:cNvPr>
          <p:cNvSpPr txBox="1"/>
          <p:nvPr/>
        </p:nvSpPr>
        <p:spPr>
          <a:xfrm>
            <a:off x="767595" y="2919347"/>
            <a:ext cx="15844005" cy="3426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Nils. J. Nilson, 1998, </a:t>
            </a:r>
            <a:r>
              <a:rPr lang="en-US" sz="2800" b="0" i="0" dirty="0" err="1">
                <a:solidFill>
                  <a:srgbClr val="074364"/>
                </a:solidFill>
                <a:effectLst/>
                <a:latin typeface="Raleway" pitchFamily="2" charset="0"/>
              </a:rPr>
              <a:t>Intoduction</a:t>
            </a: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 to Machine Learning, Department of Computer Science, </a:t>
            </a:r>
            <a:r>
              <a:rPr lang="en-US" sz="2800" b="0" i="0" dirty="0" err="1">
                <a:solidFill>
                  <a:srgbClr val="074364"/>
                </a:solidFill>
                <a:effectLst/>
                <a:latin typeface="Raleway" pitchFamily="2" charset="0"/>
              </a:rPr>
              <a:t>Standford</a:t>
            </a: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 University, Last Edition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074364"/>
                </a:solidFill>
                <a:latin typeface="Raleway" pitchFamily="2" charset="0"/>
              </a:rPr>
              <a:t>Dicoding</a:t>
            </a:r>
            <a:r>
              <a:rPr lang="en-US" sz="2800" dirty="0">
                <a:solidFill>
                  <a:srgbClr val="074364"/>
                </a:solidFill>
                <a:latin typeface="Raleway" pitchFamily="2" charset="0"/>
              </a:rPr>
              <a:t> – Belajar Machine Learning untuk </a:t>
            </a:r>
            <a:r>
              <a:rPr lang="en-US" sz="2800" dirty="0" err="1">
                <a:solidFill>
                  <a:srgbClr val="074364"/>
                </a:solidFill>
                <a:latin typeface="Raleway" pitchFamily="2" charset="0"/>
              </a:rPr>
              <a:t>Pemula</a:t>
            </a:r>
            <a:endParaRPr lang="en-US" sz="2800" dirty="0">
              <a:solidFill>
                <a:srgbClr val="074364"/>
              </a:solidFill>
              <a:latin typeface="Raleway" pitchFamily="2" charset="0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b="0" dirty="0">
                <a:solidFill>
                  <a:srgbClr val="074364"/>
                </a:solidFill>
                <a:effectLst/>
                <a:latin typeface="Raleway" pitchFamily="2" charset="0"/>
                <a:hlinkClick r:id="rId3"/>
              </a:rPr>
              <a:t>https://www.mltut.com/k-fold-cross-validation-in-machine-learning-how-does-k-fold-work/</a:t>
            </a:r>
            <a:endParaRPr lang="en-US" sz="2800" b="0" dirty="0">
              <a:solidFill>
                <a:srgbClr val="074364"/>
              </a:solidFill>
              <a:effectLst/>
              <a:latin typeface="Raleway" pitchFamily="2" charset="0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b="0" dirty="0">
                <a:solidFill>
                  <a:srgbClr val="074364"/>
                </a:solidFill>
                <a:effectLst/>
                <a:latin typeface="Raleway" pitchFamily="2" charset="0"/>
              </a:rPr>
              <a:t>https://scikit-learn.org/stable/modules/cross_validation.html</a:t>
            </a:r>
          </a:p>
        </p:txBody>
      </p:sp>
    </p:spTree>
    <p:extLst>
      <p:ext uri="{BB962C8B-B14F-4D97-AF65-F5344CB8AC3E}">
        <p14:creationId xmlns:p14="http://schemas.microsoft.com/office/powerpoint/2010/main" val="1372454684"/>
      </p:ext>
    </p:extLst>
  </p:cSld>
  <p:clrMapOvr>
    <a:masterClrMapping/>
  </p:clrMapOvr>
  <p:transition spd="slow">
    <p:cover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5651E-1151-844A-6B1B-56FCF577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E8CEC6-418C-E4AF-357F-3805B8E55B11}"/>
              </a:ext>
            </a:extLst>
          </p:cNvPr>
          <p:cNvGrpSpPr/>
          <p:nvPr/>
        </p:nvGrpSpPr>
        <p:grpSpPr>
          <a:xfrm>
            <a:off x="1" y="9340175"/>
            <a:ext cx="18288000" cy="946825"/>
            <a:chOff x="0" y="0"/>
            <a:chExt cx="6110362" cy="2651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84C945-D063-D83F-EF83-BCD4040DF6E2}"/>
                </a:ext>
              </a:extLst>
            </p:cNvPr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5E530F-4D57-E19B-13D6-FA0D4A75B307}"/>
                </a:ext>
              </a:extLst>
            </p:cNvPr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E692EF2-E34C-51B4-8577-1DDACBC2C2F9}"/>
              </a:ext>
            </a:extLst>
          </p:cNvPr>
          <p:cNvGrpSpPr/>
          <p:nvPr/>
        </p:nvGrpSpPr>
        <p:grpSpPr>
          <a:xfrm>
            <a:off x="1" y="0"/>
            <a:ext cx="18288000" cy="946824"/>
            <a:chOff x="0" y="0"/>
            <a:chExt cx="6110362" cy="4936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D44FC5-F6E0-D90E-A112-81E802B58314}"/>
                </a:ext>
              </a:extLst>
            </p:cNvPr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3D5E564-4AEC-6CB8-5F3D-4BA2472F3C31}"/>
                </a:ext>
              </a:extLst>
            </p:cNvPr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A1B7F6B-1D3B-6D68-F767-8A297E98107D}"/>
              </a:ext>
            </a:extLst>
          </p:cNvPr>
          <p:cNvSpPr txBox="1"/>
          <p:nvPr/>
        </p:nvSpPr>
        <p:spPr>
          <a:xfrm>
            <a:off x="4734204" y="3627935"/>
            <a:ext cx="8819592" cy="1771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64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6320017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5281</TotalTime>
  <Words>2535</Words>
  <Application>Microsoft Office PowerPoint</Application>
  <PresentationFormat>Custom</PresentationFormat>
  <Paragraphs>466</Paragraphs>
  <Slides>58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Arial</vt:lpstr>
      <vt:lpstr>Raleway</vt:lpstr>
      <vt:lpstr>Montserrat Classic Bold</vt:lpstr>
      <vt:lpstr>Calibri</vt:lpstr>
      <vt:lpstr>Open Sans Extra Bold</vt:lpstr>
      <vt:lpstr>Aptos</vt:lpstr>
      <vt:lpstr>Montserrat Bold</vt:lpstr>
      <vt:lpstr>Montserrat</vt:lpstr>
      <vt:lpstr>Montserrat Classic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</dc:title>
  <dc:creator>M S I</dc:creator>
  <cp:lastModifiedBy>Naura Nazhifah</cp:lastModifiedBy>
  <cp:revision>52</cp:revision>
  <dcterms:created xsi:type="dcterms:W3CDTF">2006-08-16T00:00:00Z</dcterms:created>
  <dcterms:modified xsi:type="dcterms:W3CDTF">2025-04-20T15:01:01Z</dcterms:modified>
  <dc:identifier>DAGWy-tLfhM</dc:identifier>
</cp:coreProperties>
</file>